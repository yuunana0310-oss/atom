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66545" autoAdjust="0"/>
  </p:normalViewPr>
  <p:slideViewPr>
    <p:cSldViewPr snapToGrid="0" snapToObjects="1">
      <p:cViewPr varScale="1">
        <p:scale>
          <a:sx n="71" d="100"/>
          <a:sy n="71" d="100"/>
        </p:scale>
        <p:origin x="2112"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154A64-2779-41CB-90EF-97E8A7AEC9B7}" type="datetimeFigureOut">
              <a:rPr kumimoji="1" lang="ja-JP" altLang="en-US" smtClean="0"/>
              <a:t>2026/3/23</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86D24B-3577-49E6-A20D-8A7EAE138C7F}" type="slidenum">
              <a:rPr kumimoji="1" lang="ja-JP" altLang="en-US" smtClean="0"/>
              <a:t>‹#›</a:t>
            </a:fld>
            <a:endParaRPr kumimoji="1" lang="ja-JP" altLang="en-US"/>
          </a:p>
        </p:txBody>
      </p:sp>
    </p:spTree>
    <p:extLst>
      <p:ext uri="{BB962C8B-B14F-4D97-AF65-F5344CB8AC3E}">
        <p14:creationId xmlns:p14="http://schemas.microsoft.com/office/powerpoint/2010/main" val="126238062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200" b="0" i="0" kern="1200" dirty="0">
                <a:solidFill>
                  <a:schemeClr val="tx1"/>
                </a:solidFill>
                <a:effectLst/>
                <a:latin typeface="+mn-lt"/>
                <a:ea typeface="+mn-ea"/>
                <a:cs typeface="+mn-cs"/>
              </a:rPr>
              <a:t>皆さん、本日はお集まりいただきありがとうございます。</a:t>
            </a:r>
          </a:p>
          <a:p>
            <a:r>
              <a:rPr kumimoji="1" lang="ja-JP" altLang="en-US" sz="1200" b="0" i="0" kern="1200" dirty="0">
                <a:solidFill>
                  <a:schemeClr val="tx1"/>
                </a:solidFill>
                <a:effectLst/>
                <a:latin typeface="+mn-lt"/>
                <a:ea typeface="+mn-ea"/>
                <a:cs typeface="+mn-cs"/>
              </a:rPr>
              <a:t>今日は「移乗・移動介助の基本」をテーマに、約</a:t>
            </a:r>
            <a:r>
              <a:rPr kumimoji="1" lang="en-US" altLang="ja-JP" sz="1200" b="0" i="0" kern="1200" dirty="0">
                <a:solidFill>
                  <a:schemeClr val="tx1"/>
                </a:solidFill>
                <a:effectLst/>
                <a:latin typeface="+mn-lt"/>
                <a:ea typeface="+mn-ea"/>
                <a:cs typeface="+mn-cs"/>
              </a:rPr>
              <a:t>30</a:t>
            </a:r>
            <a:r>
              <a:rPr kumimoji="1" lang="ja-JP" altLang="en-US" sz="1200" b="0" i="0" kern="1200" dirty="0">
                <a:solidFill>
                  <a:schemeClr val="tx1"/>
                </a:solidFill>
                <a:effectLst/>
                <a:latin typeface="+mn-lt"/>
                <a:ea typeface="+mn-ea"/>
                <a:cs typeface="+mn-cs"/>
              </a:rPr>
              <a:t>分の研修を行います。</a:t>
            </a:r>
          </a:p>
          <a:p>
            <a:endParaRPr kumimoji="1" lang="ja-JP" altLang="en-US" sz="1200" b="0" i="0" kern="1200" dirty="0">
              <a:solidFill>
                <a:schemeClr val="tx1"/>
              </a:solidFill>
              <a:effectLst/>
              <a:latin typeface="+mn-lt"/>
              <a:ea typeface="+mn-ea"/>
              <a:cs typeface="+mn-cs"/>
            </a:endParaRPr>
          </a:p>
          <a:p>
            <a:r>
              <a:rPr kumimoji="1" lang="ja-JP" altLang="en-US" sz="1200" b="0" i="0" kern="1200" dirty="0">
                <a:solidFill>
                  <a:schemeClr val="tx1"/>
                </a:solidFill>
                <a:effectLst/>
                <a:latin typeface="+mn-lt"/>
                <a:ea typeface="+mn-ea"/>
                <a:cs typeface="+mn-cs"/>
              </a:rPr>
              <a:t>移乗や移動の介助は、毎日何十回と行う業務です。</a:t>
            </a:r>
          </a:p>
          <a:p>
            <a:r>
              <a:rPr kumimoji="1" lang="ja-JP" altLang="en-US" sz="1200" b="0" i="0" kern="1200" dirty="0">
                <a:solidFill>
                  <a:schemeClr val="tx1"/>
                </a:solidFill>
                <a:effectLst/>
                <a:latin typeface="+mn-lt"/>
                <a:ea typeface="+mn-ea"/>
                <a:cs typeface="+mn-cs"/>
              </a:rPr>
              <a:t>でも「なんとなくやっている」という状態が一番危険です。</a:t>
            </a:r>
          </a:p>
          <a:p>
            <a:endParaRPr kumimoji="1" lang="ja-JP" altLang="en-US" sz="1200" b="0" i="0" kern="1200" dirty="0">
              <a:solidFill>
                <a:schemeClr val="tx1"/>
              </a:solidFill>
              <a:effectLst/>
              <a:latin typeface="+mn-lt"/>
              <a:ea typeface="+mn-ea"/>
              <a:cs typeface="+mn-cs"/>
            </a:endParaRPr>
          </a:p>
          <a:p>
            <a:r>
              <a:rPr kumimoji="1" lang="ja-JP" altLang="en-US" sz="1200" b="0" i="0" kern="1200" dirty="0">
                <a:solidFill>
                  <a:schemeClr val="tx1"/>
                </a:solidFill>
                <a:effectLst/>
                <a:latin typeface="+mn-lt"/>
                <a:ea typeface="+mn-ea"/>
                <a:cs typeface="+mn-cs"/>
              </a:rPr>
              <a:t>患者さんが転倒してしまったとき、</a:t>
            </a:r>
          </a:p>
          <a:p>
            <a:r>
              <a:rPr kumimoji="1" lang="ja-JP" altLang="en-US" sz="1200" b="0" i="0" kern="1200" dirty="0">
                <a:solidFill>
                  <a:schemeClr val="tx1"/>
                </a:solidFill>
                <a:effectLst/>
                <a:latin typeface="+mn-lt"/>
                <a:ea typeface="+mn-ea"/>
                <a:cs typeface="+mn-cs"/>
              </a:rPr>
              <a:t>介助者である皆さんが腰を痛めてしまったとき、</a:t>
            </a:r>
          </a:p>
          <a:p>
            <a:r>
              <a:rPr kumimoji="1" lang="ja-JP" altLang="en-US" sz="1200" b="0" i="0" kern="1200" dirty="0">
                <a:solidFill>
                  <a:schemeClr val="tx1"/>
                </a:solidFill>
                <a:effectLst/>
                <a:latin typeface="+mn-lt"/>
                <a:ea typeface="+mn-ea"/>
                <a:cs typeface="+mn-cs"/>
              </a:rPr>
              <a:t>どちらも現場にとって大きな損失になります。</a:t>
            </a:r>
          </a:p>
          <a:p>
            <a:endParaRPr kumimoji="1" lang="ja-JP" altLang="en-US" sz="1200" b="0" i="0" kern="1200" dirty="0">
              <a:solidFill>
                <a:schemeClr val="tx1"/>
              </a:solidFill>
              <a:effectLst/>
              <a:latin typeface="+mn-lt"/>
              <a:ea typeface="+mn-ea"/>
              <a:cs typeface="+mn-cs"/>
            </a:endParaRPr>
          </a:p>
          <a:p>
            <a:r>
              <a:rPr kumimoji="1" lang="ja-JP" altLang="en-US" sz="1200" b="0" i="0" kern="1200" dirty="0">
                <a:solidFill>
                  <a:schemeClr val="tx1"/>
                </a:solidFill>
                <a:effectLst/>
                <a:latin typeface="+mn-lt"/>
                <a:ea typeface="+mn-ea"/>
                <a:cs typeface="+mn-cs"/>
              </a:rPr>
              <a:t>今日の研修を通じて、「なぜそうするのか」を理解した上で介助できるよう、</a:t>
            </a:r>
          </a:p>
          <a:p>
            <a:r>
              <a:rPr kumimoji="1" lang="ja-JP" altLang="en-US" sz="1200" b="0" i="0" kern="1200">
                <a:solidFill>
                  <a:schemeClr val="tx1"/>
                </a:solidFill>
                <a:effectLst/>
                <a:latin typeface="+mn-lt"/>
                <a:ea typeface="+mn-ea"/>
                <a:cs typeface="+mn-cs"/>
              </a:rPr>
              <a:t>一緒に学んでいきましょう。</a:t>
            </a:r>
          </a:p>
          <a:p>
            <a:endParaRPr kumimoji="1" lang="ja-JP" altLang="en-US"/>
          </a:p>
        </p:txBody>
      </p:sp>
      <p:sp>
        <p:nvSpPr>
          <p:cNvPr id="4" name="スライド番号プレースホルダー 3"/>
          <p:cNvSpPr>
            <a:spLocks noGrp="1"/>
          </p:cNvSpPr>
          <p:nvPr>
            <p:ph type="sldNum" sz="quarter" idx="5"/>
          </p:nvPr>
        </p:nvSpPr>
        <p:spPr/>
        <p:txBody>
          <a:bodyPr/>
          <a:lstStyle/>
          <a:p>
            <a:fld id="{E386D24B-3577-49E6-A20D-8A7EAE138C7F}" type="slidenum">
              <a:rPr kumimoji="1" lang="ja-JP" altLang="en-US" smtClean="0"/>
              <a:t>1</a:t>
            </a:fld>
            <a:endParaRPr kumimoji="1" lang="ja-JP" altLang="en-US"/>
          </a:p>
        </p:txBody>
      </p:sp>
    </p:spTree>
    <p:extLst>
      <p:ext uri="{BB962C8B-B14F-4D97-AF65-F5344CB8AC3E}">
        <p14:creationId xmlns:p14="http://schemas.microsoft.com/office/powerpoint/2010/main" val="18966574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029200"/>
            <a:ext cx="12188952" cy="1828800"/>
          </a:xfrm>
          <a:prstGeom prst="rect">
            <a:avLst/>
          </a:prstGeom>
          <a:solidFill>
            <a:srgbClr val="004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3017520"/>
            <a:ext cx="11274552" cy="64008"/>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097280"/>
            <a:ext cx="10058400" cy="731520"/>
          </a:xfrm>
          <a:prstGeom prst="rect">
            <a:avLst/>
          </a:prstGeom>
          <a:noFill/>
        </p:spPr>
        <p:txBody>
          <a:bodyPr wrap="square">
            <a:spAutoFit/>
          </a:bodyPr>
          <a:lstStyle/>
          <a:p>
            <a:pPr algn="ctr"/>
            <a:r>
              <a:rPr sz="2200" b="0">
                <a:solidFill>
                  <a:srgbClr val="AAD4FF"/>
                </a:solidFill>
                <a:latin typeface="メイリオ"/>
              </a:rPr>
              <a:t>新人職員研修</a:t>
            </a:r>
          </a:p>
        </p:txBody>
      </p:sp>
      <p:sp>
        <p:nvSpPr>
          <p:cNvPr id="6" name="TextBox 5"/>
          <p:cNvSpPr txBox="1"/>
          <p:nvPr/>
        </p:nvSpPr>
        <p:spPr>
          <a:xfrm>
            <a:off x="457200" y="1828800"/>
            <a:ext cx="11274552" cy="1097280"/>
          </a:xfrm>
          <a:prstGeom prst="rect">
            <a:avLst/>
          </a:prstGeom>
          <a:noFill/>
        </p:spPr>
        <p:txBody>
          <a:bodyPr wrap="square">
            <a:spAutoFit/>
          </a:bodyPr>
          <a:lstStyle/>
          <a:p>
            <a:pPr algn="ctr"/>
            <a:r>
              <a:rPr sz="4600" b="1">
                <a:solidFill>
                  <a:srgbClr val="FFFFFF"/>
                </a:solidFill>
                <a:latin typeface="メイリオ"/>
              </a:rPr>
              <a:t>移乗・移動介助の基本</a:t>
            </a:r>
          </a:p>
        </p:txBody>
      </p:sp>
      <p:sp>
        <p:nvSpPr>
          <p:cNvPr id="7" name="TextBox 6"/>
          <p:cNvSpPr txBox="1"/>
          <p:nvPr/>
        </p:nvSpPr>
        <p:spPr>
          <a:xfrm>
            <a:off x="914400" y="3200400"/>
            <a:ext cx="10058400" cy="640080"/>
          </a:xfrm>
          <a:prstGeom prst="rect">
            <a:avLst/>
          </a:prstGeom>
          <a:noFill/>
        </p:spPr>
        <p:txBody>
          <a:bodyPr wrap="square">
            <a:spAutoFit/>
          </a:bodyPr>
          <a:lstStyle/>
          <a:p>
            <a:pPr algn="ctr"/>
            <a:r>
              <a:rPr sz="2000" b="0">
                <a:solidFill>
                  <a:srgbClr val="CCE8FF"/>
                </a:solidFill>
                <a:latin typeface="メイリオ"/>
              </a:rPr>
              <a:t>〜安全・安楽・自立支援を実践する〜</a:t>
            </a:r>
          </a:p>
        </p:txBody>
      </p:sp>
      <p:sp>
        <p:nvSpPr>
          <p:cNvPr id="8" name="TextBox 7"/>
          <p:cNvSpPr txBox="1"/>
          <p:nvPr/>
        </p:nvSpPr>
        <p:spPr>
          <a:xfrm>
            <a:off x="914400" y="5212080"/>
            <a:ext cx="10058400" cy="731520"/>
          </a:xfrm>
          <a:prstGeom prst="rect">
            <a:avLst/>
          </a:prstGeom>
          <a:noFill/>
        </p:spPr>
        <p:txBody>
          <a:bodyPr wrap="square">
            <a:spAutoFit/>
          </a:bodyPr>
          <a:lstStyle/>
          <a:p>
            <a:pPr algn="ctr"/>
            <a:r>
              <a:rPr sz="1600" b="0">
                <a:solidFill>
                  <a:srgbClr val="AACCFF"/>
                </a:solidFill>
                <a:latin typeface="メイリオ"/>
              </a:rPr>
              <a:t>対象：看護職員・介護職員
所要時間：約30分</a:t>
            </a:r>
          </a:p>
        </p:txBody>
      </p:sp>
      <p:sp>
        <p:nvSpPr>
          <p:cNvPr id="9" name="TextBox 8"/>
          <p:cNvSpPr txBox="1"/>
          <p:nvPr/>
        </p:nvSpPr>
        <p:spPr>
          <a:xfrm>
            <a:off x="914400" y="5943600"/>
            <a:ext cx="10058400" cy="548640"/>
          </a:xfrm>
          <a:prstGeom prst="rect">
            <a:avLst/>
          </a:prstGeom>
          <a:noFill/>
        </p:spPr>
        <p:txBody>
          <a:bodyPr wrap="square">
            <a:spAutoFit/>
          </a:bodyPr>
          <a:lstStyle/>
          <a:p>
            <a:pPr algn="ctr"/>
            <a:r>
              <a:rPr sz="1400" b="0">
                <a:solidFill>
                  <a:srgbClr val="88AACC"/>
                </a:solidFill>
                <a:latin typeface="メイリオ"/>
              </a:rPr>
              <a:t>医療法人 研修・教育委員会</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28016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80160"/>
            <a:ext cx="12188952" cy="73152"/>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353312"/>
            <a:ext cx="12188952" cy="5504688"/>
          </a:xfrm>
          <a:prstGeom prst="rect">
            <a:avLst/>
          </a:prstGeom>
          <a:solidFill>
            <a:srgbClr val="F5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37160"/>
            <a:ext cx="10515600" cy="822960"/>
          </a:xfrm>
          <a:prstGeom prst="rect">
            <a:avLst/>
          </a:prstGeom>
          <a:noFill/>
        </p:spPr>
        <p:txBody>
          <a:bodyPr wrap="square">
            <a:spAutoFit/>
          </a:bodyPr>
          <a:lstStyle/>
          <a:p>
            <a:pPr algn="l"/>
            <a:r>
              <a:rPr sz="2800" b="1">
                <a:solidFill>
                  <a:srgbClr val="FFFFFF"/>
                </a:solidFill>
                <a:latin typeface="メイリオ"/>
              </a:rPr>
              <a:t>本日の研修目標</a:t>
            </a:r>
          </a:p>
        </p:txBody>
      </p:sp>
      <p:sp>
        <p:nvSpPr>
          <p:cNvPr id="6" name="TextBox 5"/>
          <p:cNvSpPr txBox="1"/>
          <p:nvPr/>
        </p:nvSpPr>
        <p:spPr>
          <a:xfrm>
            <a:off x="365760" y="777240"/>
            <a:ext cx="9144000" cy="457200"/>
          </a:xfrm>
          <a:prstGeom prst="rect">
            <a:avLst/>
          </a:prstGeom>
          <a:noFill/>
        </p:spPr>
        <p:txBody>
          <a:bodyPr wrap="square">
            <a:spAutoFit/>
          </a:bodyPr>
          <a:lstStyle/>
          <a:p>
            <a:pPr algn="l"/>
            <a:r>
              <a:rPr sz="1400" b="0">
                <a:solidFill>
                  <a:srgbClr val="CCE5FF"/>
                </a:solidFill>
                <a:latin typeface="メイリオ"/>
              </a:rPr>
              <a:t>この研修で身につけること</a:t>
            </a:r>
          </a:p>
        </p:txBody>
      </p:sp>
      <p:sp>
        <p:nvSpPr>
          <p:cNvPr id="7" name="TextBox 6"/>
          <p:cNvSpPr txBox="1"/>
          <p:nvPr/>
        </p:nvSpPr>
        <p:spPr>
          <a:xfrm>
            <a:off x="11155680" y="182880"/>
            <a:ext cx="822960" cy="457200"/>
          </a:xfrm>
          <a:prstGeom prst="rect">
            <a:avLst/>
          </a:prstGeom>
          <a:noFill/>
        </p:spPr>
        <p:txBody>
          <a:bodyPr wrap="square">
            <a:spAutoFit/>
          </a:bodyPr>
          <a:lstStyle/>
          <a:p>
            <a:pPr algn="r"/>
            <a:r>
              <a:rPr sz="1200" b="0">
                <a:solidFill>
                  <a:srgbClr val="AACCFF"/>
                </a:solidFill>
                <a:latin typeface="メイリオ"/>
              </a:rPr>
              <a:t>2 / 18</a:t>
            </a:r>
          </a:p>
        </p:txBody>
      </p:sp>
      <p:sp>
        <p:nvSpPr>
          <p:cNvPr id="8" name="Rectangle 7"/>
          <p:cNvSpPr/>
          <p:nvPr/>
        </p:nvSpPr>
        <p:spPr>
          <a:xfrm>
            <a:off x="457200" y="1554480"/>
            <a:ext cx="11274552" cy="4389120"/>
          </a:xfrm>
          <a:prstGeom prst="rect">
            <a:avLst/>
          </a:prstGeom>
          <a:solidFill>
            <a:srgbClr val="FFFFFF"/>
          </a:solidFill>
          <a:ln w="1905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691640"/>
            <a:ext cx="640080" cy="59436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1737360"/>
            <a:ext cx="640080" cy="502920"/>
          </a:xfrm>
          <a:prstGeom prst="rect">
            <a:avLst/>
          </a:prstGeom>
          <a:noFill/>
        </p:spPr>
        <p:txBody>
          <a:bodyPr wrap="square">
            <a:spAutoFit/>
          </a:bodyPr>
          <a:lstStyle/>
          <a:p>
            <a:pPr algn="ctr"/>
            <a:r>
              <a:rPr sz="1800" b="1">
                <a:solidFill>
                  <a:srgbClr val="FFFFFF"/>
                </a:solidFill>
                <a:latin typeface="メイリオ"/>
              </a:rPr>
              <a:t>①</a:t>
            </a:r>
          </a:p>
        </p:txBody>
      </p:sp>
      <p:sp>
        <p:nvSpPr>
          <p:cNvPr id="11" name="TextBox 10"/>
          <p:cNvSpPr txBox="1"/>
          <p:nvPr/>
        </p:nvSpPr>
        <p:spPr>
          <a:xfrm>
            <a:off x="1280160" y="1737360"/>
            <a:ext cx="10058400" cy="548640"/>
          </a:xfrm>
          <a:prstGeom prst="rect">
            <a:avLst/>
          </a:prstGeom>
          <a:noFill/>
        </p:spPr>
        <p:txBody>
          <a:bodyPr wrap="square">
            <a:spAutoFit/>
          </a:bodyPr>
          <a:lstStyle/>
          <a:p>
            <a:pPr algn="l"/>
            <a:r>
              <a:rPr sz="1700" b="0">
                <a:solidFill>
                  <a:srgbClr val="1A1A2E"/>
                </a:solidFill>
                <a:latin typeface="メイリオ"/>
              </a:rPr>
              <a:t>移乗・移動介助の基本原則とボディメカニクスを理解する</a:t>
            </a:r>
          </a:p>
        </p:txBody>
      </p:sp>
      <p:sp>
        <p:nvSpPr>
          <p:cNvPr id="12" name="Rectangle 11"/>
          <p:cNvSpPr/>
          <p:nvPr/>
        </p:nvSpPr>
        <p:spPr>
          <a:xfrm>
            <a:off x="548640" y="2496312"/>
            <a:ext cx="640080" cy="59436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2542032"/>
            <a:ext cx="640080" cy="502920"/>
          </a:xfrm>
          <a:prstGeom prst="rect">
            <a:avLst/>
          </a:prstGeom>
          <a:noFill/>
        </p:spPr>
        <p:txBody>
          <a:bodyPr wrap="square">
            <a:spAutoFit/>
          </a:bodyPr>
          <a:lstStyle/>
          <a:p>
            <a:pPr algn="ctr"/>
            <a:r>
              <a:rPr sz="1800" b="1">
                <a:solidFill>
                  <a:srgbClr val="FFFFFF"/>
                </a:solidFill>
                <a:latin typeface="メイリオ"/>
              </a:rPr>
              <a:t>②</a:t>
            </a:r>
          </a:p>
        </p:txBody>
      </p:sp>
      <p:sp>
        <p:nvSpPr>
          <p:cNvPr id="14" name="TextBox 13"/>
          <p:cNvSpPr txBox="1"/>
          <p:nvPr/>
        </p:nvSpPr>
        <p:spPr>
          <a:xfrm>
            <a:off x="1280160" y="2542032"/>
            <a:ext cx="10058400" cy="548640"/>
          </a:xfrm>
          <a:prstGeom prst="rect">
            <a:avLst/>
          </a:prstGeom>
          <a:noFill/>
        </p:spPr>
        <p:txBody>
          <a:bodyPr wrap="square">
            <a:spAutoFit/>
          </a:bodyPr>
          <a:lstStyle/>
          <a:p>
            <a:pPr algn="l"/>
            <a:r>
              <a:rPr sz="1700" b="0">
                <a:solidFill>
                  <a:srgbClr val="1A1A2E"/>
                </a:solidFill>
                <a:latin typeface="メイリオ"/>
              </a:rPr>
              <a:t>車椅子・ベッド間の移乗手順を正しく実施できる</a:t>
            </a:r>
          </a:p>
        </p:txBody>
      </p:sp>
      <p:sp>
        <p:nvSpPr>
          <p:cNvPr id="15" name="Rectangle 14"/>
          <p:cNvSpPr/>
          <p:nvPr/>
        </p:nvSpPr>
        <p:spPr>
          <a:xfrm>
            <a:off x="548640" y="3300984"/>
            <a:ext cx="640080" cy="59436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8640" y="3346704"/>
            <a:ext cx="640080" cy="502920"/>
          </a:xfrm>
          <a:prstGeom prst="rect">
            <a:avLst/>
          </a:prstGeom>
          <a:noFill/>
        </p:spPr>
        <p:txBody>
          <a:bodyPr wrap="square">
            <a:spAutoFit/>
          </a:bodyPr>
          <a:lstStyle/>
          <a:p>
            <a:pPr algn="ctr"/>
            <a:r>
              <a:rPr sz="1800" b="1">
                <a:solidFill>
                  <a:srgbClr val="FFFFFF"/>
                </a:solidFill>
                <a:latin typeface="メイリオ"/>
              </a:rPr>
              <a:t>③</a:t>
            </a:r>
          </a:p>
        </p:txBody>
      </p:sp>
      <p:sp>
        <p:nvSpPr>
          <p:cNvPr id="17" name="TextBox 16"/>
          <p:cNvSpPr txBox="1"/>
          <p:nvPr/>
        </p:nvSpPr>
        <p:spPr>
          <a:xfrm>
            <a:off x="1280160" y="3346704"/>
            <a:ext cx="10058400" cy="548640"/>
          </a:xfrm>
          <a:prstGeom prst="rect">
            <a:avLst/>
          </a:prstGeom>
          <a:noFill/>
        </p:spPr>
        <p:txBody>
          <a:bodyPr wrap="square">
            <a:spAutoFit/>
          </a:bodyPr>
          <a:lstStyle/>
          <a:p>
            <a:pPr algn="l"/>
            <a:r>
              <a:rPr sz="1700" b="0">
                <a:solidFill>
                  <a:srgbClr val="1A1A2E"/>
                </a:solidFill>
                <a:latin typeface="メイリオ"/>
              </a:rPr>
              <a:t>歩行介助・立ち上がり介助を安全に行える</a:t>
            </a:r>
          </a:p>
        </p:txBody>
      </p:sp>
      <p:sp>
        <p:nvSpPr>
          <p:cNvPr id="18" name="Rectangle 17"/>
          <p:cNvSpPr/>
          <p:nvPr/>
        </p:nvSpPr>
        <p:spPr>
          <a:xfrm>
            <a:off x="548640" y="4105656"/>
            <a:ext cx="640080" cy="59436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48640" y="4151376"/>
            <a:ext cx="640080" cy="502920"/>
          </a:xfrm>
          <a:prstGeom prst="rect">
            <a:avLst/>
          </a:prstGeom>
          <a:noFill/>
        </p:spPr>
        <p:txBody>
          <a:bodyPr wrap="square">
            <a:spAutoFit/>
          </a:bodyPr>
          <a:lstStyle/>
          <a:p>
            <a:pPr algn="ctr"/>
            <a:r>
              <a:rPr sz="1800" b="1">
                <a:solidFill>
                  <a:srgbClr val="FFFFFF"/>
                </a:solidFill>
                <a:latin typeface="メイリオ"/>
              </a:rPr>
              <a:t>④</a:t>
            </a:r>
          </a:p>
        </p:txBody>
      </p:sp>
      <p:sp>
        <p:nvSpPr>
          <p:cNvPr id="20" name="TextBox 19"/>
          <p:cNvSpPr txBox="1"/>
          <p:nvPr/>
        </p:nvSpPr>
        <p:spPr>
          <a:xfrm>
            <a:off x="1280160" y="4151376"/>
            <a:ext cx="10058400" cy="548640"/>
          </a:xfrm>
          <a:prstGeom prst="rect">
            <a:avLst/>
          </a:prstGeom>
          <a:noFill/>
        </p:spPr>
        <p:txBody>
          <a:bodyPr wrap="square">
            <a:spAutoFit/>
          </a:bodyPr>
          <a:lstStyle/>
          <a:p>
            <a:pPr algn="l"/>
            <a:r>
              <a:rPr sz="1700" b="0">
                <a:solidFill>
                  <a:srgbClr val="1A1A2E"/>
                </a:solidFill>
                <a:latin typeface="メイリオ"/>
              </a:rPr>
              <a:t>転倒・転落リスクを予測し予防策を講じられる</a:t>
            </a:r>
          </a:p>
        </p:txBody>
      </p:sp>
      <p:sp>
        <p:nvSpPr>
          <p:cNvPr id="21" name="Rectangle 20"/>
          <p:cNvSpPr/>
          <p:nvPr/>
        </p:nvSpPr>
        <p:spPr>
          <a:xfrm>
            <a:off x="548640" y="4910328"/>
            <a:ext cx="640080" cy="59436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48640" y="4956048"/>
            <a:ext cx="640080" cy="502920"/>
          </a:xfrm>
          <a:prstGeom prst="rect">
            <a:avLst/>
          </a:prstGeom>
          <a:noFill/>
        </p:spPr>
        <p:txBody>
          <a:bodyPr wrap="square">
            <a:spAutoFit/>
          </a:bodyPr>
          <a:lstStyle/>
          <a:p>
            <a:pPr algn="ctr"/>
            <a:r>
              <a:rPr sz="1800" b="1">
                <a:solidFill>
                  <a:srgbClr val="FFFFFF"/>
                </a:solidFill>
                <a:latin typeface="メイリオ"/>
              </a:rPr>
              <a:t>⑤</a:t>
            </a:r>
          </a:p>
        </p:txBody>
      </p:sp>
      <p:sp>
        <p:nvSpPr>
          <p:cNvPr id="23" name="TextBox 22"/>
          <p:cNvSpPr txBox="1"/>
          <p:nvPr/>
        </p:nvSpPr>
        <p:spPr>
          <a:xfrm>
            <a:off x="1280160" y="4956048"/>
            <a:ext cx="10058400" cy="548640"/>
          </a:xfrm>
          <a:prstGeom prst="rect">
            <a:avLst/>
          </a:prstGeom>
          <a:noFill/>
        </p:spPr>
        <p:txBody>
          <a:bodyPr wrap="square">
            <a:spAutoFit/>
          </a:bodyPr>
          <a:lstStyle/>
          <a:p>
            <a:pPr algn="l"/>
            <a:r>
              <a:rPr sz="1700" b="0">
                <a:solidFill>
                  <a:srgbClr val="1A1A2E"/>
                </a:solidFill>
                <a:latin typeface="メイリオ"/>
              </a:rPr>
              <a:t>患者の尊厳と残存能力を尊重した介助ができる</a:t>
            </a:r>
          </a:p>
        </p:txBody>
      </p:sp>
      <p:sp>
        <p:nvSpPr>
          <p:cNvPr id="24" name="Rectangle 23"/>
          <p:cNvSpPr/>
          <p:nvPr/>
        </p:nvSpPr>
        <p:spPr>
          <a:xfrm>
            <a:off x="1371600" y="6035040"/>
            <a:ext cx="9445752" cy="548640"/>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463040" y="6080759"/>
            <a:ext cx="9262872" cy="457200"/>
          </a:xfrm>
          <a:prstGeom prst="rect">
            <a:avLst/>
          </a:prstGeom>
          <a:noFill/>
        </p:spPr>
        <p:txBody>
          <a:bodyPr wrap="square">
            <a:spAutoFit/>
          </a:bodyPr>
          <a:lstStyle/>
          <a:p>
            <a:pPr algn="ctr"/>
            <a:r>
              <a:rPr sz="1600" b="1">
                <a:solidFill>
                  <a:srgbClr val="FFFFFF"/>
                </a:solidFill>
                <a:latin typeface="メイリオ"/>
              </a:rPr>
              <a:t>患者の安全・安楽・自立支援が介助の3原則です</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28016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80160"/>
            <a:ext cx="12188952" cy="73152"/>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353312"/>
            <a:ext cx="12188952" cy="5504688"/>
          </a:xfrm>
          <a:prstGeom prst="rect">
            <a:avLst/>
          </a:prstGeom>
          <a:solidFill>
            <a:srgbClr val="F5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37160"/>
            <a:ext cx="10515600" cy="822960"/>
          </a:xfrm>
          <a:prstGeom prst="rect">
            <a:avLst/>
          </a:prstGeom>
          <a:noFill/>
        </p:spPr>
        <p:txBody>
          <a:bodyPr wrap="square">
            <a:spAutoFit/>
          </a:bodyPr>
          <a:lstStyle/>
          <a:p>
            <a:pPr algn="l"/>
            <a:r>
              <a:rPr sz="2800" b="1">
                <a:solidFill>
                  <a:srgbClr val="FFFFFF"/>
                </a:solidFill>
                <a:latin typeface="メイリオ"/>
              </a:rPr>
              <a:t>介助の3原則</a:t>
            </a:r>
          </a:p>
        </p:txBody>
      </p:sp>
      <p:sp>
        <p:nvSpPr>
          <p:cNvPr id="6" name="TextBox 5"/>
          <p:cNvSpPr txBox="1"/>
          <p:nvPr/>
        </p:nvSpPr>
        <p:spPr>
          <a:xfrm>
            <a:off x="365760" y="777240"/>
            <a:ext cx="9144000" cy="457200"/>
          </a:xfrm>
          <a:prstGeom prst="rect">
            <a:avLst/>
          </a:prstGeom>
          <a:noFill/>
        </p:spPr>
        <p:txBody>
          <a:bodyPr wrap="square">
            <a:spAutoFit/>
          </a:bodyPr>
          <a:lstStyle/>
          <a:p>
            <a:pPr algn="l"/>
            <a:r>
              <a:rPr sz="1400" b="0">
                <a:solidFill>
                  <a:srgbClr val="CCE5FF"/>
                </a:solidFill>
                <a:latin typeface="メイリオ"/>
              </a:rPr>
              <a:t>すべての介助の土台となる考え方</a:t>
            </a:r>
          </a:p>
        </p:txBody>
      </p:sp>
      <p:sp>
        <p:nvSpPr>
          <p:cNvPr id="7" name="TextBox 6"/>
          <p:cNvSpPr txBox="1"/>
          <p:nvPr/>
        </p:nvSpPr>
        <p:spPr>
          <a:xfrm>
            <a:off x="11155680" y="182880"/>
            <a:ext cx="822960" cy="457200"/>
          </a:xfrm>
          <a:prstGeom prst="rect">
            <a:avLst/>
          </a:prstGeom>
          <a:noFill/>
        </p:spPr>
        <p:txBody>
          <a:bodyPr wrap="square">
            <a:spAutoFit/>
          </a:bodyPr>
          <a:lstStyle/>
          <a:p>
            <a:pPr algn="r"/>
            <a:r>
              <a:rPr sz="1200" b="0">
                <a:solidFill>
                  <a:srgbClr val="AACCFF"/>
                </a:solidFill>
                <a:latin typeface="メイリオ"/>
              </a:rPr>
              <a:t>3 / 18</a:t>
            </a:r>
          </a:p>
        </p:txBody>
      </p:sp>
      <p:sp>
        <p:nvSpPr>
          <p:cNvPr id="8" name="Rectangle 7"/>
          <p:cNvSpPr/>
          <p:nvPr/>
        </p:nvSpPr>
        <p:spPr>
          <a:xfrm>
            <a:off x="365760" y="1554480"/>
            <a:ext cx="3657600" cy="640080"/>
          </a:xfrm>
          <a:prstGeom prst="rect">
            <a:avLst/>
          </a:prstGeom>
          <a:solidFill>
            <a:srgbClr val="E84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600200"/>
            <a:ext cx="3657600" cy="548640"/>
          </a:xfrm>
          <a:prstGeom prst="rect">
            <a:avLst/>
          </a:prstGeom>
          <a:noFill/>
        </p:spPr>
        <p:txBody>
          <a:bodyPr wrap="square">
            <a:spAutoFit/>
          </a:bodyPr>
          <a:lstStyle/>
          <a:p>
            <a:pPr algn="ctr"/>
            <a:r>
              <a:rPr sz="2200" b="1">
                <a:solidFill>
                  <a:srgbClr val="FFFFFF"/>
                </a:solidFill>
                <a:latin typeface="メイリオ"/>
              </a:rPr>
              <a:t>安 全</a:t>
            </a:r>
          </a:p>
        </p:txBody>
      </p:sp>
      <p:sp>
        <p:nvSpPr>
          <p:cNvPr id="10" name="Rectangle 9"/>
          <p:cNvSpPr/>
          <p:nvPr/>
        </p:nvSpPr>
        <p:spPr>
          <a:xfrm>
            <a:off x="365760" y="2194560"/>
            <a:ext cx="3657600" cy="3200400"/>
          </a:xfrm>
          <a:prstGeom prst="rect">
            <a:avLst/>
          </a:prstGeom>
          <a:solidFill>
            <a:srgbClr val="FFFFFF"/>
          </a:solidFill>
          <a:ln w="25400">
            <a:solidFill>
              <a:srgbClr val="E84C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2331720"/>
            <a:ext cx="3383280" cy="594360"/>
          </a:xfrm>
          <a:prstGeom prst="rect">
            <a:avLst/>
          </a:prstGeom>
          <a:noFill/>
        </p:spPr>
        <p:txBody>
          <a:bodyPr wrap="square">
            <a:spAutoFit/>
          </a:bodyPr>
          <a:lstStyle/>
          <a:p>
            <a:pPr algn="l"/>
            <a:r>
              <a:rPr sz="1500" b="0">
                <a:solidFill>
                  <a:srgbClr val="1A1A2E"/>
                </a:solidFill>
                <a:latin typeface="メイリオ"/>
              </a:rPr>
              <a:t>✓  転倒・転落・皮膚損傷を防ぐ</a:t>
            </a:r>
          </a:p>
        </p:txBody>
      </p:sp>
      <p:sp>
        <p:nvSpPr>
          <p:cNvPr id="12" name="TextBox 11"/>
          <p:cNvSpPr txBox="1"/>
          <p:nvPr/>
        </p:nvSpPr>
        <p:spPr>
          <a:xfrm>
            <a:off x="548640" y="3017520"/>
            <a:ext cx="3383280" cy="594360"/>
          </a:xfrm>
          <a:prstGeom prst="rect">
            <a:avLst/>
          </a:prstGeom>
          <a:noFill/>
        </p:spPr>
        <p:txBody>
          <a:bodyPr wrap="square">
            <a:spAutoFit/>
          </a:bodyPr>
          <a:lstStyle/>
          <a:p>
            <a:pPr algn="l"/>
            <a:r>
              <a:rPr sz="1500" b="0">
                <a:solidFill>
                  <a:srgbClr val="1A1A2E"/>
                </a:solidFill>
                <a:latin typeface="メイリオ"/>
              </a:rPr>
              <a:t>✓  環境整備を必ず行う</a:t>
            </a:r>
          </a:p>
        </p:txBody>
      </p:sp>
      <p:sp>
        <p:nvSpPr>
          <p:cNvPr id="13" name="TextBox 12"/>
          <p:cNvSpPr txBox="1"/>
          <p:nvPr/>
        </p:nvSpPr>
        <p:spPr>
          <a:xfrm>
            <a:off x="548640" y="3703320"/>
            <a:ext cx="3383280" cy="594360"/>
          </a:xfrm>
          <a:prstGeom prst="rect">
            <a:avLst/>
          </a:prstGeom>
          <a:noFill/>
        </p:spPr>
        <p:txBody>
          <a:bodyPr wrap="square">
            <a:spAutoFit/>
          </a:bodyPr>
          <a:lstStyle/>
          <a:p>
            <a:pPr algn="l"/>
            <a:r>
              <a:rPr sz="1500" b="0">
                <a:solidFill>
                  <a:srgbClr val="1A1A2E"/>
                </a:solidFill>
                <a:latin typeface="メイリオ"/>
              </a:rPr>
              <a:t>✓  2人介助の基準を遵守する</a:t>
            </a:r>
          </a:p>
        </p:txBody>
      </p:sp>
      <p:sp>
        <p:nvSpPr>
          <p:cNvPr id="14" name="Rectangle 13"/>
          <p:cNvSpPr/>
          <p:nvPr/>
        </p:nvSpPr>
        <p:spPr>
          <a:xfrm>
            <a:off x="4297680" y="1554480"/>
            <a:ext cx="3657600" cy="640080"/>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97680" y="1600200"/>
            <a:ext cx="3657600" cy="548640"/>
          </a:xfrm>
          <a:prstGeom prst="rect">
            <a:avLst/>
          </a:prstGeom>
          <a:noFill/>
        </p:spPr>
        <p:txBody>
          <a:bodyPr wrap="square">
            <a:spAutoFit/>
          </a:bodyPr>
          <a:lstStyle/>
          <a:p>
            <a:pPr algn="ctr"/>
            <a:r>
              <a:rPr sz="2200" b="1">
                <a:solidFill>
                  <a:srgbClr val="FFFFFF"/>
                </a:solidFill>
                <a:latin typeface="メイリオ"/>
              </a:rPr>
              <a:t>安 楽</a:t>
            </a:r>
          </a:p>
        </p:txBody>
      </p:sp>
      <p:sp>
        <p:nvSpPr>
          <p:cNvPr id="16" name="Rectangle 15"/>
          <p:cNvSpPr/>
          <p:nvPr/>
        </p:nvSpPr>
        <p:spPr>
          <a:xfrm>
            <a:off x="4297680" y="2194560"/>
            <a:ext cx="3657600" cy="3200400"/>
          </a:xfrm>
          <a:prstGeom prst="rect">
            <a:avLst/>
          </a:prstGeom>
          <a:solidFill>
            <a:srgbClr val="FFFFFF"/>
          </a:solidFill>
          <a:ln w="2540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480560" y="2331720"/>
            <a:ext cx="3383280" cy="594360"/>
          </a:xfrm>
          <a:prstGeom prst="rect">
            <a:avLst/>
          </a:prstGeom>
          <a:noFill/>
        </p:spPr>
        <p:txBody>
          <a:bodyPr wrap="square">
            <a:spAutoFit/>
          </a:bodyPr>
          <a:lstStyle/>
          <a:p>
            <a:pPr algn="l"/>
            <a:r>
              <a:rPr sz="1500" b="0">
                <a:solidFill>
                  <a:srgbClr val="1A1A2E"/>
                </a:solidFill>
                <a:latin typeface="メイリオ"/>
              </a:rPr>
              <a:t>✓  患者の苦痛・不安を最小化</a:t>
            </a:r>
          </a:p>
        </p:txBody>
      </p:sp>
      <p:sp>
        <p:nvSpPr>
          <p:cNvPr id="18" name="TextBox 17"/>
          <p:cNvSpPr txBox="1"/>
          <p:nvPr/>
        </p:nvSpPr>
        <p:spPr>
          <a:xfrm>
            <a:off x="4480560" y="3017520"/>
            <a:ext cx="3383280" cy="594360"/>
          </a:xfrm>
          <a:prstGeom prst="rect">
            <a:avLst/>
          </a:prstGeom>
          <a:noFill/>
        </p:spPr>
        <p:txBody>
          <a:bodyPr wrap="square">
            <a:spAutoFit/>
          </a:bodyPr>
          <a:lstStyle/>
          <a:p>
            <a:pPr algn="l"/>
            <a:r>
              <a:rPr sz="1500" b="0">
                <a:solidFill>
                  <a:srgbClr val="1A1A2E"/>
                </a:solidFill>
                <a:latin typeface="メイリオ"/>
              </a:rPr>
              <a:t>✓  声かけ・同意を必ず得る</a:t>
            </a:r>
          </a:p>
        </p:txBody>
      </p:sp>
      <p:sp>
        <p:nvSpPr>
          <p:cNvPr id="19" name="TextBox 18"/>
          <p:cNvSpPr txBox="1"/>
          <p:nvPr/>
        </p:nvSpPr>
        <p:spPr>
          <a:xfrm>
            <a:off x="4480560" y="3703320"/>
            <a:ext cx="3383280" cy="594360"/>
          </a:xfrm>
          <a:prstGeom prst="rect">
            <a:avLst/>
          </a:prstGeom>
          <a:noFill/>
        </p:spPr>
        <p:txBody>
          <a:bodyPr wrap="square">
            <a:spAutoFit/>
          </a:bodyPr>
          <a:lstStyle/>
          <a:p>
            <a:pPr algn="l"/>
            <a:r>
              <a:rPr sz="1500" b="0">
                <a:solidFill>
                  <a:srgbClr val="1A1A2E"/>
                </a:solidFill>
                <a:latin typeface="メイリオ"/>
              </a:rPr>
              <a:t>✓  プライバシーを守る</a:t>
            </a:r>
          </a:p>
        </p:txBody>
      </p:sp>
      <p:sp>
        <p:nvSpPr>
          <p:cNvPr id="20" name="Rectangle 19"/>
          <p:cNvSpPr/>
          <p:nvPr/>
        </p:nvSpPr>
        <p:spPr>
          <a:xfrm>
            <a:off x="8229600" y="1554480"/>
            <a:ext cx="3657600" cy="64008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29600" y="1600200"/>
            <a:ext cx="3657600" cy="548640"/>
          </a:xfrm>
          <a:prstGeom prst="rect">
            <a:avLst/>
          </a:prstGeom>
          <a:noFill/>
        </p:spPr>
        <p:txBody>
          <a:bodyPr wrap="square">
            <a:spAutoFit/>
          </a:bodyPr>
          <a:lstStyle/>
          <a:p>
            <a:pPr algn="ctr"/>
            <a:r>
              <a:rPr sz="2200" b="1">
                <a:solidFill>
                  <a:srgbClr val="FFFFFF"/>
                </a:solidFill>
                <a:latin typeface="メイリオ"/>
              </a:rPr>
              <a:t>自立支援</a:t>
            </a:r>
          </a:p>
        </p:txBody>
      </p:sp>
      <p:sp>
        <p:nvSpPr>
          <p:cNvPr id="22" name="Rectangle 21"/>
          <p:cNvSpPr/>
          <p:nvPr/>
        </p:nvSpPr>
        <p:spPr>
          <a:xfrm>
            <a:off x="8229600" y="2194560"/>
            <a:ext cx="3657600" cy="3200400"/>
          </a:xfrm>
          <a:prstGeom prst="rect">
            <a:avLst/>
          </a:prstGeom>
          <a:solidFill>
            <a:srgbClr val="FFFFFF"/>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412480" y="2331720"/>
            <a:ext cx="3383280" cy="594360"/>
          </a:xfrm>
          <a:prstGeom prst="rect">
            <a:avLst/>
          </a:prstGeom>
          <a:noFill/>
        </p:spPr>
        <p:txBody>
          <a:bodyPr wrap="square">
            <a:spAutoFit/>
          </a:bodyPr>
          <a:lstStyle/>
          <a:p>
            <a:pPr algn="l"/>
            <a:r>
              <a:rPr sz="1500" b="0">
                <a:solidFill>
                  <a:srgbClr val="1A1A2E"/>
                </a:solidFill>
                <a:latin typeface="メイリオ"/>
              </a:rPr>
              <a:t>✓  できることは自分で行ってもらう</a:t>
            </a:r>
          </a:p>
        </p:txBody>
      </p:sp>
      <p:sp>
        <p:nvSpPr>
          <p:cNvPr id="24" name="TextBox 23"/>
          <p:cNvSpPr txBox="1"/>
          <p:nvPr/>
        </p:nvSpPr>
        <p:spPr>
          <a:xfrm>
            <a:off x="8412480" y="3017520"/>
            <a:ext cx="3383280" cy="594360"/>
          </a:xfrm>
          <a:prstGeom prst="rect">
            <a:avLst/>
          </a:prstGeom>
          <a:noFill/>
        </p:spPr>
        <p:txBody>
          <a:bodyPr wrap="square">
            <a:spAutoFit/>
          </a:bodyPr>
          <a:lstStyle/>
          <a:p>
            <a:pPr algn="l"/>
            <a:r>
              <a:rPr sz="1500" b="0">
                <a:solidFill>
                  <a:srgbClr val="1A1A2E"/>
                </a:solidFill>
                <a:latin typeface="メイリオ"/>
              </a:rPr>
              <a:t>✓  残存能力を活かす介助</a:t>
            </a:r>
          </a:p>
        </p:txBody>
      </p:sp>
      <p:sp>
        <p:nvSpPr>
          <p:cNvPr id="25" name="TextBox 24"/>
          <p:cNvSpPr txBox="1"/>
          <p:nvPr/>
        </p:nvSpPr>
        <p:spPr>
          <a:xfrm>
            <a:off x="8412480" y="3703320"/>
            <a:ext cx="3383280" cy="594360"/>
          </a:xfrm>
          <a:prstGeom prst="rect">
            <a:avLst/>
          </a:prstGeom>
          <a:noFill/>
        </p:spPr>
        <p:txBody>
          <a:bodyPr wrap="square">
            <a:spAutoFit/>
          </a:bodyPr>
          <a:lstStyle/>
          <a:p>
            <a:pPr algn="l"/>
            <a:r>
              <a:rPr sz="1500" b="0">
                <a:solidFill>
                  <a:srgbClr val="1A1A2E"/>
                </a:solidFill>
                <a:latin typeface="メイリオ"/>
              </a:rPr>
              <a:t>✓  ADL維持・向上を目指す</a:t>
            </a:r>
          </a:p>
        </p:txBody>
      </p:sp>
      <p:sp>
        <p:nvSpPr>
          <p:cNvPr id="26" name="Rectangle 25"/>
          <p:cNvSpPr/>
          <p:nvPr/>
        </p:nvSpPr>
        <p:spPr>
          <a:xfrm>
            <a:off x="1371600" y="5623560"/>
            <a:ext cx="9445752" cy="548640"/>
          </a:xfrm>
          <a:prstGeom prst="rect">
            <a:avLst/>
          </a:prstGeom>
          <a:solidFill>
            <a:srgbClr val="E84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463040" y="5669280"/>
            <a:ext cx="9262872" cy="457200"/>
          </a:xfrm>
          <a:prstGeom prst="rect">
            <a:avLst/>
          </a:prstGeom>
          <a:noFill/>
        </p:spPr>
        <p:txBody>
          <a:bodyPr wrap="square">
            <a:spAutoFit/>
          </a:bodyPr>
          <a:lstStyle/>
          <a:p>
            <a:pPr algn="ctr"/>
            <a:r>
              <a:rPr sz="1500" b="1">
                <a:solidFill>
                  <a:srgbClr val="FFFFFF"/>
                </a:solidFill>
                <a:latin typeface="メイリオ"/>
              </a:rPr>
              <a:t>声かけ・同意・プライバシー保護は必ず実施！</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28016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80160"/>
            <a:ext cx="12188952" cy="73152"/>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353312"/>
            <a:ext cx="12188952" cy="5504688"/>
          </a:xfrm>
          <a:prstGeom prst="rect">
            <a:avLst/>
          </a:prstGeom>
          <a:solidFill>
            <a:srgbClr val="F5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37160"/>
            <a:ext cx="10515600" cy="822960"/>
          </a:xfrm>
          <a:prstGeom prst="rect">
            <a:avLst/>
          </a:prstGeom>
          <a:noFill/>
        </p:spPr>
        <p:txBody>
          <a:bodyPr wrap="square">
            <a:spAutoFit/>
          </a:bodyPr>
          <a:lstStyle/>
          <a:p>
            <a:pPr algn="l"/>
            <a:r>
              <a:rPr sz="2800" b="1">
                <a:solidFill>
                  <a:srgbClr val="FFFFFF"/>
                </a:solidFill>
                <a:latin typeface="メイリオ"/>
              </a:rPr>
              <a:t>ボディメカニクスの基本</a:t>
            </a:r>
          </a:p>
        </p:txBody>
      </p:sp>
      <p:sp>
        <p:nvSpPr>
          <p:cNvPr id="6" name="TextBox 5"/>
          <p:cNvSpPr txBox="1"/>
          <p:nvPr/>
        </p:nvSpPr>
        <p:spPr>
          <a:xfrm>
            <a:off x="365760" y="777240"/>
            <a:ext cx="9144000" cy="457200"/>
          </a:xfrm>
          <a:prstGeom prst="rect">
            <a:avLst/>
          </a:prstGeom>
          <a:noFill/>
        </p:spPr>
        <p:txBody>
          <a:bodyPr wrap="square">
            <a:spAutoFit/>
          </a:bodyPr>
          <a:lstStyle/>
          <a:p>
            <a:pPr algn="l"/>
            <a:r>
              <a:rPr sz="1400" b="0">
                <a:solidFill>
                  <a:srgbClr val="CCE5FF"/>
                </a:solidFill>
                <a:latin typeface="メイリオ"/>
              </a:rPr>
              <a:t>介助者の腰痛予防と安全な介助のために</a:t>
            </a:r>
          </a:p>
        </p:txBody>
      </p:sp>
      <p:sp>
        <p:nvSpPr>
          <p:cNvPr id="7" name="TextBox 6"/>
          <p:cNvSpPr txBox="1"/>
          <p:nvPr/>
        </p:nvSpPr>
        <p:spPr>
          <a:xfrm>
            <a:off x="11155680" y="182880"/>
            <a:ext cx="822960" cy="457200"/>
          </a:xfrm>
          <a:prstGeom prst="rect">
            <a:avLst/>
          </a:prstGeom>
          <a:noFill/>
        </p:spPr>
        <p:txBody>
          <a:bodyPr wrap="square">
            <a:spAutoFit/>
          </a:bodyPr>
          <a:lstStyle/>
          <a:p>
            <a:pPr algn="r"/>
            <a:r>
              <a:rPr sz="1200" b="0">
                <a:solidFill>
                  <a:srgbClr val="AACCFF"/>
                </a:solidFill>
                <a:latin typeface="メイリオ"/>
              </a:rPr>
              <a:t>4 / 18</a:t>
            </a:r>
          </a:p>
        </p:txBody>
      </p:sp>
      <p:sp>
        <p:nvSpPr>
          <p:cNvPr id="8" name="Rectangle 7"/>
          <p:cNvSpPr/>
          <p:nvPr/>
        </p:nvSpPr>
        <p:spPr>
          <a:xfrm>
            <a:off x="365760" y="1508760"/>
            <a:ext cx="7772400" cy="4754880"/>
          </a:xfrm>
          <a:prstGeom prst="rect">
            <a:avLst/>
          </a:prstGeom>
          <a:solidFill>
            <a:srgbClr val="FFFFFF"/>
          </a:solidFill>
          <a:ln w="1905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645920"/>
            <a:ext cx="2926080" cy="594360"/>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1691640"/>
            <a:ext cx="2834640" cy="502920"/>
          </a:xfrm>
          <a:prstGeom prst="rect">
            <a:avLst/>
          </a:prstGeom>
          <a:noFill/>
        </p:spPr>
        <p:txBody>
          <a:bodyPr wrap="square">
            <a:spAutoFit/>
          </a:bodyPr>
          <a:lstStyle/>
          <a:p>
            <a:pPr algn="l"/>
            <a:r>
              <a:rPr sz="1400" b="1">
                <a:solidFill>
                  <a:srgbClr val="FFFFFF"/>
                </a:solidFill>
                <a:latin typeface="メイリオ"/>
              </a:rPr>
              <a:t>① 支持基底面を広げる</a:t>
            </a:r>
          </a:p>
        </p:txBody>
      </p:sp>
      <p:sp>
        <p:nvSpPr>
          <p:cNvPr id="11" name="TextBox 10"/>
          <p:cNvSpPr txBox="1"/>
          <p:nvPr/>
        </p:nvSpPr>
        <p:spPr>
          <a:xfrm>
            <a:off x="3520440" y="1719072"/>
            <a:ext cx="4480560" cy="502920"/>
          </a:xfrm>
          <a:prstGeom prst="rect">
            <a:avLst/>
          </a:prstGeom>
          <a:noFill/>
        </p:spPr>
        <p:txBody>
          <a:bodyPr wrap="square">
            <a:spAutoFit/>
          </a:bodyPr>
          <a:lstStyle/>
          <a:p>
            <a:pPr algn="l"/>
            <a:r>
              <a:rPr sz="1400" b="0">
                <a:solidFill>
                  <a:srgbClr val="1A1A2E"/>
                </a:solidFill>
                <a:latin typeface="メイリオ"/>
              </a:rPr>
              <a:t>足を肩幅に開き、安定した姿勢を確保する</a:t>
            </a:r>
          </a:p>
        </p:txBody>
      </p:sp>
      <p:sp>
        <p:nvSpPr>
          <p:cNvPr id="12" name="Rectangle 11"/>
          <p:cNvSpPr/>
          <p:nvPr/>
        </p:nvSpPr>
        <p:spPr>
          <a:xfrm>
            <a:off x="457200" y="2395728"/>
            <a:ext cx="2926080" cy="594360"/>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2441448"/>
            <a:ext cx="2834640" cy="502920"/>
          </a:xfrm>
          <a:prstGeom prst="rect">
            <a:avLst/>
          </a:prstGeom>
          <a:noFill/>
        </p:spPr>
        <p:txBody>
          <a:bodyPr wrap="square">
            <a:spAutoFit/>
          </a:bodyPr>
          <a:lstStyle/>
          <a:p>
            <a:pPr algn="l"/>
            <a:r>
              <a:rPr sz="1400" b="1">
                <a:solidFill>
                  <a:srgbClr val="FFFFFF"/>
                </a:solidFill>
                <a:latin typeface="メイリオ"/>
              </a:rPr>
              <a:t>② 重心を低くする</a:t>
            </a:r>
          </a:p>
        </p:txBody>
      </p:sp>
      <p:sp>
        <p:nvSpPr>
          <p:cNvPr id="14" name="TextBox 13"/>
          <p:cNvSpPr txBox="1"/>
          <p:nvPr/>
        </p:nvSpPr>
        <p:spPr>
          <a:xfrm>
            <a:off x="3520440" y="2468880"/>
            <a:ext cx="4480560" cy="502920"/>
          </a:xfrm>
          <a:prstGeom prst="rect">
            <a:avLst/>
          </a:prstGeom>
          <a:noFill/>
        </p:spPr>
        <p:txBody>
          <a:bodyPr wrap="square">
            <a:spAutoFit/>
          </a:bodyPr>
          <a:lstStyle/>
          <a:p>
            <a:pPr algn="l"/>
            <a:r>
              <a:rPr sz="1400" b="0">
                <a:solidFill>
                  <a:srgbClr val="1A1A2E"/>
                </a:solidFill>
                <a:latin typeface="メイリオ"/>
              </a:rPr>
              <a:t>膝を曲げて腰を落とし、重心を下げる</a:t>
            </a:r>
          </a:p>
        </p:txBody>
      </p:sp>
      <p:sp>
        <p:nvSpPr>
          <p:cNvPr id="15" name="Rectangle 14"/>
          <p:cNvSpPr/>
          <p:nvPr/>
        </p:nvSpPr>
        <p:spPr>
          <a:xfrm>
            <a:off x="457200" y="3145536"/>
            <a:ext cx="2926080" cy="594360"/>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 y="3191256"/>
            <a:ext cx="2834640" cy="502920"/>
          </a:xfrm>
          <a:prstGeom prst="rect">
            <a:avLst/>
          </a:prstGeom>
          <a:noFill/>
        </p:spPr>
        <p:txBody>
          <a:bodyPr wrap="square">
            <a:spAutoFit/>
          </a:bodyPr>
          <a:lstStyle/>
          <a:p>
            <a:pPr algn="l"/>
            <a:r>
              <a:rPr sz="1400" b="1">
                <a:solidFill>
                  <a:srgbClr val="FFFFFF"/>
                </a:solidFill>
                <a:latin typeface="メイリオ"/>
              </a:rPr>
              <a:t>③ 重心を近づける</a:t>
            </a:r>
          </a:p>
        </p:txBody>
      </p:sp>
      <p:sp>
        <p:nvSpPr>
          <p:cNvPr id="17" name="TextBox 16"/>
          <p:cNvSpPr txBox="1"/>
          <p:nvPr/>
        </p:nvSpPr>
        <p:spPr>
          <a:xfrm>
            <a:off x="3520440" y="3218688"/>
            <a:ext cx="4480560" cy="502920"/>
          </a:xfrm>
          <a:prstGeom prst="rect">
            <a:avLst/>
          </a:prstGeom>
          <a:noFill/>
        </p:spPr>
        <p:txBody>
          <a:bodyPr wrap="square">
            <a:spAutoFit/>
          </a:bodyPr>
          <a:lstStyle/>
          <a:p>
            <a:pPr algn="l"/>
            <a:r>
              <a:rPr sz="1400" b="0">
                <a:solidFill>
                  <a:srgbClr val="1A1A2E"/>
                </a:solidFill>
                <a:latin typeface="メイリオ"/>
              </a:rPr>
              <a:t>患者との距離を縮め、密着して介助する</a:t>
            </a:r>
          </a:p>
        </p:txBody>
      </p:sp>
      <p:sp>
        <p:nvSpPr>
          <p:cNvPr id="18" name="Rectangle 17"/>
          <p:cNvSpPr/>
          <p:nvPr/>
        </p:nvSpPr>
        <p:spPr>
          <a:xfrm>
            <a:off x="457200" y="3895344"/>
            <a:ext cx="2926080" cy="594360"/>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2920" y="3941063"/>
            <a:ext cx="2834640" cy="502920"/>
          </a:xfrm>
          <a:prstGeom prst="rect">
            <a:avLst/>
          </a:prstGeom>
          <a:noFill/>
        </p:spPr>
        <p:txBody>
          <a:bodyPr wrap="square">
            <a:spAutoFit/>
          </a:bodyPr>
          <a:lstStyle/>
          <a:p>
            <a:pPr algn="l"/>
            <a:r>
              <a:rPr sz="1400" b="1">
                <a:solidFill>
                  <a:srgbClr val="FFFFFF"/>
                </a:solidFill>
                <a:latin typeface="メイリオ"/>
              </a:rPr>
              <a:t>④ 大きな筋群を使う</a:t>
            </a:r>
          </a:p>
        </p:txBody>
      </p:sp>
      <p:sp>
        <p:nvSpPr>
          <p:cNvPr id="20" name="TextBox 19"/>
          <p:cNvSpPr txBox="1"/>
          <p:nvPr/>
        </p:nvSpPr>
        <p:spPr>
          <a:xfrm>
            <a:off x="3520440" y="3968496"/>
            <a:ext cx="4480560" cy="502920"/>
          </a:xfrm>
          <a:prstGeom prst="rect">
            <a:avLst/>
          </a:prstGeom>
          <a:noFill/>
        </p:spPr>
        <p:txBody>
          <a:bodyPr wrap="square">
            <a:spAutoFit/>
          </a:bodyPr>
          <a:lstStyle/>
          <a:p>
            <a:pPr algn="l"/>
            <a:r>
              <a:rPr sz="1400" b="0">
                <a:solidFill>
                  <a:srgbClr val="1A1A2E"/>
                </a:solidFill>
                <a:latin typeface="メイリオ"/>
              </a:rPr>
              <a:t>腰だけでなく脚・体幹の大きな筋肉を使う</a:t>
            </a:r>
          </a:p>
        </p:txBody>
      </p:sp>
      <p:sp>
        <p:nvSpPr>
          <p:cNvPr id="21" name="Rectangle 20"/>
          <p:cNvSpPr/>
          <p:nvPr/>
        </p:nvSpPr>
        <p:spPr>
          <a:xfrm>
            <a:off x="457200" y="4645152"/>
            <a:ext cx="2926080" cy="594360"/>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02920" y="4690872"/>
            <a:ext cx="2834640" cy="502920"/>
          </a:xfrm>
          <a:prstGeom prst="rect">
            <a:avLst/>
          </a:prstGeom>
          <a:noFill/>
        </p:spPr>
        <p:txBody>
          <a:bodyPr wrap="square">
            <a:spAutoFit/>
          </a:bodyPr>
          <a:lstStyle/>
          <a:p>
            <a:pPr algn="l"/>
            <a:r>
              <a:rPr sz="1400" b="1">
                <a:solidFill>
                  <a:srgbClr val="FFFFFF"/>
                </a:solidFill>
                <a:latin typeface="メイリオ"/>
              </a:rPr>
              <a:t>⑤ 身体をひとつにまとめる</a:t>
            </a:r>
          </a:p>
        </p:txBody>
      </p:sp>
      <p:sp>
        <p:nvSpPr>
          <p:cNvPr id="23" name="TextBox 22"/>
          <p:cNvSpPr txBox="1"/>
          <p:nvPr/>
        </p:nvSpPr>
        <p:spPr>
          <a:xfrm>
            <a:off x="3520440" y="4718304"/>
            <a:ext cx="4480560" cy="502920"/>
          </a:xfrm>
          <a:prstGeom prst="rect">
            <a:avLst/>
          </a:prstGeom>
          <a:noFill/>
        </p:spPr>
        <p:txBody>
          <a:bodyPr wrap="square">
            <a:spAutoFit/>
          </a:bodyPr>
          <a:lstStyle/>
          <a:p>
            <a:pPr algn="l"/>
            <a:r>
              <a:rPr sz="1400" b="0">
                <a:solidFill>
                  <a:srgbClr val="1A1A2E"/>
                </a:solidFill>
                <a:latin typeface="メイリオ"/>
              </a:rPr>
              <a:t>患者の手足を体に引き付けてから動かす</a:t>
            </a:r>
          </a:p>
        </p:txBody>
      </p:sp>
      <p:sp>
        <p:nvSpPr>
          <p:cNvPr id="24" name="Rectangle 23"/>
          <p:cNvSpPr/>
          <p:nvPr/>
        </p:nvSpPr>
        <p:spPr>
          <a:xfrm>
            <a:off x="457200" y="5394959"/>
            <a:ext cx="2926080" cy="594360"/>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02920" y="5440679"/>
            <a:ext cx="2834640" cy="502920"/>
          </a:xfrm>
          <a:prstGeom prst="rect">
            <a:avLst/>
          </a:prstGeom>
          <a:noFill/>
        </p:spPr>
        <p:txBody>
          <a:bodyPr wrap="square">
            <a:spAutoFit/>
          </a:bodyPr>
          <a:lstStyle/>
          <a:p>
            <a:pPr algn="l"/>
            <a:r>
              <a:rPr sz="1400" b="1">
                <a:solidFill>
                  <a:srgbClr val="FFFFFF"/>
                </a:solidFill>
                <a:latin typeface="メイリオ"/>
              </a:rPr>
              <a:t>⑥ ねじり動作を避ける</a:t>
            </a:r>
          </a:p>
        </p:txBody>
      </p:sp>
      <p:sp>
        <p:nvSpPr>
          <p:cNvPr id="26" name="TextBox 25"/>
          <p:cNvSpPr txBox="1"/>
          <p:nvPr/>
        </p:nvSpPr>
        <p:spPr>
          <a:xfrm>
            <a:off x="3520440" y="5468112"/>
            <a:ext cx="4480560" cy="502920"/>
          </a:xfrm>
          <a:prstGeom prst="rect">
            <a:avLst/>
          </a:prstGeom>
          <a:noFill/>
        </p:spPr>
        <p:txBody>
          <a:bodyPr wrap="square">
            <a:spAutoFit/>
          </a:bodyPr>
          <a:lstStyle/>
          <a:p>
            <a:pPr algn="l"/>
            <a:r>
              <a:rPr sz="1400" b="0">
                <a:solidFill>
                  <a:srgbClr val="1A1A2E"/>
                </a:solidFill>
                <a:latin typeface="メイリオ"/>
              </a:rPr>
              <a:t>足を向けてから体を回旋させる</a:t>
            </a:r>
          </a:p>
        </p:txBody>
      </p:sp>
      <p:sp>
        <p:nvSpPr>
          <p:cNvPr id="27" name="Rectangle 26"/>
          <p:cNvSpPr/>
          <p:nvPr/>
        </p:nvSpPr>
        <p:spPr>
          <a:xfrm>
            <a:off x="8321040" y="1508760"/>
            <a:ext cx="3474720" cy="4754880"/>
          </a:xfrm>
          <a:prstGeom prst="rect">
            <a:avLst/>
          </a:prstGeom>
          <a:solidFill>
            <a:srgbClr val="DDEAF5"/>
          </a:solidFill>
          <a:ln w="1905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784080" y="3566160"/>
            <a:ext cx="548640" cy="548640"/>
          </a:xfrm>
          <a:prstGeom prst="rect">
            <a:avLst/>
          </a:prstGeom>
          <a:noFill/>
        </p:spPr>
        <p:txBody>
          <a:bodyPr wrap="square">
            <a:spAutoFit/>
          </a:bodyPr>
          <a:lstStyle/>
          <a:p>
            <a:pPr algn="ctr"/>
            <a:r>
              <a:rPr sz="2800" b="0">
                <a:solidFill>
                  <a:srgbClr val="1A1A2E"/>
                </a:solidFill>
                <a:latin typeface="メイリオ"/>
              </a:rPr>
              <a:t>📷</a:t>
            </a:r>
          </a:p>
        </p:txBody>
      </p:sp>
      <p:sp>
        <p:nvSpPr>
          <p:cNvPr id="29" name="TextBox 28"/>
          <p:cNvSpPr txBox="1"/>
          <p:nvPr/>
        </p:nvSpPr>
        <p:spPr>
          <a:xfrm>
            <a:off x="8412480" y="5806440"/>
            <a:ext cx="3291839" cy="411480"/>
          </a:xfrm>
          <a:prstGeom prst="rect">
            <a:avLst/>
          </a:prstGeom>
          <a:noFill/>
        </p:spPr>
        <p:txBody>
          <a:bodyPr wrap="square">
            <a:spAutoFit/>
          </a:bodyPr>
          <a:lstStyle/>
          <a:p>
            <a:pPr algn="ctr"/>
            <a:r>
              <a:rPr sz="1200" b="0">
                <a:solidFill>
                  <a:srgbClr val="445566"/>
                </a:solidFill>
                <a:latin typeface="メイリオ"/>
              </a:rPr>
              <a:t>【画像①】ボディメカニクス6原則
イラスト（姿勢比較図）</a:t>
            </a:r>
          </a:p>
        </p:txBody>
      </p:sp>
      <p:sp>
        <p:nvSpPr>
          <p:cNvPr id="30" name="Rectangle 29"/>
          <p:cNvSpPr/>
          <p:nvPr/>
        </p:nvSpPr>
        <p:spPr>
          <a:xfrm>
            <a:off x="457200" y="6355080"/>
            <a:ext cx="11274552" cy="41148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48640" y="6400800"/>
            <a:ext cx="11091672" cy="320040"/>
          </a:xfrm>
          <a:prstGeom prst="rect">
            <a:avLst/>
          </a:prstGeom>
          <a:noFill/>
        </p:spPr>
        <p:txBody>
          <a:bodyPr wrap="square">
            <a:spAutoFit/>
          </a:bodyPr>
          <a:lstStyle/>
          <a:p>
            <a:pPr algn="ctr"/>
            <a:r>
              <a:rPr sz="1400" b="1">
                <a:solidFill>
                  <a:srgbClr val="FFFFFF"/>
                </a:solidFill>
                <a:latin typeface="メイリオ"/>
              </a:rPr>
              <a:t>腰痛は職業病ではありません。正しい姿勢で自分の体も守りましょう</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28016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80160"/>
            <a:ext cx="12188952" cy="73152"/>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353312"/>
            <a:ext cx="12188952" cy="5504688"/>
          </a:xfrm>
          <a:prstGeom prst="rect">
            <a:avLst/>
          </a:prstGeom>
          <a:solidFill>
            <a:srgbClr val="F5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37160"/>
            <a:ext cx="10515600" cy="822960"/>
          </a:xfrm>
          <a:prstGeom prst="rect">
            <a:avLst/>
          </a:prstGeom>
          <a:noFill/>
        </p:spPr>
        <p:txBody>
          <a:bodyPr wrap="square">
            <a:spAutoFit/>
          </a:bodyPr>
          <a:lstStyle/>
          <a:p>
            <a:pPr algn="l"/>
            <a:r>
              <a:rPr sz="2800" b="1">
                <a:solidFill>
                  <a:srgbClr val="FFFFFF"/>
                </a:solidFill>
                <a:latin typeface="メイリオ"/>
              </a:rPr>
              <a:t>介助前の確認事項</a:t>
            </a:r>
          </a:p>
        </p:txBody>
      </p:sp>
      <p:sp>
        <p:nvSpPr>
          <p:cNvPr id="6" name="TextBox 5"/>
          <p:cNvSpPr txBox="1"/>
          <p:nvPr/>
        </p:nvSpPr>
        <p:spPr>
          <a:xfrm>
            <a:off x="365760" y="777240"/>
            <a:ext cx="9144000" cy="457200"/>
          </a:xfrm>
          <a:prstGeom prst="rect">
            <a:avLst/>
          </a:prstGeom>
          <a:noFill/>
        </p:spPr>
        <p:txBody>
          <a:bodyPr wrap="square">
            <a:spAutoFit/>
          </a:bodyPr>
          <a:lstStyle/>
          <a:p>
            <a:pPr algn="l"/>
            <a:r>
              <a:rPr sz="1400" b="0">
                <a:solidFill>
                  <a:srgbClr val="CCE5FF"/>
                </a:solidFill>
                <a:latin typeface="メイリオ"/>
              </a:rPr>
              <a:t>リスクアセスメントと環境整備</a:t>
            </a:r>
          </a:p>
        </p:txBody>
      </p:sp>
      <p:sp>
        <p:nvSpPr>
          <p:cNvPr id="7" name="TextBox 6"/>
          <p:cNvSpPr txBox="1"/>
          <p:nvPr/>
        </p:nvSpPr>
        <p:spPr>
          <a:xfrm>
            <a:off x="11155680" y="182880"/>
            <a:ext cx="822960" cy="457200"/>
          </a:xfrm>
          <a:prstGeom prst="rect">
            <a:avLst/>
          </a:prstGeom>
          <a:noFill/>
        </p:spPr>
        <p:txBody>
          <a:bodyPr wrap="square">
            <a:spAutoFit/>
          </a:bodyPr>
          <a:lstStyle/>
          <a:p>
            <a:pPr algn="r"/>
            <a:r>
              <a:rPr sz="1200" b="0">
                <a:solidFill>
                  <a:srgbClr val="AACCFF"/>
                </a:solidFill>
                <a:latin typeface="メイリオ"/>
              </a:rPr>
              <a:t>5 / 18</a:t>
            </a:r>
          </a:p>
        </p:txBody>
      </p:sp>
      <p:sp>
        <p:nvSpPr>
          <p:cNvPr id="8" name="Rectangle 7"/>
          <p:cNvSpPr/>
          <p:nvPr/>
        </p:nvSpPr>
        <p:spPr>
          <a:xfrm>
            <a:off x="365760" y="1554480"/>
            <a:ext cx="5577840" cy="3474720"/>
          </a:xfrm>
          <a:prstGeom prst="rect">
            <a:avLst/>
          </a:prstGeom>
          <a:solidFill>
            <a:srgbClr val="FFFFFF"/>
          </a:solidFill>
          <a:ln w="1905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645920"/>
            <a:ext cx="5303520" cy="411480"/>
          </a:xfrm>
          <a:prstGeom prst="rect">
            <a:avLst/>
          </a:prstGeom>
          <a:noFill/>
        </p:spPr>
        <p:txBody>
          <a:bodyPr wrap="square">
            <a:spAutoFit/>
          </a:bodyPr>
          <a:lstStyle/>
          <a:p>
            <a:pPr algn="l"/>
            <a:r>
              <a:rPr sz="1600" b="1">
                <a:solidFill>
                  <a:srgbClr val="005B99"/>
                </a:solidFill>
                <a:latin typeface="メイリオ"/>
              </a:rPr>
              <a:t>患者確認</a:t>
            </a:r>
          </a:p>
        </p:txBody>
      </p:sp>
      <p:sp>
        <p:nvSpPr>
          <p:cNvPr id="10" name="TextBox 9"/>
          <p:cNvSpPr txBox="1"/>
          <p:nvPr/>
        </p:nvSpPr>
        <p:spPr>
          <a:xfrm>
            <a:off x="502920" y="2057400"/>
            <a:ext cx="5303520" cy="384048"/>
          </a:xfrm>
          <a:prstGeom prst="rect">
            <a:avLst/>
          </a:prstGeom>
          <a:noFill/>
        </p:spPr>
        <p:txBody>
          <a:bodyPr wrap="square">
            <a:spAutoFit/>
          </a:bodyPr>
          <a:lstStyle/>
          <a:p>
            <a:pPr algn="l"/>
            <a:r>
              <a:rPr sz="1600" b="0">
                <a:solidFill>
                  <a:srgbClr val="1A1A2E"/>
                </a:solidFill>
                <a:latin typeface="メイリオ"/>
              </a:rPr>
              <a:t>● 患者の理解・同意を得る</a:t>
            </a:r>
          </a:p>
        </p:txBody>
      </p:sp>
      <p:sp>
        <p:nvSpPr>
          <p:cNvPr id="11" name="TextBox 10"/>
          <p:cNvSpPr txBox="1"/>
          <p:nvPr/>
        </p:nvSpPr>
        <p:spPr>
          <a:xfrm>
            <a:off x="502920" y="2441448"/>
            <a:ext cx="5303520" cy="384048"/>
          </a:xfrm>
          <a:prstGeom prst="rect">
            <a:avLst/>
          </a:prstGeom>
          <a:noFill/>
        </p:spPr>
        <p:txBody>
          <a:bodyPr wrap="square">
            <a:spAutoFit/>
          </a:bodyPr>
          <a:lstStyle/>
          <a:p>
            <a:pPr algn="l"/>
            <a:r>
              <a:rPr sz="1600" b="0">
                <a:solidFill>
                  <a:srgbClr val="1A1A2E"/>
                </a:solidFill>
                <a:latin typeface="メイリオ"/>
              </a:rPr>
              <a:t>● バイタルサイン・体調確認</a:t>
            </a:r>
          </a:p>
        </p:txBody>
      </p:sp>
      <p:sp>
        <p:nvSpPr>
          <p:cNvPr id="12" name="TextBox 11"/>
          <p:cNvSpPr txBox="1"/>
          <p:nvPr/>
        </p:nvSpPr>
        <p:spPr>
          <a:xfrm>
            <a:off x="502920" y="2825496"/>
            <a:ext cx="5303520" cy="384048"/>
          </a:xfrm>
          <a:prstGeom prst="rect">
            <a:avLst/>
          </a:prstGeom>
          <a:noFill/>
        </p:spPr>
        <p:txBody>
          <a:bodyPr wrap="square">
            <a:spAutoFit/>
          </a:bodyPr>
          <a:lstStyle/>
          <a:p>
            <a:pPr algn="l"/>
            <a:r>
              <a:rPr sz="1600" b="0">
                <a:solidFill>
                  <a:srgbClr val="1A1A2E"/>
                </a:solidFill>
                <a:latin typeface="メイリオ"/>
              </a:rPr>
              <a:t>● 点滴・ドレーン・カテーテル確認</a:t>
            </a:r>
          </a:p>
        </p:txBody>
      </p:sp>
      <p:sp>
        <p:nvSpPr>
          <p:cNvPr id="13" name="TextBox 12"/>
          <p:cNvSpPr txBox="1"/>
          <p:nvPr/>
        </p:nvSpPr>
        <p:spPr>
          <a:xfrm>
            <a:off x="502920" y="3209544"/>
            <a:ext cx="5303520" cy="384048"/>
          </a:xfrm>
          <a:prstGeom prst="rect">
            <a:avLst/>
          </a:prstGeom>
          <a:noFill/>
        </p:spPr>
        <p:txBody>
          <a:bodyPr wrap="square">
            <a:spAutoFit/>
          </a:bodyPr>
          <a:lstStyle/>
          <a:p>
            <a:pPr algn="l"/>
            <a:r>
              <a:rPr sz="1600" b="0">
                <a:solidFill>
                  <a:srgbClr val="1A1A2E"/>
                </a:solidFill>
                <a:latin typeface="メイリオ"/>
              </a:rPr>
              <a:t>● 麻痺・疼痛・可動域の確認</a:t>
            </a:r>
          </a:p>
        </p:txBody>
      </p:sp>
      <p:sp>
        <p:nvSpPr>
          <p:cNvPr id="14" name="TextBox 13"/>
          <p:cNvSpPr txBox="1"/>
          <p:nvPr/>
        </p:nvSpPr>
        <p:spPr>
          <a:xfrm>
            <a:off x="502920" y="3593591"/>
            <a:ext cx="5303520" cy="384048"/>
          </a:xfrm>
          <a:prstGeom prst="rect">
            <a:avLst/>
          </a:prstGeom>
          <a:noFill/>
        </p:spPr>
        <p:txBody>
          <a:bodyPr wrap="square">
            <a:spAutoFit/>
          </a:bodyPr>
          <a:lstStyle/>
          <a:p>
            <a:pPr algn="l"/>
            <a:r>
              <a:rPr sz="1600" b="0">
                <a:solidFill>
                  <a:srgbClr val="1A1A2E"/>
                </a:solidFill>
                <a:latin typeface="メイリオ"/>
              </a:rPr>
              <a:t>● 患者の体重・介助レベル確認</a:t>
            </a:r>
          </a:p>
        </p:txBody>
      </p:sp>
      <p:sp>
        <p:nvSpPr>
          <p:cNvPr id="15" name="Rectangle 14"/>
          <p:cNvSpPr/>
          <p:nvPr/>
        </p:nvSpPr>
        <p:spPr>
          <a:xfrm>
            <a:off x="6217920" y="1554480"/>
            <a:ext cx="5577840" cy="3474720"/>
          </a:xfrm>
          <a:prstGeom prst="rect">
            <a:avLst/>
          </a:prstGeom>
          <a:solidFill>
            <a:srgbClr val="FFFFFF"/>
          </a:solidFill>
          <a:ln w="1905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55080" y="1645920"/>
            <a:ext cx="5303520" cy="411480"/>
          </a:xfrm>
          <a:prstGeom prst="rect">
            <a:avLst/>
          </a:prstGeom>
          <a:noFill/>
        </p:spPr>
        <p:txBody>
          <a:bodyPr wrap="square">
            <a:spAutoFit/>
          </a:bodyPr>
          <a:lstStyle/>
          <a:p>
            <a:pPr algn="l"/>
            <a:r>
              <a:rPr sz="1600" b="1">
                <a:solidFill>
                  <a:srgbClr val="27AE60"/>
                </a:solidFill>
                <a:latin typeface="メイリオ"/>
              </a:rPr>
              <a:t>環境整備</a:t>
            </a:r>
          </a:p>
        </p:txBody>
      </p:sp>
      <p:sp>
        <p:nvSpPr>
          <p:cNvPr id="17" name="TextBox 16"/>
          <p:cNvSpPr txBox="1"/>
          <p:nvPr/>
        </p:nvSpPr>
        <p:spPr>
          <a:xfrm>
            <a:off x="6355080" y="2057400"/>
            <a:ext cx="5303520" cy="384048"/>
          </a:xfrm>
          <a:prstGeom prst="rect">
            <a:avLst/>
          </a:prstGeom>
          <a:noFill/>
        </p:spPr>
        <p:txBody>
          <a:bodyPr wrap="square">
            <a:spAutoFit/>
          </a:bodyPr>
          <a:lstStyle/>
          <a:p>
            <a:pPr algn="l"/>
            <a:r>
              <a:rPr sz="1600" b="0">
                <a:solidFill>
                  <a:srgbClr val="1A1A2E"/>
                </a:solidFill>
                <a:latin typeface="メイリオ"/>
              </a:rPr>
              <a:t>● ベッドの高さ調整（介助しやすい高さ）</a:t>
            </a:r>
          </a:p>
        </p:txBody>
      </p:sp>
      <p:sp>
        <p:nvSpPr>
          <p:cNvPr id="18" name="TextBox 17"/>
          <p:cNvSpPr txBox="1"/>
          <p:nvPr/>
        </p:nvSpPr>
        <p:spPr>
          <a:xfrm>
            <a:off x="6355080" y="2441448"/>
            <a:ext cx="5303520" cy="384048"/>
          </a:xfrm>
          <a:prstGeom prst="rect">
            <a:avLst/>
          </a:prstGeom>
          <a:noFill/>
        </p:spPr>
        <p:txBody>
          <a:bodyPr wrap="square">
            <a:spAutoFit/>
          </a:bodyPr>
          <a:lstStyle/>
          <a:p>
            <a:pPr algn="l"/>
            <a:r>
              <a:rPr sz="1600" b="0">
                <a:solidFill>
                  <a:srgbClr val="1A1A2E"/>
                </a:solidFill>
                <a:latin typeface="メイリオ"/>
              </a:rPr>
              <a:t>● ブレーキ・ストッパーの確認</a:t>
            </a:r>
          </a:p>
        </p:txBody>
      </p:sp>
      <p:sp>
        <p:nvSpPr>
          <p:cNvPr id="19" name="TextBox 18"/>
          <p:cNvSpPr txBox="1"/>
          <p:nvPr/>
        </p:nvSpPr>
        <p:spPr>
          <a:xfrm>
            <a:off x="6355080" y="2825496"/>
            <a:ext cx="5303520" cy="384048"/>
          </a:xfrm>
          <a:prstGeom prst="rect">
            <a:avLst/>
          </a:prstGeom>
          <a:noFill/>
        </p:spPr>
        <p:txBody>
          <a:bodyPr wrap="square">
            <a:spAutoFit/>
          </a:bodyPr>
          <a:lstStyle/>
          <a:p>
            <a:pPr algn="l"/>
            <a:r>
              <a:rPr sz="1600" b="0">
                <a:solidFill>
                  <a:srgbClr val="1A1A2E"/>
                </a:solidFill>
                <a:latin typeface="メイリオ"/>
              </a:rPr>
              <a:t>● 床の濡れ・障害物の除去</a:t>
            </a:r>
          </a:p>
        </p:txBody>
      </p:sp>
      <p:sp>
        <p:nvSpPr>
          <p:cNvPr id="20" name="TextBox 19"/>
          <p:cNvSpPr txBox="1"/>
          <p:nvPr/>
        </p:nvSpPr>
        <p:spPr>
          <a:xfrm>
            <a:off x="6355080" y="3209544"/>
            <a:ext cx="5303520" cy="384048"/>
          </a:xfrm>
          <a:prstGeom prst="rect">
            <a:avLst/>
          </a:prstGeom>
          <a:noFill/>
        </p:spPr>
        <p:txBody>
          <a:bodyPr wrap="square">
            <a:spAutoFit/>
          </a:bodyPr>
          <a:lstStyle/>
          <a:p>
            <a:pPr algn="l"/>
            <a:r>
              <a:rPr sz="1600" b="0">
                <a:solidFill>
                  <a:srgbClr val="1A1A2E"/>
                </a:solidFill>
                <a:latin typeface="メイリオ"/>
              </a:rPr>
              <a:t>● スリッパ→滑り止め靴に変更</a:t>
            </a:r>
          </a:p>
        </p:txBody>
      </p:sp>
      <p:sp>
        <p:nvSpPr>
          <p:cNvPr id="21" name="TextBox 20"/>
          <p:cNvSpPr txBox="1"/>
          <p:nvPr/>
        </p:nvSpPr>
        <p:spPr>
          <a:xfrm>
            <a:off x="6355080" y="3593591"/>
            <a:ext cx="5303520" cy="384048"/>
          </a:xfrm>
          <a:prstGeom prst="rect">
            <a:avLst/>
          </a:prstGeom>
          <a:noFill/>
        </p:spPr>
        <p:txBody>
          <a:bodyPr wrap="square">
            <a:spAutoFit/>
          </a:bodyPr>
          <a:lstStyle/>
          <a:p>
            <a:pPr algn="l"/>
            <a:r>
              <a:rPr sz="1600" b="0">
                <a:solidFill>
                  <a:srgbClr val="1A1A2E"/>
                </a:solidFill>
                <a:latin typeface="メイリオ"/>
              </a:rPr>
              <a:t>● プライバシーカーテンを閉める</a:t>
            </a:r>
          </a:p>
        </p:txBody>
      </p:sp>
      <p:sp>
        <p:nvSpPr>
          <p:cNvPr id="22" name="Rectangle 21"/>
          <p:cNvSpPr/>
          <p:nvPr/>
        </p:nvSpPr>
        <p:spPr>
          <a:xfrm>
            <a:off x="365760" y="5166360"/>
            <a:ext cx="11457432" cy="594360"/>
          </a:xfrm>
          <a:prstGeom prst="rect">
            <a:avLst/>
          </a:prstGeom>
          <a:solidFill>
            <a:srgbClr val="E84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5212080"/>
            <a:ext cx="11274552" cy="502920"/>
          </a:xfrm>
          <a:prstGeom prst="rect">
            <a:avLst/>
          </a:prstGeom>
          <a:noFill/>
        </p:spPr>
        <p:txBody>
          <a:bodyPr wrap="square">
            <a:spAutoFit/>
          </a:bodyPr>
          <a:lstStyle/>
          <a:p>
            <a:pPr algn="ctr"/>
            <a:r>
              <a:rPr sz="1500" b="1">
                <a:solidFill>
                  <a:srgbClr val="FFFFFF"/>
                </a:solidFill>
                <a:latin typeface="メイリオ"/>
              </a:rPr>
              <a:t>⚠ 2人介助基準：全介助・体重60kg以上・不安定な患者は必ず2名で対応</a:t>
            </a:r>
          </a:p>
        </p:txBody>
      </p:sp>
      <p:sp>
        <p:nvSpPr>
          <p:cNvPr id="24" name="TextBox 23"/>
          <p:cNvSpPr txBox="1"/>
          <p:nvPr/>
        </p:nvSpPr>
        <p:spPr>
          <a:xfrm>
            <a:off x="365760" y="5833872"/>
            <a:ext cx="11457432" cy="457200"/>
          </a:xfrm>
          <a:prstGeom prst="rect">
            <a:avLst/>
          </a:prstGeom>
          <a:noFill/>
        </p:spPr>
        <p:txBody>
          <a:bodyPr wrap="square">
            <a:spAutoFit/>
          </a:bodyPr>
          <a:lstStyle/>
          <a:p>
            <a:pPr algn="ctr"/>
            <a:r>
              <a:rPr sz="1500" b="1">
                <a:solidFill>
                  <a:srgbClr val="005B99"/>
                </a:solidFill>
                <a:latin typeface="メイリオ"/>
              </a:rPr>
              <a:t>介助の基本手順：確認 → 声かけ → 環境整備 → 介助 → 観察 → 記録</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28016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80160"/>
            <a:ext cx="12188952" cy="73152"/>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353312"/>
            <a:ext cx="12188952" cy="5504688"/>
          </a:xfrm>
          <a:prstGeom prst="rect">
            <a:avLst/>
          </a:prstGeom>
          <a:solidFill>
            <a:srgbClr val="F5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37160"/>
            <a:ext cx="10515600" cy="822960"/>
          </a:xfrm>
          <a:prstGeom prst="rect">
            <a:avLst/>
          </a:prstGeom>
          <a:noFill/>
        </p:spPr>
        <p:txBody>
          <a:bodyPr wrap="square">
            <a:spAutoFit/>
          </a:bodyPr>
          <a:lstStyle/>
          <a:p>
            <a:pPr algn="l"/>
            <a:r>
              <a:rPr sz="2800" b="1">
                <a:solidFill>
                  <a:srgbClr val="FFFFFF"/>
                </a:solidFill>
                <a:latin typeface="メイリオ"/>
              </a:rPr>
              <a:t>立ち上がり介助</a:t>
            </a:r>
          </a:p>
        </p:txBody>
      </p:sp>
      <p:sp>
        <p:nvSpPr>
          <p:cNvPr id="6" name="TextBox 5"/>
          <p:cNvSpPr txBox="1"/>
          <p:nvPr/>
        </p:nvSpPr>
        <p:spPr>
          <a:xfrm>
            <a:off x="365760" y="777240"/>
            <a:ext cx="9144000" cy="457200"/>
          </a:xfrm>
          <a:prstGeom prst="rect">
            <a:avLst/>
          </a:prstGeom>
          <a:noFill/>
        </p:spPr>
        <p:txBody>
          <a:bodyPr wrap="square">
            <a:spAutoFit/>
          </a:bodyPr>
          <a:lstStyle/>
          <a:p>
            <a:pPr algn="l"/>
            <a:r>
              <a:rPr sz="1400" b="0">
                <a:solidFill>
                  <a:srgbClr val="CCE5FF"/>
                </a:solidFill>
                <a:latin typeface="メイリオ"/>
              </a:rPr>
              <a:t>ベッド端座位から立位へ</a:t>
            </a:r>
          </a:p>
        </p:txBody>
      </p:sp>
      <p:sp>
        <p:nvSpPr>
          <p:cNvPr id="7" name="TextBox 6"/>
          <p:cNvSpPr txBox="1"/>
          <p:nvPr/>
        </p:nvSpPr>
        <p:spPr>
          <a:xfrm>
            <a:off x="11155680" y="182880"/>
            <a:ext cx="822960" cy="457200"/>
          </a:xfrm>
          <a:prstGeom prst="rect">
            <a:avLst/>
          </a:prstGeom>
          <a:noFill/>
        </p:spPr>
        <p:txBody>
          <a:bodyPr wrap="square">
            <a:spAutoFit/>
          </a:bodyPr>
          <a:lstStyle/>
          <a:p>
            <a:pPr algn="r"/>
            <a:r>
              <a:rPr sz="1200" b="0">
                <a:solidFill>
                  <a:srgbClr val="AACCFF"/>
                </a:solidFill>
                <a:latin typeface="メイリオ"/>
              </a:rPr>
              <a:t>6 / 18</a:t>
            </a:r>
          </a:p>
        </p:txBody>
      </p:sp>
      <p:sp>
        <p:nvSpPr>
          <p:cNvPr id="8" name="Rectangle 7"/>
          <p:cNvSpPr/>
          <p:nvPr/>
        </p:nvSpPr>
        <p:spPr>
          <a:xfrm>
            <a:off x="320040" y="1554480"/>
            <a:ext cx="5669280" cy="45720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79" y="1600200"/>
            <a:ext cx="5486400" cy="384048"/>
          </a:xfrm>
          <a:prstGeom prst="rect">
            <a:avLst/>
          </a:prstGeom>
          <a:noFill/>
        </p:spPr>
        <p:txBody>
          <a:bodyPr wrap="square">
            <a:spAutoFit/>
          </a:bodyPr>
          <a:lstStyle/>
          <a:p>
            <a:pPr algn="l"/>
            <a:r>
              <a:rPr sz="1600" b="1">
                <a:solidFill>
                  <a:srgbClr val="FFFFFF"/>
                </a:solidFill>
                <a:latin typeface="メイリオ"/>
              </a:rPr>
              <a:t>STEP 1  端座位を確保する</a:t>
            </a:r>
          </a:p>
        </p:txBody>
      </p:sp>
      <p:sp>
        <p:nvSpPr>
          <p:cNvPr id="10" name="Rectangle 9"/>
          <p:cNvSpPr/>
          <p:nvPr/>
        </p:nvSpPr>
        <p:spPr>
          <a:xfrm>
            <a:off x="320040" y="2011680"/>
            <a:ext cx="5669280" cy="1645920"/>
          </a:xfrm>
          <a:prstGeom prst="rect">
            <a:avLst/>
          </a:prstGeom>
          <a:solidFill>
            <a:srgbClr val="FFFFFF"/>
          </a:solidFill>
          <a:ln w="1524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 y="2103120"/>
            <a:ext cx="5303520" cy="1463040"/>
          </a:xfrm>
          <a:prstGeom prst="rect">
            <a:avLst/>
          </a:prstGeom>
          <a:noFill/>
        </p:spPr>
        <p:txBody>
          <a:bodyPr wrap="square">
            <a:spAutoFit/>
          </a:bodyPr>
          <a:lstStyle/>
          <a:p>
            <a:pPr algn="l"/>
            <a:r>
              <a:rPr sz="1400" b="0">
                <a:solidFill>
                  <a:srgbClr val="1A1A2E"/>
                </a:solidFill>
                <a:latin typeface="メイリオ"/>
              </a:rPr>
              <a:t>ベッド端に座り、足底を床につける
（足が浮いている場合はフットレストを使用）</a:t>
            </a:r>
          </a:p>
        </p:txBody>
      </p:sp>
      <p:sp>
        <p:nvSpPr>
          <p:cNvPr id="12" name="Rectangle 11"/>
          <p:cNvSpPr/>
          <p:nvPr/>
        </p:nvSpPr>
        <p:spPr>
          <a:xfrm>
            <a:off x="6263640" y="1554480"/>
            <a:ext cx="5669280" cy="45720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55079" y="1600200"/>
            <a:ext cx="5486400" cy="384048"/>
          </a:xfrm>
          <a:prstGeom prst="rect">
            <a:avLst/>
          </a:prstGeom>
          <a:noFill/>
        </p:spPr>
        <p:txBody>
          <a:bodyPr wrap="square">
            <a:spAutoFit/>
          </a:bodyPr>
          <a:lstStyle/>
          <a:p>
            <a:pPr algn="l"/>
            <a:r>
              <a:rPr sz="1600" b="1">
                <a:solidFill>
                  <a:srgbClr val="FFFFFF"/>
                </a:solidFill>
                <a:latin typeface="メイリオ"/>
              </a:rPr>
              <a:t>STEP 2  前傾姿勢をとる</a:t>
            </a:r>
          </a:p>
        </p:txBody>
      </p:sp>
      <p:sp>
        <p:nvSpPr>
          <p:cNvPr id="14" name="Rectangle 13"/>
          <p:cNvSpPr/>
          <p:nvPr/>
        </p:nvSpPr>
        <p:spPr>
          <a:xfrm>
            <a:off x="6263640" y="2011680"/>
            <a:ext cx="5669280" cy="1645920"/>
          </a:xfrm>
          <a:prstGeom prst="rect">
            <a:avLst/>
          </a:prstGeom>
          <a:solidFill>
            <a:srgbClr val="FFFFFF"/>
          </a:solidFill>
          <a:ln w="1524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46520" y="2103120"/>
            <a:ext cx="5303520" cy="1463040"/>
          </a:xfrm>
          <a:prstGeom prst="rect">
            <a:avLst/>
          </a:prstGeom>
          <a:noFill/>
        </p:spPr>
        <p:txBody>
          <a:bodyPr wrap="square">
            <a:spAutoFit/>
          </a:bodyPr>
          <a:lstStyle/>
          <a:p>
            <a:pPr algn="l"/>
            <a:r>
              <a:rPr sz="1400" b="0">
                <a:solidFill>
                  <a:srgbClr val="1A1A2E"/>
                </a:solidFill>
                <a:latin typeface="メイリオ"/>
              </a:rPr>
              <a:t>体を前に傾け、重心を前方に移動
介助者は腰部を支持する</a:t>
            </a:r>
          </a:p>
        </p:txBody>
      </p:sp>
      <p:sp>
        <p:nvSpPr>
          <p:cNvPr id="16" name="Rectangle 15"/>
          <p:cNvSpPr/>
          <p:nvPr/>
        </p:nvSpPr>
        <p:spPr>
          <a:xfrm>
            <a:off x="320040" y="3840480"/>
            <a:ext cx="5669280" cy="45720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11479" y="3886200"/>
            <a:ext cx="5486400" cy="384048"/>
          </a:xfrm>
          <a:prstGeom prst="rect">
            <a:avLst/>
          </a:prstGeom>
          <a:noFill/>
        </p:spPr>
        <p:txBody>
          <a:bodyPr wrap="square">
            <a:spAutoFit/>
          </a:bodyPr>
          <a:lstStyle/>
          <a:p>
            <a:pPr algn="l"/>
            <a:r>
              <a:rPr sz="1600" b="1">
                <a:solidFill>
                  <a:srgbClr val="FFFFFF"/>
                </a:solidFill>
                <a:latin typeface="メイリオ"/>
              </a:rPr>
              <a:t>STEP 3  立ち上がりを誘導</a:t>
            </a:r>
          </a:p>
        </p:txBody>
      </p:sp>
      <p:sp>
        <p:nvSpPr>
          <p:cNvPr id="18" name="Rectangle 17"/>
          <p:cNvSpPr/>
          <p:nvPr/>
        </p:nvSpPr>
        <p:spPr>
          <a:xfrm>
            <a:off x="320040" y="4297680"/>
            <a:ext cx="5669280" cy="1645920"/>
          </a:xfrm>
          <a:prstGeom prst="rect">
            <a:avLst/>
          </a:prstGeom>
          <a:solidFill>
            <a:srgbClr val="FFFFFF"/>
          </a:solidFill>
          <a:ln w="1524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2920" y="4389120"/>
            <a:ext cx="5303520" cy="1463040"/>
          </a:xfrm>
          <a:prstGeom prst="rect">
            <a:avLst/>
          </a:prstGeom>
          <a:noFill/>
        </p:spPr>
        <p:txBody>
          <a:bodyPr wrap="square">
            <a:spAutoFit/>
          </a:bodyPr>
          <a:lstStyle/>
          <a:p>
            <a:pPr algn="l"/>
            <a:r>
              <a:rPr sz="1400" b="0">
                <a:solidFill>
                  <a:srgbClr val="1A1A2E"/>
                </a:solidFill>
                <a:latin typeface="メイリオ"/>
              </a:rPr>
              <a:t>「せーの」の声かけで一緒に立ち上がる
患者の脇・腰を支えながら立位へ</a:t>
            </a:r>
          </a:p>
        </p:txBody>
      </p:sp>
      <p:sp>
        <p:nvSpPr>
          <p:cNvPr id="20" name="Rectangle 19"/>
          <p:cNvSpPr/>
          <p:nvPr/>
        </p:nvSpPr>
        <p:spPr>
          <a:xfrm>
            <a:off x="6263640" y="3840480"/>
            <a:ext cx="5669280" cy="45720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55079" y="3886200"/>
            <a:ext cx="5486400" cy="384048"/>
          </a:xfrm>
          <a:prstGeom prst="rect">
            <a:avLst/>
          </a:prstGeom>
          <a:noFill/>
        </p:spPr>
        <p:txBody>
          <a:bodyPr wrap="square">
            <a:spAutoFit/>
          </a:bodyPr>
          <a:lstStyle/>
          <a:p>
            <a:pPr algn="l"/>
            <a:r>
              <a:rPr sz="1600" b="1">
                <a:solidFill>
                  <a:srgbClr val="FFFFFF"/>
                </a:solidFill>
                <a:latin typeface="メイリオ"/>
              </a:rPr>
              <a:t>STEP 4  立位の安定確認</a:t>
            </a:r>
          </a:p>
        </p:txBody>
      </p:sp>
      <p:sp>
        <p:nvSpPr>
          <p:cNvPr id="22" name="Rectangle 21"/>
          <p:cNvSpPr/>
          <p:nvPr/>
        </p:nvSpPr>
        <p:spPr>
          <a:xfrm>
            <a:off x="6263640" y="4297680"/>
            <a:ext cx="5669280" cy="1645920"/>
          </a:xfrm>
          <a:prstGeom prst="rect">
            <a:avLst/>
          </a:prstGeom>
          <a:solidFill>
            <a:srgbClr val="FFFFFF"/>
          </a:solidFill>
          <a:ln w="1524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46520" y="4389120"/>
            <a:ext cx="5303520" cy="1463040"/>
          </a:xfrm>
          <a:prstGeom prst="rect">
            <a:avLst/>
          </a:prstGeom>
          <a:noFill/>
        </p:spPr>
        <p:txBody>
          <a:bodyPr wrap="square">
            <a:spAutoFit/>
          </a:bodyPr>
          <a:lstStyle/>
          <a:p>
            <a:pPr algn="l"/>
            <a:r>
              <a:rPr sz="1400" b="0">
                <a:solidFill>
                  <a:srgbClr val="1A1A2E"/>
                </a:solidFill>
                <a:latin typeface="メイリオ"/>
              </a:rPr>
              <a:t>立位バランスを確認し、めまい・ふらつきがないか確認
必要なら手すり・歩行器を使用</a:t>
            </a:r>
          </a:p>
        </p:txBody>
      </p:sp>
      <p:sp>
        <p:nvSpPr>
          <p:cNvPr id="24" name="Rectangle 23"/>
          <p:cNvSpPr/>
          <p:nvPr/>
        </p:nvSpPr>
        <p:spPr>
          <a:xfrm>
            <a:off x="457200" y="6263640"/>
            <a:ext cx="11274552" cy="457200"/>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48640" y="6309359"/>
            <a:ext cx="11091672" cy="365760"/>
          </a:xfrm>
          <a:prstGeom prst="rect">
            <a:avLst/>
          </a:prstGeom>
          <a:noFill/>
        </p:spPr>
        <p:txBody>
          <a:bodyPr wrap="square">
            <a:spAutoFit/>
          </a:bodyPr>
          <a:lstStyle/>
          <a:p>
            <a:pPr algn="ctr"/>
            <a:r>
              <a:rPr sz="1400" b="1">
                <a:solidFill>
                  <a:srgbClr val="FFFFFF"/>
                </a:solidFill>
                <a:latin typeface="メイリオ"/>
              </a:rPr>
              <a:t>ポイント：患者に合わせた速度で！急かすと転倒リスクが急増します</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28016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80160"/>
            <a:ext cx="12188952" cy="73152"/>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353312"/>
            <a:ext cx="12188952" cy="5504688"/>
          </a:xfrm>
          <a:prstGeom prst="rect">
            <a:avLst/>
          </a:prstGeom>
          <a:solidFill>
            <a:srgbClr val="F5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37160"/>
            <a:ext cx="10515600" cy="822960"/>
          </a:xfrm>
          <a:prstGeom prst="rect">
            <a:avLst/>
          </a:prstGeom>
          <a:noFill/>
        </p:spPr>
        <p:txBody>
          <a:bodyPr wrap="square">
            <a:spAutoFit/>
          </a:bodyPr>
          <a:lstStyle/>
          <a:p>
            <a:pPr algn="l"/>
            <a:r>
              <a:rPr sz="2800" b="1">
                <a:solidFill>
                  <a:srgbClr val="FFFFFF"/>
                </a:solidFill>
                <a:latin typeface="メイリオ"/>
              </a:rPr>
              <a:t>ベッド → 車椅子 移乗手順</a:t>
            </a:r>
          </a:p>
        </p:txBody>
      </p:sp>
      <p:sp>
        <p:nvSpPr>
          <p:cNvPr id="6" name="TextBox 5"/>
          <p:cNvSpPr txBox="1"/>
          <p:nvPr/>
        </p:nvSpPr>
        <p:spPr>
          <a:xfrm>
            <a:off x="365760" y="777240"/>
            <a:ext cx="9144000" cy="457200"/>
          </a:xfrm>
          <a:prstGeom prst="rect">
            <a:avLst/>
          </a:prstGeom>
          <a:noFill/>
        </p:spPr>
        <p:txBody>
          <a:bodyPr wrap="square">
            <a:spAutoFit/>
          </a:bodyPr>
          <a:lstStyle/>
          <a:p>
            <a:pPr algn="l"/>
            <a:r>
              <a:rPr sz="1400" b="0">
                <a:solidFill>
                  <a:srgbClr val="CCE5FF"/>
                </a:solidFill>
                <a:latin typeface="メイリオ"/>
              </a:rPr>
              <a:t>片麻痺患者（健側を活用した移乗）</a:t>
            </a:r>
          </a:p>
        </p:txBody>
      </p:sp>
      <p:sp>
        <p:nvSpPr>
          <p:cNvPr id="7" name="TextBox 6"/>
          <p:cNvSpPr txBox="1"/>
          <p:nvPr/>
        </p:nvSpPr>
        <p:spPr>
          <a:xfrm>
            <a:off x="11155680" y="182880"/>
            <a:ext cx="822960" cy="457200"/>
          </a:xfrm>
          <a:prstGeom prst="rect">
            <a:avLst/>
          </a:prstGeom>
          <a:noFill/>
        </p:spPr>
        <p:txBody>
          <a:bodyPr wrap="square">
            <a:spAutoFit/>
          </a:bodyPr>
          <a:lstStyle/>
          <a:p>
            <a:pPr algn="r"/>
            <a:r>
              <a:rPr sz="1200" b="0">
                <a:solidFill>
                  <a:srgbClr val="AACCFF"/>
                </a:solidFill>
                <a:latin typeface="メイリオ"/>
              </a:rPr>
              <a:t>7 / 18</a:t>
            </a:r>
          </a:p>
        </p:txBody>
      </p:sp>
      <p:sp>
        <p:nvSpPr>
          <p:cNvPr id="8" name="Rectangle 7"/>
          <p:cNvSpPr/>
          <p:nvPr/>
        </p:nvSpPr>
        <p:spPr>
          <a:xfrm>
            <a:off x="365760" y="1508760"/>
            <a:ext cx="7772400" cy="4800600"/>
          </a:xfrm>
          <a:prstGeom prst="rect">
            <a:avLst/>
          </a:prstGeom>
          <a:solidFill>
            <a:srgbClr val="FFFFFF"/>
          </a:solidFill>
          <a:ln w="1905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627632"/>
            <a:ext cx="502920" cy="438912"/>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655064"/>
            <a:ext cx="502920" cy="384048"/>
          </a:xfrm>
          <a:prstGeom prst="rect">
            <a:avLst/>
          </a:prstGeom>
          <a:noFill/>
        </p:spPr>
        <p:txBody>
          <a:bodyPr wrap="square">
            <a:spAutoFit/>
          </a:bodyPr>
          <a:lstStyle/>
          <a:p>
            <a:pPr algn="ctr"/>
            <a:r>
              <a:rPr sz="1600" b="1">
                <a:solidFill>
                  <a:srgbClr val="FFFFFF"/>
                </a:solidFill>
                <a:latin typeface="メイリオ"/>
              </a:rPr>
              <a:t>1</a:t>
            </a:r>
          </a:p>
        </p:txBody>
      </p:sp>
      <p:sp>
        <p:nvSpPr>
          <p:cNvPr id="11" name="TextBox 10"/>
          <p:cNvSpPr txBox="1"/>
          <p:nvPr/>
        </p:nvSpPr>
        <p:spPr>
          <a:xfrm>
            <a:off x="1051560" y="1655064"/>
            <a:ext cx="6949440" cy="475488"/>
          </a:xfrm>
          <a:prstGeom prst="rect">
            <a:avLst/>
          </a:prstGeom>
          <a:noFill/>
        </p:spPr>
        <p:txBody>
          <a:bodyPr wrap="square">
            <a:spAutoFit/>
          </a:bodyPr>
          <a:lstStyle/>
          <a:p>
            <a:pPr algn="l"/>
            <a:r>
              <a:rPr sz="1300" b="0">
                <a:solidFill>
                  <a:srgbClr val="1A1A2E"/>
                </a:solidFill>
                <a:latin typeface="メイリオ"/>
              </a:rPr>
              <a:t>車椅子をベッドに対して約30°の角度で設置
（健側に置く）</a:t>
            </a:r>
          </a:p>
        </p:txBody>
      </p:sp>
      <p:sp>
        <p:nvSpPr>
          <p:cNvPr id="12" name="Rectangle 11"/>
          <p:cNvSpPr/>
          <p:nvPr/>
        </p:nvSpPr>
        <p:spPr>
          <a:xfrm>
            <a:off x="457200" y="2194560"/>
            <a:ext cx="502920" cy="438912"/>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 y="2221991"/>
            <a:ext cx="502920" cy="384048"/>
          </a:xfrm>
          <a:prstGeom prst="rect">
            <a:avLst/>
          </a:prstGeom>
          <a:noFill/>
        </p:spPr>
        <p:txBody>
          <a:bodyPr wrap="square">
            <a:spAutoFit/>
          </a:bodyPr>
          <a:lstStyle/>
          <a:p>
            <a:pPr algn="ctr"/>
            <a:r>
              <a:rPr sz="1600" b="1">
                <a:solidFill>
                  <a:srgbClr val="FFFFFF"/>
                </a:solidFill>
                <a:latin typeface="メイリオ"/>
              </a:rPr>
              <a:t>2</a:t>
            </a:r>
          </a:p>
        </p:txBody>
      </p:sp>
      <p:sp>
        <p:nvSpPr>
          <p:cNvPr id="14" name="TextBox 13"/>
          <p:cNvSpPr txBox="1"/>
          <p:nvPr/>
        </p:nvSpPr>
        <p:spPr>
          <a:xfrm>
            <a:off x="1051560" y="2221991"/>
            <a:ext cx="6949440" cy="475488"/>
          </a:xfrm>
          <a:prstGeom prst="rect">
            <a:avLst/>
          </a:prstGeom>
          <a:noFill/>
        </p:spPr>
        <p:txBody>
          <a:bodyPr wrap="square">
            <a:spAutoFit/>
          </a:bodyPr>
          <a:lstStyle/>
          <a:p>
            <a:pPr algn="l"/>
            <a:r>
              <a:rPr sz="1300" b="0">
                <a:solidFill>
                  <a:srgbClr val="1A1A2E"/>
                </a:solidFill>
                <a:latin typeface="メイリオ"/>
              </a:rPr>
              <a:t>車椅子のブレーキをかけ、フットレストを上げる</a:t>
            </a:r>
          </a:p>
        </p:txBody>
      </p:sp>
      <p:sp>
        <p:nvSpPr>
          <p:cNvPr id="15" name="Rectangle 14"/>
          <p:cNvSpPr/>
          <p:nvPr/>
        </p:nvSpPr>
        <p:spPr>
          <a:xfrm>
            <a:off x="457200" y="2761488"/>
            <a:ext cx="502920" cy="438912"/>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2788920"/>
            <a:ext cx="502920" cy="384048"/>
          </a:xfrm>
          <a:prstGeom prst="rect">
            <a:avLst/>
          </a:prstGeom>
          <a:noFill/>
        </p:spPr>
        <p:txBody>
          <a:bodyPr wrap="square">
            <a:spAutoFit/>
          </a:bodyPr>
          <a:lstStyle/>
          <a:p>
            <a:pPr algn="ctr"/>
            <a:r>
              <a:rPr sz="1600" b="1">
                <a:solidFill>
                  <a:srgbClr val="FFFFFF"/>
                </a:solidFill>
                <a:latin typeface="メイリオ"/>
              </a:rPr>
              <a:t>3</a:t>
            </a:r>
          </a:p>
        </p:txBody>
      </p:sp>
      <p:sp>
        <p:nvSpPr>
          <p:cNvPr id="17" name="TextBox 16"/>
          <p:cNvSpPr txBox="1"/>
          <p:nvPr/>
        </p:nvSpPr>
        <p:spPr>
          <a:xfrm>
            <a:off x="1051560" y="2788920"/>
            <a:ext cx="6949440" cy="475488"/>
          </a:xfrm>
          <a:prstGeom prst="rect">
            <a:avLst/>
          </a:prstGeom>
          <a:noFill/>
        </p:spPr>
        <p:txBody>
          <a:bodyPr wrap="square">
            <a:spAutoFit/>
          </a:bodyPr>
          <a:lstStyle/>
          <a:p>
            <a:pPr algn="l"/>
            <a:r>
              <a:rPr sz="1300" b="0">
                <a:solidFill>
                  <a:srgbClr val="1A1A2E"/>
                </a:solidFill>
                <a:latin typeface="メイリオ"/>
              </a:rPr>
              <a:t>患者を端座位にし、足底を床につける</a:t>
            </a:r>
          </a:p>
        </p:txBody>
      </p:sp>
      <p:sp>
        <p:nvSpPr>
          <p:cNvPr id="18" name="Rectangle 17"/>
          <p:cNvSpPr/>
          <p:nvPr/>
        </p:nvSpPr>
        <p:spPr>
          <a:xfrm>
            <a:off x="457200" y="3328415"/>
            <a:ext cx="502920" cy="438912"/>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3355847"/>
            <a:ext cx="502920" cy="384048"/>
          </a:xfrm>
          <a:prstGeom prst="rect">
            <a:avLst/>
          </a:prstGeom>
          <a:noFill/>
        </p:spPr>
        <p:txBody>
          <a:bodyPr wrap="square">
            <a:spAutoFit/>
          </a:bodyPr>
          <a:lstStyle/>
          <a:p>
            <a:pPr algn="ctr"/>
            <a:r>
              <a:rPr sz="1600" b="1">
                <a:solidFill>
                  <a:srgbClr val="FFFFFF"/>
                </a:solidFill>
                <a:latin typeface="メイリオ"/>
              </a:rPr>
              <a:t>4</a:t>
            </a:r>
          </a:p>
        </p:txBody>
      </p:sp>
      <p:sp>
        <p:nvSpPr>
          <p:cNvPr id="20" name="TextBox 19"/>
          <p:cNvSpPr txBox="1"/>
          <p:nvPr/>
        </p:nvSpPr>
        <p:spPr>
          <a:xfrm>
            <a:off x="1051560" y="3355847"/>
            <a:ext cx="6949440" cy="475488"/>
          </a:xfrm>
          <a:prstGeom prst="rect">
            <a:avLst/>
          </a:prstGeom>
          <a:noFill/>
        </p:spPr>
        <p:txBody>
          <a:bodyPr wrap="square">
            <a:spAutoFit/>
          </a:bodyPr>
          <a:lstStyle/>
          <a:p>
            <a:pPr algn="l"/>
            <a:r>
              <a:rPr sz="1300" b="0">
                <a:solidFill>
                  <a:srgbClr val="1A1A2E"/>
                </a:solidFill>
                <a:latin typeface="メイリオ"/>
              </a:rPr>
              <a:t>患者に前傾姿勢をとってもらい、健側の手で介助</a:t>
            </a:r>
          </a:p>
        </p:txBody>
      </p:sp>
      <p:sp>
        <p:nvSpPr>
          <p:cNvPr id="21" name="Rectangle 20"/>
          <p:cNvSpPr/>
          <p:nvPr/>
        </p:nvSpPr>
        <p:spPr>
          <a:xfrm>
            <a:off x="457200" y="3895344"/>
            <a:ext cx="502920" cy="438912"/>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 y="3922776"/>
            <a:ext cx="502920" cy="384048"/>
          </a:xfrm>
          <a:prstGeom prst="rect">
            <a:avLst/>
          </a:prstGeom>
          <a:noFill/>
        </p:spPr>
        <p:txBody>
          <a:bodyPr wrap="square">
            <a:spAutoFit/>
          </a:bodyPr>
          <a:lstStyle/>
          <a:p>
            <a:pPr algn="ctr"/>
            <a:r>
              <a:rPr sz="1600" b="1">
                <a:solidFill>
                  <a:srgbClr val="FFFFFF"/>
                </a:solidFill>
                <a:latin typeface="メイリオ"/>
              </a:rPr>
              <a:t>5</a:t>
            </a:r>
          </a:p>
        </p:txBody>
      </p:sp>
      <p:sp>
        <p:nvSpPr>
          <p:cNvPr id="23" name="TextBox 22"/>
          <p:cNvSpPr txBox="1"/>
          <p:nvPr/>
        </p:nvSpPr>
        <p:spPr>
          <a:xfrm>
            <a:off x="1051560" y="3922776"/>
            <a:ext cx="6949440" cy="475488"/>
          </a:xfrm>
          <a:prstGeom prst="rect">
            <a:avLst/>
          </a:prstGeom>
          <a:noFill/>
        </p:spPr>
        <p:txBody>
          <a:bodyPr wrap="square">
            <a:spAutoFit/>
          </a:bodyPr>
          <a:lstStyle/>
          <a:p>
            <a:pPr algn="l"/>
            <a:r>
              <a:rPr sz="1300" b="0">
                <a:solidFill>
                  <a:srgbClr val="1A1A2E"/>
                </a:solidFill>
                <a:latin typeface="メイリオ"/>
              </a:rPr>
              <a:t>介助者は患側腰部〜臀部を支え、一緒に立ち上がる</a:t>
            </a:r>
          </a:p>
        </p:txBody>
      </p:sp>
      <p:sp>
        <p:nvSpPr>
          <p:cNvPr id="24" name="Rectangle 23"/>
          <p:cNvSpPr/>
          <p:nvPr/>
        </p:nvSpPr>
        <p:spPr>
          <a:xfrm>
            <a:off x="457200" y="4462272"/>
            <a:ext cx="502920" cy="438912"/>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57200" y="4489704"/>
            <a:ext cx="502920" cy="384048"/>
          </a:xfrm>
          <a:prstGeom prst="rect">
            <a:avLst/>
          </a:prstGeom>
          <a:noFill/>
        </p:spPr>
        <p:txBody>
          <a:bodyPr wrap="square">
            <a:spAutoFit/>
          </a:bodyPr>
          <a:lstStyle/>
          <a:p>
            <a:pPr algn="ctr"/>
            <a:r>
              <a:rPr sz="1600" b="1">
                <a:solidFill>
                  <a:srgbClr val="FFFFFF"/>
                </a:solidFill>
                <a:latin typeface="メイリオ"/>
              </a:rPr>
              <a:t>6</a:t>
            </a:r>
          </a:p>
        </p:txBody>
      </p:sp>
      <p:sp>
        <p:nvSpPr>
          <p:cNvPr id="26" name="TextBox 25"/>
          <p:cNvSpPr txBox="1"/>
          <p:nvPr/>
        </p:nvSpPr>
        <p:spPr>
          <a:xfrm>
            <a:off x="1051560" y="4489704"/>
            <a:ext cx="6949440" cy="475488"/>
          </a:xfrm>
          <a:prstGeom prst="rect">
            <a:avLst/>
          </a:prstGeom>
          <a:noFill/>
        </p:spPr>
        <p:txBody>
          <a:bodyPr wrap="square">
            <a:spAutoFit/>
          </a:bodyPr>
          <a:lstStyle/>
          <a:p>
            <a:pPr algn="l"/>
            <a:r>
              <a:rPr sz="1300" b="0">
                <a:solidFill>
                  <a:srgbClr val="1A1A2E"/>
                </a:solidFill>
                <a:latin typeface="メイリオ"/>
              </a:rPr>
              <a:t>ゆっくり方向転換し、車椅子に向かって後ろに下がる</a:t>
            </a:r>
          </a:p>
        </p:txBody>
      </p:sp>
      <p:sp>
        <p:nvSpPr>
          <p:cNvPr id="27" name="Rectangle 26"/>
          <p:cNvSpPr/>
          <p:nvPr/>
        </p:nvSpPr>
        <p:spPr>
          <a:xfrm>
            <a:off x="457200" y="5029200"/>
            <a:ext cx="502920" cy="438912"/>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57200" y="5056632"/>
            <a:ext cx="502920" cy="384048"/>
          </a:xfrm>
          <a:prstGeom prst="rect">
            <a:avLst/>
          </a:prstGeom>
          <a:noFill/>
        </p:spPr>
        <p:txBody>
          <a:bodyPr wrap="square">
            <a:spAutoFit/>
          </a:bodyPr>
          <a:lstStyle/>
          <a:p>
            <a:pPr algn="ctr"/>
            <a:r>
              <a:rPr sz="1600" b="1">
                <a:solidFill>
                  <a:srgbClr val="FFFFFF"/>
                </a:solidFill>
                <a:latin typeface="メイリオ"/>
              </a:rPr>
              <a:t>7</a:t>
            </a:r>
          </a:p>
        </p:txBody>
      </p:sp>
      <p:sp>
        <p:nvSpPr>
          <p:cNvPr id="29" name="TextBox 28"/>
          <p:cNvSpPr txBox="1"/>
          <p:nvPr/>
        </p:nvSpPr>
        <p:spPr>
          <a:xfrm>
            <a:off x="1051560" y="5056632"/>
            <a:ext cx="6949440" cy="475488"/>
          </a:xfrm>
          <a:prstGeom prst="rect">
            <a:avLst/>
          </a:prstGeom>
          <a:noFill/>
        </p:spPr>
        <p:txBody>
          <a:bodyPr wrap="square">
            <a:spAutoFit/>
          </a:bodyPr>
          <a:lstStyle/>
          <a:p>
            <a:pPr algn="l"/>
            <a:r>
              <a:rPr sz="1300" b="0">
                <a:solidFill>
                  <a:srgbClr val="1A1A2E"/>
                </a:solidFill>
                <a:latin typeface="メイリオ"/>
              </a:rPr>
              <a:t>臀部をシートに誘導しながらゆっくり着座させる</a:t>
            </a:r>
          </a:p>
        </p:txBody>
      </p:sp>
      <p:sp>
        <p:nvSpPr>
          <p:cNvPr id="30" name="Rectangle 29"/>
          <p:cNvSpPr/>
          <p:nvPr/>
        </p:nvSpPr>
        <p:spPr>
          <a:xfrm>
            <a:off x="457200" y="5596128"/>
            <a:ext cx="502920" cy="438912"/>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57200" y="5623560"/>
            <a:ext cx="502920" cy="384048"/>
          </a:xfrm>
          <a:prstGeom prst="rect">
            <a:avLst/>
          </a:prstGeom>
          <a:noFill/>
        </p:spPr>
        <p:txBody>
          <a:bodyPr wrap="square">
            <a:spAutoFit/>
          </a:bodyPr>
          <a:lstStyle/>
          <a:p>
            <a:pPr algn="ctr"/>
            <a:r>
              <a:rPr sz="1600" b="1">
                <a:solidFill>
                  <a:srgbClr val="FFFFFF"/>
                </a:solidFill>
                <a:latin typeface="メイリオ"/>
              </a:rPr>
              <a:t>8</a:t>
            </a:r>
          </a:p>
        </p:txBody>
      </p:sp>
      <p:sp>
        <p:nvSpPr>
          <p:cNvPr id="32" name="TextBox 31"/>
          <p:cNvSpPr txBox="1"/>
          <p:nvPr/>
        </p:nvSpPr>
        <p:spPr>
          <a:xfrm>
            <a:off x="1051560" y="5623560"/>
            <a:ext cx="6949440" cy="475488"/>
          </a:xfrm>
          <a:prstGeom prst="rect">
            <a:avLst/>
          </a:prstGeom>
          <a:noFill/>
        </p:spPr>
        <p:txBody>
          <a:bodyPr wrap="square">
            <a:spAutoFit/>
          </a:bodyPr>
          <a:lstStyle/>
          <a:p>
            <a:pPr algn="l"/>
            <a:r>
              <a:rPr sz="1300" b="0">
                <a:solidFill>
                  <a:srgbClr val="1A1A2E"/>
                </a:solidFill>
                <a:latin typeface="メイリオ"/>
              </a:rPr>
              <a:t>フットレストを下げ、足を乗せて姿勢を整える</a:t>
            </a:r>
          </a:p>
        </p:txBody>
      </p:sp>
      <p:sp>
        <p:nvSpPr>
          <p:cNvPr id="33" name="Rectangle 32"/>
          <p:cNvSpPr/>
          <p:nvPr/>
        </p:nvSpPr>
        <p:spPr>
          <a:xfrm>
            <a:off x="8321040" y="1508760"/>
            <a:ext cx="3474720" cy="3108960"/>
          </a:xfrm>
          <a:prstGeom prst="rect">
            <a:avLst/>
          </a:prstGeom>
          <a:solidFill>
            <a:srgbClr val="DDEAF5"/>
          </a:solidFill>
          <a:ln w="1905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784080" y="2743199"/>
            <a:ext cx="548640" cy="548640"/>
          </a:xfrm>
          <a:prstGeom prst="rect">
            <a:avLst/>
          </a:prstGeom>
          <a:noFill/>
        </p:spPr>
        <p:txBody>
          <a:bodyPr wrap="square">
            <a:spAutoFit/>
          </a:bodyPr>
          <a:lstStyle/>
          <a:p>
            <a:pPr algn="ctr"/>
            <a:r>
              <a:rPr sz="2800" b="0">
                <a:solidFill>
                  <a:srgbClr val="1A1A2E"/>
                </a:solidFill>
                <a:latin typeface="メイリオ"/>
              </a:rPr>
              <a:t>📷</a:t>
            </a:r>
          </a:p>
        </p:txBody>
      </p:sp>
      <p:sp>
        <p:nvSpPr>
          <p:cNvPr id="35" name="TextBox 34"/>
          <p:cNvSpPr txBox="1"/>
          <p:nvPr/>
        </p:nvSpPr>
        <p:spPr>
          <a:xfrm>
            <a:off x="8412480" y="4160520"/>
            <a:ext cx="3291839" cy="411480"/>
          </a:xfrm>
          <a:prstGeom prst="rect">
            <a:avLst/>
          </a:prstGeom>
          <a:noFill/>
        </p:spPr>
        <p:txBody>
          <a:bodyPr wrap="square">
            <a:spAutoFit/>
          </a:bodyPr>
          <a:lstStyle/>
          <a:p>
            <a:pPr algn="ctr"/>
            <a:r>
              <a:rPr sz="1200" b="0">
                <a:solidFill>
                  <a:srgbClr val="445566"/>
                </a:solidFill>
                <a:latin typeface="メイリオ"/>
              </a:rPr>
              <a:t>【画像②】ベッド→車椅子移乗
手順イラスト（STEP1〜4）</a:t>
            </a:r>
          </a:p>
        </p:txBody>
      </p:sp>
      <p:sp>
        <p:nvSpPr>
          <p:cNvPr id="36" name="Rectangle 35"/>
          <p:cNvSpPr/>
          <p:nvPr/>
        </p:nvSpPr>
        <p:spPr>
          <a:xfrm>
            <a:off x="8321040" y="4754880"/>
            <a:ext cx="3474720" cy="1554480"/>
          </a:xfrm>
          <a:prstGeom prst="rect">
            <a:avLst/>
          </a:prstGeom>
          <a:solidFill>
            <a:srgbClr val="DDEAF5"/>
          </a:solidFill>
          <a:ln w="1905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784080" y="5212080"/>
            <a:ext cx="548640" cy="548640"/>
          </a:xfrm>
          <a:prstGeom prst="rect">
            <a:avLst/>
          </a:prstGeom>
          <a:noFill/>
        </p:spPr>
        <p:txBody>
          <a:bodyPr wrap="square">
            <a:spAutoFit/>
          </a:bodyPr>
          <a:lstStyle/>
          <a:p>
            <a:pPr algn="ctr"/>
            <a:r>
              <a:rPr sz="2800" b="0">
                <a:solidFill>
                  <a:srgbClr val="1A1A2E"/>
                </a:solidFill>
                <a:latin typeface="メイリオ"/>
              </a:rPr>
              <a:t>📷</a:t>
            </a:r>
          </a:p>
        </p:txBody>
      </p:sp>
      <p:sp>
        <p:nvSpPr>
          <p:cNvPr id="38" name="TextBox 37"/>
          <p:cNvSpPr txBox="1"/>
          <p:nvPr/>
        </p:nvSpPr>
        <p:spPr>
          <a:xfrm>
            <a:off x="8412480" y="5852160"/>
            <a:ext cx="3291839" cy="411480"/>
          </a:xfrm>
          <a:prstGeom prst="rect">
            <a:avLst/>
          </a:prstGeom>
          <a:noFill/>
        </p:spPr>
        <p:txBody>
          <a:bodyPr wrap="square">
            <a:spAutoFit/>
          </a:bodyPr>
          <a:lstStyle/>
          <a:p>
            <a:pPr algn="ctr"/>
            <a:r>
              <a:rPr sz="1200" b="0">
                <a:solidFill>
                  <a:srgbClr val="445566"/>
                </a:solidFill>
                <a:latin typeface="メイリオ"/>
              </a:rPr>
              <a:t>【画像③】車椅子の配置角度図
（30°配置のイラスト）</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28016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80160"/>
            <a:ext cx="12188952" cy="73152"/>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353312"/>
            <a:ext cx="12188952" cy="5504688"/>
          </a:xfrm>
          <a:prstGeom prst="rect">
            <a:avLst/>
          </a:prstGeom>
          <a:solidFill>
            <a:srgbClr val="F5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37160"/>
            <a:ext cx="10515600" cy="822960"/>
          </a:xfrm>
          <a:prstGeom prst="rect">
            <a:avLst/>
          </a:prstGeom>
          <a:noFill/>
        </p:spPr>
        <p:txBody>
          <a:bodyPr wrap="square">
            <a:spAutoFit/>
          </a:bodyPr>
          <a:lstStyle/>
          <a:p>
            <a:pPr algn="l"/>
            <a:r>
              <a:rPr sz="2800" b="1">
                <a:solidFill>
                  <a:srgbClr val="FFFFFF"/>
                </a:solidFill>
                <a:latin typeface="メイリオ"/>
              </a:rPr>
              <a:t>車椅子 → ベッド 移乗手順</a:t>
            </a:r>
          </a:p>
        </p:txBody>
      </p:sp>
      <p:sp>
        <p:nvSpPr>
          <p:cNvPr id="6" name="TextBox 5"/>
          <p:cNvSpPr txBox="1"/>
          <p:nvPr/>
        </p:nvSpPr>
        <p:spPr>
          <a:xfrm>
            <a:off x="365760" y="777240"/>
            <a:ext cx="9144000" cy="457200"/>
          </a:xfrm>
          <a:prstGeom prst="rect">
            <a:avLst/>
          </a:prstGeom>
          <a:noFill/>
        </p:spPr>
        <p:txBody>
          <a:bodyPr wrap="square">
            <a:spAutoFit/>
          </a:bodyPr>
          <a:lstStyle/>
          <a:p>
            <a:pPr algn="l"/>
            <a:r>
              <a:rPr sz="1400" b="0">
                <a:solidFill>
                  <a:srgbClr val="CCE5FF"/>
                </a:solidFill>
                <a:latin typeface="メイリオ"/>
              </a:rPr>
              <a:t>基本の流れと注意点</a:t>
            </a:r>
          </a:p>
        </p:txBody>
      </p:sp>
      <p:sp>
        <p:nvSpPr>
          <p:cNvPr id="7" name="TextBox 6"/>
          <p:cNvSpPr txBox="1"/>
          <p:nvPr/>
        </p:nvSpPr>
        <p:spPr>
          <a:xfrm>
            <a:off x="11155680" y="182880"/>
            <a:ext cx="822960" cy="457200"/>
          </a:xfrm>
          <a:prstGeom prst="rect">
            <a:avLst/>
          </a:prstGeom>
          <a:noFill/>
        </p:spPr>
        <p:txBody>
          <a:bodyPr wrap="square">
            <a:spAutoFit/>
          </a:bodyPr>
          <a:lstStyle/>
          <a:p>
            <a:pPr algn="r"/>
            <a:r>
              <a:rPr sz="1200" b="0">
                <a:solidFill>
                  <a:srgbClr val="AACCFF"/>
                </a:solidFill>
                <a:latin typeface="メイリオ"/>
              </a:rPr>
              <a:t>8 / 18</a:t>
            </a:r>
          </a:p>
        </p:txBody>
      </p:sp>
      <p:sp>
        <p:nvSpPr>
          <p:cNvPr id="8" name="TextBox 7"/>
          <p:cNvSpPr txBox="1"/>
          <p:nvPr/>
        </p:nvSpPr>
        <p:spPr>
          <a:xfrm>
            <a:off x="457200" y="1554480"/>
            <a:ext cx="11274552" cy="457200"/>
          </a:xfrm>
          <a:prstGeom prst="rect">
            <a:avLst/>
          </a:prstGeom>
          <a:noFill/>
        </p:spPr>
        <p:txBody>
          <a:bodyPr wrap="square">
            <a:spAutoFit/>
          </a:bodyPr>
          <a:lstStyle/>
          <a:p>
            <a:pPr algn="l"/>
            <a:r>
              <a:rPr sz="1600" b="0">
                <a:solidFill>
                  <a:srgbClr val="445566"/>
                </a:solidFill>
                <a:latin typeface="メイリオ"/>
              </a:rPr>
              <a:t>車椅子→ベッドは逆の手順で行います。ポイントを確認しましょう。</a:t>
            </a:r>
          </a:p>
        </p:txBody>
      </p:sp>
      <p:sp>
        <p:nvSpPr>
          <p:cNvPr id="9" name="Rectangle 8"/>
          <p:cNvSpPr/>
          <p:nvPr/>
        </p:nvSpPr>
        <p:spPr>
          <a:xfrm>
            <a:off x="365760" y="2103120"/>
            <a:ext cx="2560320" cy="621792"/>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11480" y="2194560"/>
            <a:ext cx="2468880" cy="457200"/>
          </a:xfrm>
          <a:prstGeom prst="rect">
            <a:avLst/>
          </a:prstGeom>
          <a:noFill/>
        </p:spPr>
        <p:txBody>
          <a:bodyPr wrap="square">
            <a:spAutoFit/>
          </a:bodyPr>
          <a:lstStyle/>
          <a:p>
            <a:pPr algn="ctr"/>
            <a:r>
              <a:rPr sz="1500" b="1">
                <a:solidFill>
                  <a:srgbClr val="FFFFFF"/>
                </a:solidFill>
                <a:latin typeface="メイリオ"/>
              </a:rPr>
              <a:t>車椅子の配置</a:t>
            </a:r>
          </a:p>
        </p:txBody>
      </p:sp>
      <p:sp>
        <p:nvSpPr>
          <p:cNvPr id="11" name="Rectangle 10"/>
          <p:cNvSpPr/>
          <p:nvPr/>
        </p:nvSpPr>
        <p:spPr>
          <a:xfrm>
            <a:off x="2926080" y="2103120"/>
            <a:ext cx="8869680" cy="621792"/>
          </a:xfrm>
          <a:prstGeom prst="rect">
            <a:avLst/>
          </a:prstGeom>
          <a:solidFill>
            <a:srgbClr val="FFFFFF"/>
          </a:solidFill>
          <a:ln w="1270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063240" y="2194560"/>
            <a:ext cx="8595360" cy="502920"/>
          </a:xfrm>
          <a:prstGeom prst="rect">
            <a:avLst/>
          </a:prstGeom>
          <a:noFill/>
        </p:spPr>
        <p:txBody>
          <a:bodyPr wrap="square">
            <a:spAutoFit/>
          </a:bodyPr>
          <a:lstStyle/>
          <a:p>
            <a:pPr algn="l"/>
            <a:r>
              <a:rPr sz="1400" b="0">
                <a:solidFill>
                  <a:srgbClr val="1A1A2E"/>
                </a:solidFill>
                <a:latin typeface="メイリオ"/>
              </a:rPr>
              <a:t>ベッドに対して健側に30°で設置。ブレーキ・フットレスト確認を先に行う</a:t>
            </a:r>
          </a:p>
        </p:txBody>
      </p:sp>
      <p:sp>
        <p:nvSpPr>
          <p:cNvPr id="13" name="Rectangle 12"/>
          <p:cNvSpPr/>
          <p:nvPr/>
        </p:nvSpPr>
        <p:spPr>
          <a:xfrm>
            <a:off x="365760" y="2907791"/>
            <a:ext cx="2560320" cy="621792"/>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11480" y="2999232"/>
            <a:ext cx="2468880" cy="457200"/>
          </a:xfrm>
          <a:prstGeom prst="rect">
            <a:avLst/>
          </a:prstGeom>
          <a:noFill/>
        </p:spPr>
        <p:txBody>
          <a:bodyPr wrap="square">
            <a:spAutoFit/>
          </a:bodyPr>
          <a:lstStyle/>
          <a:p>
            <a:pPr algn="ctr"/>
            <a:r>
              <a:rPr sz="1500" b="1">
                <a:solidFill>
                  <a:srgbClr val="FFFFFF"/>
                </a:solidFill>
                <a:latin typeface="メイリオ"/>
              </a:rPr>
              <a:t>体重移動の誘導</a:t>
            </a:r>
          </a:p>
        </p:txBody>
      </p:sp>
      <p:sp>
        <p:nvSpPr>
          <p:cNvPr id="15" name="Rectangle 14"/>
          <p:cNvSpPr/>
          <p:nvPr/>
        </p:nvSpPr>
        <p:spPr>
          <a:xfrm>
            <a:off x="2926080" y="2907791"/>
            <a:ext cx="8869680" cy="621792"/>
          </a:xfrm>
          <a:prstGeom prst="rect">
            <a:avLst/>
          </a:prstGeom>
          <a:solidFill>
            <a:srgbClr val="FFFFFF"/>
          </a:solidFill>
          <a:ln w="1270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063240" y="2999232"/>
            <a:ext cx="8595360" cy="502920"/>
          </a:xfrm>
          <a:prstGeom prst="rect">
            <a:avLst/>
          </a:prstGeom>
          <a:noFill/>
        </p:spPr>
        <p:txBody>
          <a:bodyPr wrap="square">
            <a:spAutoFit/>
          </a:bodyPr>
          <a:lstStyle/>
          <a:p>
            <a:pPr algn="l"/>
            <a:r>
              <a:rPr sz="1400" b="0">
                <a:solidFill>
                  <a:srgbClr val="1A1A2E"/>
                </a:solidFill>
                <a:latin typeface="メイリオ"/>
              </a:rPr>
              <a:t>「前に体を倒して」と声かけ。前傾姿勢から立ち上がりを誘導</a:t>
            </a:r>
          </a:p>
        </p:txBody>
      </p:sp>
      <p:sp>
        <p:nvSpPr>
          <p:cNvPr id="17" name="Rectangle 16"/>
          <p:cNvSpPr/>
          <p:nvPr/>
        </p:nvSpPr>
        <p:spPr>
          <a:xfrm>
            <a:off x="365760" y="3712463"/>
            <a:ext cx="2560320" cy="621792"/>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11480" y="3803903"/>
            <a:ext cx="2468880" cy="457200"/>
          </a:xfrm>
          <a:prstGeom prst="rect">
            <a:avLst/>
          </a:prstGeom>
          <a:noFill/>
        </p:spPr>
        <p:txBody>
          <a:bodyPr wrap="square">
            <a:spAutoFit/>
          </a:bodyPr>
          <a:lstStyle/>
          <a:p>
            <a:pPr algn="ctr"/>
            <a:r>
              <a:rPr sz="1500" b="1">
                <a:solidFill>
                  <a:srgbClr val="FFFFFF"/>
                </a:solidFill>
                <a:latin typeface="メイリオ"/>
              </a:rPr>
              <a:t>方向転換</a:t>
            </a:r>
          </a:p>
        </p:txBody>
      </p:sp>
      <p:sp>
        <p:nvSpPr>
          <p:cNvPr id="19" name="Rectangle 18"/>
          <p:cNvSpPr/>
          <p:nvPr/>
        </p:nvSpPr>
        <p:spPr>
          <a:xfrm>
            <a:off x="2926080" y="3712463"/>
            <a:ext cx="8869680" cy="621792"/>
          </a:xfrm>
          <a:prstGeom prst="rect">
            <a:avLst/>
          </a:prstGeom>
          <a:solidFill>
            <a:srgbClr val="FFFFFF"/>
          </a:solidFill>
          <a:ln w="1270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063240" y="3803903"/>
            <a:ext cx="8595360" cy="502920"/>
          </a:xfrm>
          <a:prstGeom prst="rect">
            <a:avLst/>
          </a:prstGeom>
          <a:noFill/>
        </p:spPr>
        <p:txBody>
          <a:bodyPr wrap="square">
            <a:spAutoFit/>
          </a:bodyPr>
          <a:lstStyle/>
          <a:p>
            <a:pPr algn="l"/>
            <a:r>
              <a:rPr sz="1400" b="0">
                <a:solidFill>
                  <a:srgbClr val="1A1A2E"/>
                </a:solidFill>
                <a:latin typeface="メイリオ"/>
              </a:rPr>
              <a:t>介助者は患者の患側に位置。転倒防止のため体を密着させる</a:t>
            </a:r>
          </a:p>
        </p:txBody>
      </p:sp>
      <p:sp>
        <p:nvSpPr>
          <p:cNvPr id="21" name="Rectangle 20"/>
          <p:cNvSpPr/>
          <p:nvPr/>
        </p:nvSpPr>
        <p:spPr>
          <a:xfrm>
            <a:off x="365760" y="4517136"/>
            <a:ext cx="2560320" cy="621792"/>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11480" y="4608575"/>
            <a:ext cx="2468880" cy="457200"/>
          </a:xfrm>
          <a:prstGeom prst="rect">
            <a:avLst/>
          </a:prstGeom>
          <a:noFill/>
        </p:spPr>
        <p:txBody>
          <a:bodyPr wrap="square">
            <a:spAutoFit/>
          </a:bodyPr>
          <a:lstStyle/>
          <a:p>
            <a:pPr algn="ctr"/>
            <a:r>
              <a:rPr sz="1500" b="1">
                <a:solidFill>
                  <a:srgbClr val="FFFFFF"/>
                </a:solidFill>
                <a:latin typeface="メイリオ"/>
              </a:rPr>
              <a:t>着座誘導</a:t>
            </a:r>
          </a:p>
        </p:txBody>
      </p:sp>
      <p:sp>
        <p:nvSpPr>
          <p:cNvPr id="23" name="Rectangle 22"/>
          <p:cNvSpPr/>
          <p:nvPr/>
        </p:nvSpPr>
        <p:spPr>
          <a:xfrm>
            <a:off x="2926080" y="4517136"/>
            <a:ext cx="8869680" cy="621792"/>
          </a:xfrm>
          <a:prstGeom prst="rect">
            <a:avLst/>
          </a:prstGeom>
          <a:solidFill>
            <a:srgbClr val="FFFFFF"/>
          </a:solidFill>
          <a:ln w="1270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063240" y="4608575"/>
            <a:ext cx="8595360" cy="502920"/>
          </a:xfrm>
          <a:prstGeom prst="rect">
            <a:avLst/>
          </a:prstGeom>
          <a:noFill/>
        </p:spPr>
        <p:txBody>
          <a:bodyPr wrap="square">
            <a:spAutoFit/>
          </a:bodyPr>
          <a:lstStyle/>
          <a:p>
            <a:pPr algn="l"/>
            <a:r>
              <a:rPr sz="1400" b="0">
                <a:solidFill>
                  <a:srgbClr val="1A1A2E"/>
                </a:solidFill>
                <a:latin typeface="メイリオ"/>
              </a:rPr>
              <a:t>ベッドに手をつかせてから、ゆっくり膝を曲げて座らせる</a:t>
            </a:r>
          </a:p>
        </p:txBody>
      </p:sp>
      <p:sp>
        <p:nvSpPr>
          <p:cNvPr id="25" name="Rectangle 24"/>
          <p:cNvSpPr/>
          <p:nvPr/>
        </p:nvSpPr>
        <p:spPr>
          <a:xfrm>
            <a:off x="365760" y="5321808"/>
            <a:ext cx="2560320" cy="621792"/>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11480" y="5413248"/>
            <a:ext cx="2468880" cy="457200"/>
          </a:xfrm>
          <a:prstGeom prst="rect">
            <a:avLst/>
          </a:prstGeom>
          <a:noFill/>
        </p:spPr>
        <p:txBody>
          <a:bodyPr wrap="square">
            <a:spAutoFit/>
          </a:bodyPr>
          <a:lstStyle/>
          <a:p>
            <a:pPr algn="ctr"/>
            <a:r>
              <a:rPr sz="1500" b="1">
                <a:solidFill>
                  <a:srgbClr val="FFFFFF"/>
                </a:solidFill>
                <a:latin typeface="メイリオ"/>
              </a:rPr>
              <a:t>体位の整え</a:t>
            </a:r>
          </a:p>
        </p:txBody>
      </p:sp>
      <p:sp>
        <p:nvSpPr>
          <p:cNvPr id="27" name="Rectangle 26"/>
          <p:cNvSpPr/>
          <p:nvPr/>
        </p:nvSpPr>
        <p:spPr>
          <a:xfrm>
            <a:off x="2926080" y="5321808"/>
            <a:ext cx="8869680" cy="621792"/>
          </a:xfrm>
          <a:prstGeom prst="rect">
            <a:avLst/>
          </a:prstGeom>
          <a:solidFill>
            <a:srgbClr val="FFFFFF"/>
          </a:solidFill>
          <a:ln w="1270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063240" y="5413248"/>
            <a:ext cx="8595360" cy="502920"/>
          </a:xfrm>
          <a:prstGeom prst="rect">
            <a:avLst/>
          </a:prstGeom>
          <a:noFill/>
        </p:spPr>
        <p:txBody>
          <a:bodyPr wrap="square">
            <a:spAutoFit/>
          </a:bodyPr>
          <a:lstStyle/>
          <a:p>
            <a:pPr algn="l"/>
            <a:r>
              <a:rPr sz="1400" b="0">
                <a:solidFill>
                  <a:srgbClr val="1A1A2E"/>
                </a:solidFill>
                <a:latin typeface="メイリオ"/>
              </a:rPr>
              <a:t>座位バランス確認後、ベッド上での体位（臥位・座位）を整える</a:t>
            </a:r>
          </a:p>
        </p:txBody>
      </p:sp>
      <p:sp>
        <p:nvSpPr>
          <p:cNvPr id="29" name="Rectangle 28"/>
          <p:cNvSpPr/>
          <p:nvPr/>
        </p:nvSpPr>
        <p:spPr>
          <a:xfrm>
            <a:off x="457200" y="6217920"/>
            <a:ext cx="11274552" cy="5029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48640" y="6263640"/>
            <a:ext cx="11091672" cy="411480"/>
          </a:xfrm>
          <a:prstGeom prst="rect">
            <a:avLst/>
          </a:prstGeom>
          <a:noFill/>
        </p:spPr>
        <p:txBody>
          <a:bodyPr wrap="square">
            <a:spAutoFit/>
          </a:bodyPr>
          <a:lstStyle/>
          <a:p>
            <a:pPr algn="ctr"/>
            <a:r>
              <a:rPr sz="1400" b="1">
                <a:solidFill>
                  <a:srgbClr val="FFFFFF"/>
                </a:solidFill>
                <a:latin typeface="メイリオ"/>
              </a:rPr>
              <a:t>両移乗共通：患者の「できること」を最大限活かす介助を心がけましょう</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28016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80160"/>
            <a:ext cx="12188952" cy="73152"/>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353312"/>
            <a:ext cx="12188952" cy="5504688"/>
          </a:xfrm>
          <a:prstGeom prst="rect">
            <a:avLst/>
          </a:prstGeom>
          <a:solidFill>
            <a:srgbClr val="F5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37160"/>
            <a:ext cx="10515600" cy="822960"/>
          </a:xfrm>
          <a:prstGeom prst="rect">
            <a:avLst/>
          </a:prstGeom>
          <a:noFill/>
        </p:spPr>
        <p:txBody>
          <a:bodyPr wrap="square">
            <a:spAutoFit/>
          </a:bodyPr>
          <a:lstStyle/>
          <a:p>
            <a:pPr algn="l"/>
            <a:r>
              <a:rPr sz="2800" b="1">
                <a:solidFill>
                  <a:srgbClr val="FFFFFF"/>
                </a:solidFill>
                <a:latin typeface="メイリオ"/>
              </a:rPr>
              <a:t>移乗補助用具の活用</a:t>
            </a:r>
          </a:p>
        </p:txBody>
      </p:sp>
      <p:sp>
        <p:nvSpPr>
          <p:cNvPr id="6" name="TextBox 5"/>
          <p:cNvSpPr txBox="1"/>
          <p:nvPr/>
        </p:nvSpPr>
        <p:spPr>
          <a:xfrm>
            <a:off x="365760" y="777240"/>
            <a:ext cx="9144000" cy="457200"/>
          </a:xfrm>
          <a:prstGeom prst="rect">
            <a:avLst/>
          </a:prstGeom>
          <a:noFill/>
        </p:spPr>
        <p:txBody>
          <a:bodyPr wrap="square">
            <a:spAutoFit/>
          </a:bodyPr>
          <a:lstStyle/>
          <a:p>
            <a:pPr algn="l"/>
            <a:r>
              <a:rPr sz="1400" b="0">
                <a:solidFill>
                  <a:srgbClr val="CCE5FF"/>
                </a:solidFill>
                <a:latin typeface="メイリオ"/>
              </a:rPr>
              <a:t>スライディングボード・移乗ベルト・リフト</a:t>
            </a:r>
          </a:p>
        </p:txBody>
      </p:sp>
      <p:sp>
        <p:nvSpPr>
          <p:cNvPr id="7" name="TextBox 6"/>
          <p:cNvSpPr txBox="1"/>
          <p:nvPr/>
        </p:nvSpPr>
        <p:spPr>
          <a:xfrm>
            <a:off x="11155680" y="182880"/>
            <a:ext cx="822960" cy="457200"/>
          </a:xfrm>
          <a:prstGeom prst="rect">
            <a:avLst/>
          </a:prstGeom>
          <a:noFill/>
        </p:spPr>
        <p:txBody>
          <a:bodyPr wrap="square">
            <a:spAutoFit/>
          </a:bodyPr>
          <a:lstStyle/>
          <a:p>
            <a:pPr algn="r"/>
            <a:r>
              <a:rPr sz="1200" b="0">
                <a:solidFill>
                  <a:srgbClr val="AACCFF"/>
                </a:solidFill>
                <a:latin typeface="メイリオ"/>
              </a:rPr>
              <a:t>9 / 18</a:t>
            </a:r>
          </a:p>
        </p:txBody>
      </p:sp>
      <p:sp>
        <p:nvSpPr>
          <p:cNvPr id="8" name="Rectangle 7"/>
          <p:cNvSpPr/>
          <p:nvPr/>
        </p:nvSpPr>
        <p:spPr>
          <a:xfrm>
            <a:off x="320040" y="1508760"/>
            <a:ext cx="3657600" cy="502920"/>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79" y="1554480"/>
            <a:ext cx="3474720" cy="411480"/>
          </a:xfrm>
          <a:prstGeom prst="rect">
            <a:avLst/>
          </a:prstGeom>
          <a:noFill/>
        </p:spPr>
        <p:txBody>
          <a:bodyPr wrap="square">
            <a:spAutoFit/>
          </a:bodyPr>
          <a:lstStyle/>
          <a:p>
            <a:pPr algn="ctr"/>
            <a:r>
              <a:rPr sz="1400" b="1">
                <a:solidFill>
                  <a:srgbClr val="FFFFFF"/>
                </a:solidFill>
                <a:latin typeface="メイリオ"/>
              </a:rPr>
              <a:t>スライディングボード</a:t>
            </a:r>
          </a:p>
        </p:txBody>
      </p:sp>
      <p:sp>
        <p:nvSpPr>
          <p:cNvPr id="10" name="Rectangle 9"/>
          <p:cNvSpPr/>
          <p:nvPr/>
        </p:nvSpPr>
        <p:spPr>
          <a:xfrm>
            <a:off x="320040" y="2011680"/>
            <a:ext cx="3657600" cy="1737360"/>
          </a:xfrm>
          <a:prstGeom prst="rect">
            <a:avLst/>
          </a:prstGeom>
          <a:solidFill>
            <a:srgbClr val="DDEAF5"/>
          </a:solidFill>
          <a:ln w="1905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874520" y="2560320"/>
            <a:ext cx="548640" cy="548640"/>
          </a:xfrm>
          <a:prstGeom prst="rect">
            <a:avLst/>
          </a:prstGeom>
          <a:noFill/>
        </p:spPr>
        <p:txBody>
          <a:bodyPr wrap="square">
            <a:spAutoFit/>
          </a:bodyPr>
          <a:lstStyle/>
          <a:p>
            <a:pPr algn="ctr"/>
            <a:r>
              <a:rPr sz="2800" b="0">
                <a:solidFill>
                  <a:srgbClr val="1A1A2E"/>
                </a:solidFill>
                <a:latin typeface="メイリオ"/>
              </a:rPr>
              <a:t>📷</a:t>
            </a:r>
          </a:p>
        </p:txBody>
      </p:sp>
      <p:sp>
        <p:nvSpPr>
          <p:cNvPr id="12" name="TextBox 11"/>
          <p:cNvSpPr txBox="1"/>
          <p:nvPr/>
        </p:nvSpPr>
        <p:spPr>
          <a:xfrm>
            <a:off x="411479" y="3291839"/>
            <a:ext cx="3474720" cy="411480"/>
          </a:xfrm>
          <a:prstGeom prst="rect">
            <a:avLst/>
          </a:prstGeom>
          <a:noFill/>
        </p:spPr>
        <p:txBody>
          <a:bodyPr wrap="square">
            <a:spAutoFit/>
          </a:bodyPr>
          <a:lstStyle/>
          <a:p>
            <a:pPr algn="ctr"/>
            <a:r>
              <a:rPr sz="1200" b="0">
                <a:solidFill>
                  <a:srgbClr val="445566"/>
                </a:solidFill>
                <a:latin typeface="メイリオ"/>
              </a:rPr>
              <a:t>【画像④】スライディングボードの
使用イラスト</a:t>
            </a:r>
          </a:p>
        </p:txBody>
      </p:sp>
      <p:sp>
        <p:nvSpPr>
          <p:cNvPr id="13" name="Rectangle 12"/>
          <p:cNvSpPr/>
          <p:nvPr/>
        </p:nvSpPr>
        <p:spPr>
          <a:xfrm>
            <a:off x="320040" y="3749039"/>
            <a:ext cx="3657600" cy="2286000"/>
          </a:xfrm>
          <a:prstGeom prst="rect">
            <a:avLst/>
          </a:prstGeom>
          <a:solidFill>
            <a:srgbClr val="FFFFFF"/>
          </a:solidFill>
          <a:ln w="1905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 y="3840480"/>
            <a:ext cx="3383280" cy="457200"/>
          </a:xfrm>
          <a:prstGeom prst="rect">
            <a:avLst/>
          </a:prstGeom>
          <a:noFill/>
        </p:spPr>
        <p:txBody>
          <a:bodyPr wrap="square">
            <a:spAutoFit/>
          </a:bodyPr>
          <a:lstStyle/>
          <a:p>
            <a:pPr algn="l"/>
            <a:r>
              <a:rPr sz="1300" b="0">
                <a:solidFill>
                  <a:srgbClr val="1A1A2E"/>
                </a:solidFill>
                <a:latin typeface="メイリオ"/>
              </a:rPr>
              <a:t>・座位移乗に使用</a:t>
            </a:r>
          </a:p>
        </p:txBody>
      </p:sp>
      <p:sp>
        <p:nvSpPr>
          <p:cNvPr id="15" name="TextBox 14"/>
          <p:cNvSpPr txBox="1"/>
          <p:nvPr/>
        </p:nvSpPr>
        <p:spPr>
          <a:xfrm>
            <a:off x="457200" y="4361688"/>
            <a:ext cx="3383280" cy="457200"/>
          </a:xfrm>
          <a:prstGeom prst="rect">
            <a:avLst/>
          </a:prstGeom>
          <a:noFill/>
        </p:spPr>
        <p:txBody>
          <a:bodyPr wrap="square">
            <a:spAutoFit/>
          </a:bodyPr>
          <a:lstStyle/>
          <a:p>
            <a:pPr algn="l"/>
            <a:r>
              <a:rPr sz="1300" b="0">
                <a:solidFill>
                  <a:srgbClr val="1A1A2E"/>
                </a:solidFill>
                <a:latin typeface="メイリオ"/>
              </a:rPr>
              <a:t>・車椅子⇔ベッド・シャワーチェア</a:t>
            </a:r>
          </a:p>
        </p:txBody>
      </p:sp>
      <p:sp>
        <p:nvSpPr>
          <p:cNvPr id="16" name="TextBox 15"/>
          <p:cNvSpPr txBox="1"/>
          <p:nvPr/>
        </p:nvSpPr>
        <p:spPr>
          <a:xfrm>
            <a:off x="457200" y="4882896"/>
            <a:ext cx="3383280" cy="457200"/>
          </a:xfrm>
          <a:prstGeom prst="rect">
            <a:avLst/>
          </a:prstGeom>
          <a:noFill/>
        </p:spPr>
        <p:txBody>
          <a:bodyPr wrap="square">
            <a:spAutoFit/>
          </a:bodyPr>
          <a:lstStyle/>
          <a:p>
            <a:pPr algn="l"/>
            <a:r>
              <a:rPr sz="1300" b="0">
                <a:solidFill>
                  <a:srgbClr val="1A1A2E"/>
                </a:solidFill>
                <a:latin typeface="メイリオ"/>
              </a:rPr>
              <a:t>・麻痺・筋力低下患者に有効</a:t>
            </a:r>
          </a:p>
        </p:txBody>
      </p:sp>
      <p:sp>
        <p:nvSpPr>
          <p:cNvPr id="17" name="TextBox 16"/>
          <p:cNvSpPr txBox="1"/>
          <p:nvPr/>
        </p:nvSpPr>
        <p:spPr>
          <a:xfrm>
            <a:off x="457200" y="5404104"/>
            <a:ext cx="3383280" cy="457200"/>
          </a:xfrm>
          <a:prstGeom prst="rect">
            <a:avLst/>
          </a:prstGeom>
          <a:noFill/>
        </p:spPr>
        <p:txBody>
          <a:bodyPr wrap="square">
            <a:spAutoFit/>
          </a:bodyPr>
          <a:lstStyle/>
          <a:p>
            <a:pPr algn="l"/>
            <a:r>
              <a:rPr sz="1300" b="0">
                <a:solidFill>
                  <a:srgbClr val="1A1A2E"/>
                </a:solidFill>
                <a:latin typeface="メイリオ"/>
              </a:rPr>
              <a:t>・使用時は必ず2名で確認</a:t>
            </a:r>
          </a:p>
        </p:txBody>
      </p:sp>
      <p:sp>
        <p:nvSpPr>
          <p:cNvPr id="18" name="Rectangle 17"/>
          <p:cNvSpPr/>
          <p:nvPr/>
        </p:nvSpPr>
        <p:spPr>
          <a:xfrm>
            <a:off x="4251959" y="1508760"/>
            <a:ext cx="3657600" cy="5029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343399" y="1554480"/>
            <a:ext cx="3474720" cy="411480"/>
          </a:xfrm>
          <a:prstGeom prst="rect">
            <a:avLst/>
          </a:prstGeom>
          <a:noFill/>
        </p:spPr>
        <p:txBody>
          <a:bodyPr wrap="square">
            <a:spAutoFit/>
          </a:bodyPr>
          <a:lstStyle/>
          <a:p>
            <a:pPr algn="ctr"/>
            <a:r>
              <a:rPr sz="1400" b="1">
                <a:solidFill>
                  <a:srgbClr val="FFFFFF"/>
                </a:solidFill>
                <a:latin typeface="メイリオ"/>
              </a:rPr>
              <a:t>移乗ベルト（トランスファーベルト）</a:t>
            </a:r>
          </a:p>
        </p:txBody>
      </p:sp>
      <p:sp>
        <p:nvSpPr>
          <p:cNvPr id="20" name="Rectangle 19"/>
          <p:cNvSpPr/>
          <p:nvPr/>
        </p:nvSpPr>
        <p:spPr>
          <a:xfrm>
            <a:off x="4251959" y="2011680"/>
            <a:ext cx="3657600" cy="1737360"/>
          </a:xfrm>
          <a:prstGeom prst="rect">
            <a:avLst/>
          </a:prstGeom>
          <a:solidFill>
            <a:srgbClr val="DDEAF5"/>
          </a:solidFill>
          <a:ln w="1905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806440" y="2560320"/>
            <a:ext cx="548640" cy="548640"/>
          </a:xfrm>
          <a:prstGeom prst="rect">
            <a:avLst/>
          </a:prstGeom>
          <a:noFill/>
        </p:spPr>
        <p:txBody>
          <a:bodyPr wrap="square">
            <a:spAutoFit/>
          </a:bodyPr>
          <a:lstStyle/>
          <a:p>
            <a:pPr algn="ctr"/>
            <a:r>
              <a:rPr sz="2800" b="0">
                <a:solidFill>
                  <a:srgbClr val="1A1A2E"/>
                </a:solidFill>
                <a:latin typeface="メイリオ"/>
              </a:rPr>
              <a:t>📷</a:t>
            </a:r>
          </a:p>
        </p:txBody>
      </p:sp>
      <p:sp>
        <p:nvSpPr>
          <p:cNvPr id="22" name="TextBox 21"/>
          <p:cNvSpPr txBox="1"/>
          <p:nvPr/>
        </p:nvSpPr>
        <p:spPr>
          <a:xfrm>
            <a:off x="4343399" y="3291839"/>
            <a:ext cx="3474720" cy="411480"/>
          </a:xfrm>
          <a:prstGeom prst="rect">
            <a:avLst/>
          </a:prstGeom>
          <a:noFill/>
        </p:spPr>
        <p:txBody>
          <a:bodyPr wrap="square">
            <a:spAutoFit/>
          </a:bodyPr>
          <a:lstStyle/>
          <a:p>
            <a:pPr algn="ctr"/>
            <a:r>
              <a:rPr sz="1200" b="0">
                <a:solidFill>
                  <a:srgbClr val="445566"/>
                </a:solidFill>
                <a:latin typeface="メイリオ"/>
              </a:rPr>
              <a:t>【画像⑤】移乗ベルト装着・
使用方法イラスト</a:t>
            </a:r>
          </a:p>
        </p:txBody>
      </p:sp>
      <p:sp>
        <p:nvSpPr>
          <p:cNvPr id="23" name="Rectangle 22"/>
          <p:cNvSpPr/>
          <p:nvPr/>
        </p:nvSpPr>
        <p:spPr>
          <a:xfrm>
            <a:off x="4251959" y="3749039"/>
            <a:ext cx="3657600" cy="2286000"/>
          </a:xfrm>
          <a:prstGeom prst="rect">
            <a:avLst/>
          </a:prstGeom>
          <a:solidFill>
            <a:srgbClr val="FFFFFF"/>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389120" y="3840480"/>
            <a:ext cx="3383280" cy="457200"/>
          </a:xfrm>
          <a:prstGeom prst="rect">
            <a:avLst/>
          </a:prstGeom>
          <a:noFill/>
        </p:spPr>
        <p:txBody>
          <a:bodyPr wrap="square">
            <a:spAutoFit/>
          </a:bodyPr>
          <a:lstStyle/>
          <a:p>
            <a:pPr algn="l"/>
            <a:r>
              <a:rPr sz="1300" b="0">
                <a:solidFill>
                  <a:srgbClr val="1A1A2E"/>
                </a:solidFill>
                <a:latin typeface="メイリオ"/>
              </a:rPr>
              <a:t>・患者の腰に装着</a:t>
            </a:r>
          </a:p>
        </p:txBody>
      </p:sp>
      <p:sp>
        <p:nvSpPr>
          <p:cNvPr id="25" name="TextBox 24"/>
          <p:cNvSpPr txBox="1"/>
          <p:nvPr/>
        </p:nvSpPr>
        <p:spPr>
          <a:xfrm>
            <a:off x="4389120" y="4361688"/>
            <a:ext cx="3383280" cy="457200"/>
          </a:xfrm>
          <a:prstGeom prst="rect">
            <a:avLst/>
          </a:prstGeom>
          <a:noFill/>
        </p:spPr>
        <p:txBody>
          <a:bodyPr wrap="square">
            <a:spAutoFit/>
          </a:bodyPr>
          <a:lstStyle/>
          <a:p>
            <a:pPr algn="l"/>
            <a:r>
              <a:rPr sz="1300" b="0">
                <a:solidFill>
                  <a:srgbClr val="1A1A2E"/>
                </a:solidFill>
                <a:latin typeface="メイリオ"/>
              </a:rPr>
              <a:t>・介助者がベルトを握って誘導</a:t>
            </a:r>
          </a:p>
        </p:txBody>
      </p:sp>
      <p:sp>
        <p:nvSpPr>
          <p:cNvPr id="26" name="TextBox 25"/>
          <p:cNvSpPr txBox="1"/>
          <p:nvPr/>
        </p:nvSpPr>
        <p:spPr>
          <a:xfrm>
            <a:off x="4389120" y="4882896"/>
            <a:ext cx="3383280" cy="457200"/>
          </a:xfrm>
          <a:prstGeom prst="rect">
            <a:avLst/>
          </a:prstGeom>
          <a:noFill/>
        </p:spPr>
        <p:txBody>
          <a:bodyPr wrap="square">
            <a:spAutoFit/>
          </a:bodyPr>
          <a:lstStyle/>
          <a:p>
            <a:pPr algn="l"/>
            <a:r>
              <a:rPr sz="1300" b="0">
                <a:solidFill>
                  <a:srgbClr val="1A1A2E"/>
                </a:solidFill>
                <a:latin typeface="メイリオ"/>
              </a:rPr>
              <a:t>・急な体重移動に対応しやすい</a:t>
            </a:r>
          </a:p>
        </p:txBody>
      </p:sp>
      <p:sp>
        <p:nvSpPr>
          <p:cNvPr id="27" name="TextBox 26"/>
          <p:cNvSpPr txBox="1"/>
          <p:nvPr/>
        </p:nvSpPr>
        <p:spPr>
          <a:xfrm>
            <a:off x="4389120" y="5404104"/>
            <a:ext cx="3383280" cy="457200"/>
          </a:xfrm>
          <a:prstGeom prst="rect">
            <a:avLst/>
          </a:prstGeom>
          <a:noFill/>
        </p:spPr>
        <p:txBody>
          <a:bodyPr wrap="square">
            <a:spAutoFit/>
          </a:bodyPr>
          <a:lstStyle/>
          <a:p>
            <a:pPr algn="l"/>
            <a:r>
              <a:rPr sz="1300" b="0">
                <a:solidFill>
                  <a:srgbClr val="1A1A2E"/>
                </a:solidFill>
                <a:latin typeface="メイリオ"/>
              </a:rPr>
              <a:t>・患者の転倒防止に有効</a:t>
            </a:r>
          </a:p>
        </p:txBody>
      </p:sp>
      <p:sp>
        <p:nvSpPr>
          <p:cNvPr id="28" name="Rectangle 27"/>
          <p:cNvSpPr/>
          <p:nvPr/>
        </p:nvSpPr>
        <p:spPr>
          <a:xfrm>
            <a:off x="8183879" y="1508760"/>
            <a:ext cx="3657600" cy="50292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75319" y="1554480"/>
            <a:ext cx="3474720" cy="411480"/>
          </a:xfrm>
          <a:prstGeom prst="rect">
            <a:avLst/>
          </a:prstGeom>
          <a:noFill/>
        </p:spPr>
        <p:txBody>
          <a:bodyPr wrap="square">
            <a:spAutoFit/>
          </a:bodyPr>
          <a:lstStyle/>
          <a:p>
            <a:pPr algn="ctr"/>
            <a:r>
              <a:rPr sz="1400" b="1">
                <a:solidFill>
                  <a:srgbClr val="FFFFFF"/>
                </a:solidFill>
                <a:latin typeface="メイリオ"/>
              </a:rPr>
              <a:t>介護リフト</a:t>
            </a:r>
          </a:p>
        </p:txBody>
      </p:sp>
      <p:sp>
        <p:nvSpPr>
          <p:cNvPr id="30" name="Rectangle 29"/>
          <p:cNvSpPr/>
          <p:nvPr/>
        </p:nvSpPr>
        <p:spPr>
          <a:xfrm>
            <a:off x="8183879" y="2011680"/>
            <a:ext cx="3657600" cy="1737360"/>
          </a:xfrm>
          <a:prstGeom prst="rect">
            <a:avLst/>
          </a:prstGeom>
          <a:solidFill>
            <a:srgbClr val="DDEAF5"/>
          </a:solidFill>
          <a:ln w="1905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738359" y="2560320"/>
            <a:ext cx="548640" cy="548640"/>
          </a:xfrm>
          <a:prstGeom prst="rect">
            <a:avLst/>
          </a:prstGeom>
          <a:noFill/>
        </p:spPr>
        <p:txBody>
          <a:bodyPr wrap="square">
            <a:spAutoFit/>
          </a:bodyPr>
          <a:lstStyle/>
          <a:p>
            <a:pPr algn="ctr"/>
            <a:r>
              <a:rPr sz="2800" b="0">
                <a:solidFill>
                  <a:srgbClr val="1A1A2E"/>
                </a:solidFill>
                <a:latin typeface="メイリオ"/>
              </a:rPr>
              <a:t>📷</a:t>
            </a:r>
          </a:p>
        </p:txBody>
      </p:sp>
      <p:sp>
        <p:nvSpPr>
          <p:cNvPr id="32" name="TextBox 31"/>
          <p:cNvSpPr txBox="1"/>
          <p:nvPr/>
        </p:nvSpPr>
        <p:spPr>
          <a:xfrm>
            <a:off x="8275319" y="3291839"/>
            <a:ext cx="3474720" cy="411480"/>
          </a:xfrm>
          <a:prstGeom prst="rect">
            <a:avLst/>
          </a:prstGeom>
          <a:noFill/>
        </p:spPr>
        <p:txBody>
          <a:bodyPr wrap="square">
            <a:spAutoFit/>
          </a:bodyPr>
          <a:lstStyle/>
          <a:p>
            <a:pPr algn="ctr"/>
            <a:r>
              <a:rPr sz="1200" b="0">
                <a:solidFill>
                  <a:srgbClr val="445566"/>
                </a:solidFill>
                <a:latin typeface="メイリオ"/>
              </a:rPr>
              <a:t>【画像⑥】介護リフト操作
イラスト</a:t>
            </a:r>
          </a:p>
        </p:txBody>
      </p:sp>
      <p:sp>
        <p:nvSpPr>
          <p:cNvPr id="33" name="Rectangle 32"/>
          <p:cNvSpPr/>
          <p:nvPr/>
        </p:nvSpPr>
        <p:spPr>
          <a:xfrm>
            <a:off x="8183879" y="3749039"/>
            <a:ext cx="3657600" cy="2286000"/>
          </a:xfrm>
          <a:prstGeom prst="rect">
            <a:avLst/>
          </a:prstGeom>
          <a:solidFill>
            <a:srgbClr val="FFFFFF"/>
          </a:solidFill>
          <a:ln w="1905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321040" y="3840480"/>
            <a:ext cx="3383280" cy="457200"/>
          </a:xfrm>
          <a:prstGeom prst="rect">
            <a:avLst/>
          </a:prstGeom>
          <a:noFill/>
        </p:spPr>
        <p:txBody>
          <a:bodyPr wrap="square">
            <a:spAutoFit/>
          </a:bodyPr>
          <a:lstStyle/>
          <a:p>
            <a:pPr algn="l"/>
            <a:r>
              <a:rPr sz="1300" b="0">
                <a:solidFill>
                  <a:srgbClr val="1A1A2E"/>
                </a:solidFill>
                <a:latin typeface="メイリオ"/>
              </a:rPr>
              <a:t>・全介助・重度障害患者に使用</a:t>
            </a:r>
          </a:p>
        </p:txBody>
      </p:sp>
      <p:sp>
        <p:nvSpPr>
          <p:cNvPr id="35" name="TextBox 34"/>
          <p:cNvSpPr txBox="1"/>
          <p:nvPr/>
        </p:nvSpPr>
        <p:spPr>
          <a:xfrm>
            <a:off x="8321040" y="4361688"/>
            <a:ext cx="3383280" cy="457200"/>
          </a:xfrm>
          <a:prstGeom prst="rect">
            <a:avLst/>
          </a:prstGeom>
          <a:noFill/>
        </p:spPr>
        <p:txBody>
          <a:bodyPr wrap="square">
            <a:spAutoFit/>
          </a:bodyPr>
          <a:lstStyle/>
          <a:p>
            <a:pPr algn="l"/>
            <a:r>
              <a:rPr sz="1300" b="0">
                <a:solidFill>
                  <a:srgbClr val="1A1A2E"/>
                </a:solidFill>
                <a:latin typeface="メイリオ"/>
              </a:rPr>
              <a:t>・スリングシートを正しく装着</a:t>
            </a:r>
          </a:p>
        </p:txBody>
      </p:sp>
      <p:sp>
        <p:nvSpPr>
          <p:cNvPr id="36" name="TextBox 35"/>
          <p:cNvSpPr txBox="1"/>
          <p:nvPr/>
        </p:nvSpPr>
        <p:spPr>
          <a:xfrm>
            <a:off x="8321040" y="4882896"/>
            <a:ext cx="3383280" cy="457200"/>
          </a:xfrm>
          <a:prstGeom prst="rect">
            <a:avLst/>
          </a:prstGeom>
          <a:noFill/>
        </p:spPr>
        <p:txBody>
          <a:bodyPr wrap="square">
            <a:spAutoFit/>
          </a:bodyPr>
          <a:lstStyle/>
          <a:p>
            <a:pPr algn="l"/>
            <a:r>
              <a:rPr sz="1300" b="0">
                <a:solidFill>
                  <a:srgbClr val="1A1A2E"/>
                </a:solidFill>
                <a:latin typeface="メイリオ"/>
              </a:rPr>
              <a:t>・事前にスリング選択が重要</a:t>
            </a:r>
          </a:p>
        </p:txBody>
      </p:sp>
      <p:sp>
        <p:nvSpPr>
          <p:cNvPr id="37" name="TextBox 36"/>
          <p:cNvSpPr txBox="1"/>
          <p:nvPr/>
        </p:nvSpPr>
        <p:spPr>
          <a:xfrm>
            <a:off x="8321040" y="5404104"/>
            <a:ext cx="3383280" cy="457200"/>
          </a:xfrm>
          <a:prstGeom prst="rect">
            <a:avLst/>
          </a:prstGeom>
          <a:noFill/>
        </p:spPr>
        <p:txBody>
          <a:bodyPr wrap="square">
            <a:spAutoFit/>
          </a:bodyPr>
          <a:lstStyle/>
          <a:p>
            <a:pPr algn="l"/>
            <a:r>
              <a:rPr sz="1300" b="0">
                <a:solidFill>
                  <a:srgbClr val="1A1A2E"/>
                </a:solidFill>
                <a:latin typeface="メイリオ"/>
              </a:rPr>
              <a:t>・操作は必ず研修後に実施</a:t>
            </a:r>
          </a:p>
        </p:txBody>
      </p:sp>
      <p:sp>
        <p:nvSpPr>
          <p:cNvPr id="38" name="Rectangle 37"/>
          <p:cNvSpPr/>
          <p:nvPr/>
        </p:nvSpPr>
        <p:spPr>
          <a:xfrm>
            <a:off x="1371600" y="6126480"/>
            <a:ext cx="9445752" cy="502920"/>
          </a:xfrm>
          <a:prstGeom prst="rect">
            <a:avLst/>
          </a:prstGeom>
          <a:solidFill>
            <a:srgbClr val="E84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463040" y="6172200"/>
            <a:ext cx="9262872" cy="411480"/>
          </a:xfrm>
          <a:prstGeom prst="rect">
            <a:avLst/>
          </a:prstGeom>
          <a:noFill/>
        </p:spPr>
        <p:txBody>
          <a:bodyPr wrap="square">
            <a:spAutoFit/>
          </a:bodyPr>
          <a:lstStyle/>
          <a:p>
            <a:pPr algn="ctr"/>
            <a:r>
              <a:rPr sz="1400" b="1">
                <a:solidFill>
                  <a:srgbClr val="FFFFFF"/>
                </a:solidFill>
                <a:latin typeface="メイリオ"/>
              </a:rPr>
              <a:t>用具の使用前は必ず破損・劣化チェックを行うこと</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28016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80160"/>
            <a:ext cx="12188952" cy="73152"/>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353312"/>
            <a:ext cx="12188952" cy="5504688"/>
          </a:xfrm>
          <a:prstGeom prst="rect">
            <a:avLst/>
          </a:prstGeom>
          <a:solidFill>
            <a:srgbClr val="F5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37160"/>
            <a:ext cx="10515600" cy="822960"/>
          </a:xfrm>
          <a:prstGeom prst="rect">
            <a:avLst/>
          </a:prstGeom>
          <a:noFill/>
        </p:spPr>
        <p:txBody>
          <a:bodyPr wrap="square">
            <a:spAutoFit/>
          </a:bodyPr>
          <a:lstStyle/>
          <a:p>
            <a:pPr algn="l"/>
            <a:r>
              <a:rPr sz="2800" b="1">
                <a:solidFill>
                  <a:srgbClr val="FFFFFF"/>
                </a:solidFill>
                <a:latin typeface="メイリオ"/>
              </a:rPr>
              <a:t>歩行介助の基本</a:t>
            </a:r>
          </a:p>
        </p:txBody>
      </p:sp>
      <p:sp>
        <p:nvSpPr>
          <p:cNvPr id="6" name="TextBox 5"/>
          <p:cNvSpPr txBox="1"/>
          <p:nvPr/>
        </p:nvSpPr>
        <p:spPr>
          <a:xfrm>
            <a:off x="365760" y="777240"/>
            <a:ext cx="9144000" cy="457200"/>
          </a:xfrm>
          <a:prstGeom prst="rect">
            <a:avLst/>
          </a:prstGeom>
          <a:noFill/>
        </p:spPr>
        <p:txBody>
          <a:bodyPr wrap="square">
            <a:spAutoFit/>
          </a:bodyPr>
          <a:lstStyle/>
          <a:p>
            <a:pPr algn="l"/>
            <a:r>
              <a:rPr sz="1400" b="0">
                <a:solidFill>
                  <a:srgbClr val="CCE5FF"/>
                </a:solidFill>
                <a:latin typeface="メイリオ"/>
              </a:rPr>
              <a:t>安全な歩行介助の位置と手順</a:t>
            </a:r>
          </a:p>
        </p:txBody>
      </p:sp>
      <p:sp>
        <p:nvSpPr>
          <p:cNvPr id="7" name="TextBox 6"/>
          <p:cNvSpPr txBox="1"/>
          <p:nvPr/>
        </p:nvSpPr>
        <p:spPr>
          <a:xfrm>
            <a:off x="11155680" y="182880"/>
            <a:ext cx="822960" cy="457200"/>
          </a:xfrm>
          <a:prstGeom prst="rect">
            <a:avLst/>
          </a:prstGeom>
          <a:noFill/>
        </p:spPr>
        <p:txBody>
          <a:bodyPr wrap="square">
            <a:spAutoFit/>
          </a:bodyPr>
          <a:lstStyle/>
          <a:p>
            <a:pPr algn="r"/>
            <a:r>
              <a:rPr sz="1200" b="0">
                <a:solidFill>
                  <a:srgbClr val="AACCFF"/>
                </a:solidFill>
                <a:latin typeface="メイリオ"/>
              </a:rPr>
              <a:t>10 / 18</a:t>
            </a:r>
          </a:p>
        </p:txBody>
      </p:sp>
      <p:sp>
        <p:nvSpPr>
          <p:cNvPr id="8" name="Rectangle 7"/>
          <p:cNvSpPr/>
          <p:nvPr/>
        </p:nvSpPr>
        <p:spPr>
          <a:xfrm>
            <a:off x="365760" y="1508760"/>
            <a:ext cx="11457432" cy="1005840"/>
          </a:xfrm>
          <a:prstGeom prst="rect">
            <a:avLst/>
          </a:prstGeom>
          <a:solidFill>
            <a:srgbClr val="FFFFFF"/>
          </a:solidFill>
          <a:ln w="1270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1600200"/>
            <a:ext cx="11247120" cy="777240"/>
          </a:xfrm>
          <a:prstGeom prst="rect">
            <a:avLst/>
          </a:prstGeom>
          <a:noFill/>
        </p:spPr>
        <p:txBody>
          <a:bodyPr wrap="square">
            <a:spAutoFit/>
          </a:bodyPr>
          <a:lstStyle/>
          <a:p>
            <a:pPr algn="ctr"/>
            <a:r>
              <a:rPr sz="1500" b="1">
                <a:solidFill>
                  <a:srgbClr val="005B99"/>
                </a:solidFill>
                <a:latin typeface="メイリオ"/>
              </a:rPr>
              <a:t>介助者の位置：患側（麻痺のある側）の斜め後方  ／  片手：患者の腰または移乗ベルトを握る  ／  歩幅・速度は患者に合わせる</a:t>
            </a:r>
          </a:p>
        </p:txBody>
      </p:sp>
      <p:sp>
        <p:nvSpPr>
          <p:cNvPr id="10" name="Rectangle 9"/>
          <p:cNvSpPr/>
          <p:nvPr/>
        </p:nvSpPr>
        <p:spPr>
          <a:xfrm>
            <a:off x="320040" y="2651760"/>
            <a:ext cx="2011680" cy="50292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0040" y="2697480"/>
            <a:ext cx="2011680" cy="411480"/>
          </a:xfrm>
          <a:prstGeom prst="rect">
            <a:avLst/>
          </a:prstGeom>
          <a:noFill/>
        </p:spPr>
        <p:txBody>
          <a:bodyPr wrap="square">
            <a:spAutoFit/>
          </a:bodyPr>
          <a:lstStyle/>
          <a:p>
            <a:pPr algn="ctr"/>
            <a:r>
              <a:rPr sz="1500" b="1">
                <a:solidFill>
                  <a:srgbClr val="FFFFFF"/>
                </a:solidFill>
                <a:latin typeface="メイリオ"/>
              </a:rPr>
              <a:t>開始前</a:t>
            </a:r>
          </a:p>
        </p:txBody>
      </p:sp>
      <p:sp>
        <p:nvSpPr>
          <p:cNvPr id="12" name="Rectangle 11"/>
          <p:cNvSpPr/>
          <p:nvPr/>
        </p:nvSpPr>
        <p:spPr>
          <a:xfrm>
            <a:off x="320040" y="3154680"/>
            <a:ext cx="2011680" cy="1645920"/>
          </a:xfrm>
          <a:prstGeom prst="rect">
            <a:avLst/>
          </a:prstGeom>
          <a:solidFill>
            <a:srgbClr val="FFFFFF"/>
          </a:solidFill>
          <a:ln w="1270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11479" y="3200400"/>
            <a:ext cx="1828800" cy="1508760"/>
          </a:xfrm>
          <a:prstGeom prst="rect">
            <a:avLst/>
          </a:prstGeom>
          <a:noFill/>
        </p:spPr>
        <p:txBody>
          <a:bodyPr wrap="square">
            <a:spAutoFit/>
          </a:bodyPr>
          <a:lstStyle/>
          <a:p>
            <a:pPr algn="l"/>
            <a:r>
              <a:rPr sz="1300" b="0">
                <a:solidFill>
                  <a:srgbClr val="1A1A2E"/>
                </a:solidFill>
                <a:latin typeface="メイリオ"/>
              </a:rPr>
              <a:t>靴・履物確認
バイタル確認
歩行補助具の用意</a:t>
            </a:r>
          </a:p>
        </p:txBody>
      </p:sp>
      <p:sp>
        <p:nvSpPr>
          <p:cNvPr id="14" name="Rectangle 13"/>
          <p:cNvSpPr/>
          <p:nvPr/>
        </p:nvSpPr>
        <p:spPr>
          <a:xfrm>
            <a:off x="2624328" y="2651760"/>
            <a:ext cx="2011680" cy="50292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624328" y="2697480"/>
            <a:ext cx="2011680" cy="411480"/>
          </a:xfrm>
          <a:prstGeom prst="rect">
            <a:avLst/>
          </a:prstGeom>
          <a:noFill/>
        </p:spPr>
        <p:txBody>
          <a:bodyPr wrap="square">
            <a:spAutoFit/>
          </a:bodyPr>
          <a:lstStyle/>
          <a:p>
            <a:pPr algn="ctr"/>
            <a:r>
              <a:rPr sz="1500" b="1">
                <a:solidFill>
                  <a:srgbClr val="FFFFFF"/>
                </a:solidFill>
                <a:latin typeface="メイリオ"/>
              </a:rPr>
              <a:t>出発時</a:t>
            </a:r>
          </a:p>
        </p:txBody>
      </p:sp>
      <p:sp>
        <p:nvSpPr>
          <p:cNvPr id="16" name="Rectangle 15"/>
          <p:cNvSpPr/>
          <p:nvPr/>
        </p:nvSpPr>
        <p:spPr>
          <a:xfrm>
            <a:off x="2624328" y="3154680"/>
            <a:ext cx="2011680" cy="1645920"/>
          </a:xfrm>
          <a:prstGeom prst="rect">
            <a:avLst/>
          </a:prstGeom>
          <a:solidFill>
            <a:srgbClr val="FFFFFF"/>
          </a:solidFill>
          <a:ln w="1270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15768" y="3200400"/>
            <a:ext cx="1828800" cy="1508760"/>
          </a:xfrm>
          <a:prstGeom prst="rect">
            <a:avLst/>
          </a:prstGeom>
          <a:noFill/>
        </p:spPr>
        <p:txBody>
          <a:bodyPr wrap="square">
            <a:spAutoFit/>
          </a:bodyPr>
          <a:lstStyle/>
          <a:p>
            <a:pPr algn="l"/>
            <a:r>
              <a:rPr sz="1300" b="0">
                <a:solidFill>
                  <a:srgbClr val="1A1A2E"/>
                </a:solidFill>
                <a:latin typeface="メイリオ"/>
              </a:rPr>
              <a:t>ベッドサイドで
しばらく立位保持
めまい確認</a:t>
            </a:r>
          </a:p>
        </p:txBody>
      </p:sp>
      <p:sp>
        <p:nvSpPr>
          <p:cNvPr id="18" name="Rectangle 17"/>
          <p:cNvSpPr/>
          <p:nvPr/>
        </p:nvSpPr>
        <p:spPr>
          <a:xfrm>
            <a:off x="4928616" y="2651760"/>
            <a:ext cx="2011680" cy="50292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928616" y="2697480"/>
            <a:ext cx="2011680" cy="411480"/>
          </a:xfrm>
          <a:prstGeom prst="rect">
            <a:avLst/>
          </a:prstGeom>
          <a:noFill/>
        </p:spPr>
        <p:txBody>
          <a:bodyPr wrap="square">
            <a:spAutoFit/>
          </a:bodyPr>
          <a:lstStyle/>
          <a:p>
            <a:pPr algn="ctr"/>
            <a:r>
              <a:rPr sz="1500" b="1">
                <a:solidFill>
                  <a:srgbClr val="FFFFFF"/>
                </a:solidFill>
                <a:latin typeface="メイリオ"/>
              </a:rPr>
              <a:t>歩行中</a:t>
            </a:r>
          </a:p>
        </p:txBody>
      </p:sp>
      <p:sp>
        <p:nvSpPr>
          <p:cNvPr id="20" name="Rectangle 19"/>
          <p:cNvSpPr/>
          <p:nvPr/>
        </p:nvSpPr>
        <p:spPr>
          <a:xfrm>
            <a:off x="4928616" y="3154680"/>
            <a:ext cx="2011680" cy="1645920"/>
          </a:xfrm>
          <a:prstGeom prst="rect">
            <a:avLst/>
          </a:prstGeom>
          <a:solidFill>
            <a:srgbClr val="FFFFFF"/>
          </a:solidFill>
          <a:ln w="1270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20055" y="3200400"/>
            <a:ext cx="1828800" cy="1508760"/>
          </a:xfrm>
          <a:prstGeom prst="rect">
            <a:avLst/>
          </a:prstGeom>
          <a:noFill/>
        </p:spPr>
        <p:txBody>
          <a:bodyPr wrap="square">
            <a:spAutoFit/>
          </a:bodyPr>
          <a:lstStyle/>
          <a:p>
            <a:pPr algn="l"/>
            <a:r>
              <a:rPr sz="1300" b="0">
                <a:solidFill>
                  <a:srgbClr val="1A1A2E"/>
                </a:solidFill>
                <a:latin typeface="メイリオ"/>
              </a:rPr>
              <a:t>声かけしながら
一定ペースで
障害物に注意</a:t>
            </a:r>
          </a:p>
        </p:txBody>
      </p:sp>
      <p:sp>
        <p:nvSpPr>
          <p:cNvPr id="22" name="Rectangle 21"/>
          <p:cNvSpPr/>
          <p:nvPr/>
        </p:nvSpPr>
        <p:spPr>
          <a:xfrm>
            <a:off x="7232904" y="2651760"/>
            <a:ext cx="2011680" cy="50292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232904" y="2697480"/>
            <a:ext cx="2011680" cy="411480"/>
          </a:xfrm>
          <a:prstGeom prst="rect">
            <a:avLst/>
          </a:prstGeom>
          <a:noFill/>
        </p:spPr>
        <p:txBody>
          <a:bodyPr wrap="square">
            <a:spAutoFit/>
          </a:bodyPr>
          <a:lstStyle/>
          <a:p>
            <a:pPr algn="ctr"/>
            <a:r>
              <a:rPr sz="1500" b="1">
                <a:solidFill>
                  <a:srgbClr val="FFFFFF"/>
                </a:solidFill>
                <a:latin typeface="メイリオ"/>
              </a:rPr>
              <a:t>方向転換</a:t>
            </a:r>
          </a:p>
        </p:txBody>
      </p:sp>
      <p:sp>
        <p:nvSpPr>
          <p:cNvPr id="24" name="Rectangle 23"/>
          <p:cNvSpPr/>
          <p:nvPr/>
        </p:nvSpPr>
        <p:spPr>
          <a:xfrm>
            <a:off x="7232904" y="3154680"/>
            <a:ext cx="2011680" cy="1645920"/>
          </a:xfrm>
          <a:prstGeom prst="rect">
            <a:avLst/>
          </a:prstGeom>
          <a:solidFill>
            <a:srgbClr val="FFFFFF"/>
          </a:solidFill>
          <a:ln w="1270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24344" y="3200400"/>
            <a:ext cx="1828800" cy="1508760"/>
          </a:xfrm>
          <a:prstGeom prst="rect">
            <a:avLst/>
          </a:prstGeom>
          <a:noFill/>
        </p:spPr>
        <p:txBody>
          <a:bodyPr wrap="square">
            <a:spAutoFit/>
          </a:bodyPr>
          <a:lstStyle/>
          <a:p>
            <a:pPr algn="l"/>
            <a:r>
              <a:rPr sz="1300" b="0">
                <a:solidFill>
                  <a:srgbClr val="1A1A2E"/>
                </a:solidFill>
                <a:latin typeface="メイリオ"/>
              </a:rPr>
              <a:t>健側に向かって
ゆっくり回転
急な向き変え禁止</a:t>
            </a:r>
          </a:p>
        </p:txBody>
      </p:sp>
      <p:sp>
        <p:nvSpPr>
          <p:cNvPr id="26" name="Rectangle 25"/>
          <p:cNvSpPr/>
          <p:nvPr/>
        </p:nvSpPr>
        <p:spPr>
          <a:xfrm>
            <a:off x="9537192" y="2651760"/>
            <a:ext cx="2011680" cy="50292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537192" y="2697480"/>
            <a:ext cx="2011680" cy="411480"/>
          </a:xfrm>
          <a:prstGeom prst="rect">
            <a:avLst/>
          </a:prstGeom>
          <a:noFill/>
        </p:spPr>
        <p:txBody>
          <a:bodyPr wrap="square">
            <a:spAutoFit/>
          </a:bodyPr>
          <a:lstStyle/>
          <a:p>
            <a:pPr algn="ctr"/>
            <a:r>
              <a:rPr sz="1500" b="1">
                <a:solidFill>
                  <a:srgbClr val="FFFFFF"/>
                </a:solidFill>
                <a:latin typeface="メイリオ"/>
              </a:rPr>
              <a:t>着座時</a:t>
            </a:r>
          </a:p>
        </p:txBody>
      </p:sp>
      <p:sp>
        <p:nvSpPr>
          <p:cNvPr id="28" name="Rectangle 27"/>
          <p:cNvSpPr/>
          <p:nvPr/>
        </p:nvSpPr>
        <p:spPr>
          <a:xfrm>
            <a:off x="9537192" y="3154680"/>
            <a:ext cx="2011680" cy="1645920"/>
          </a:xfrm>
          <a:prstGeom prst="rect">
            <a:avLst/>
          </a:prstGeom>
          <a:solidFill>
            <a:srgbClr val="FFFFFF"/>
          </a:solidFill>
          <a:ln w="1270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28632" y="3200400"/>
            <a:ext cx="1828800" cy="1508760"/>
          </a:xfrm>
          <a:prstGeom prst="rect">
            <a:avLst/>
          </a:prstGeom>
          <a:noFill/>
        </p:spPr>
        <p:txBody>
          <a:bodyPr wrap="square">
            <a:spAutoFit/>
          </a:bodyPr>
          <a:lstStyle/>
          <a:p>
            <a:pPr algn="l"/>
            <a:r>
              <a:rPr sz="1300" b="0">
                <a:solidFill>
                  <a:srgbClr val="1A1A2E"/>
                </a:solidFill>
                <a:latin typeface="メイリオ"/>
              </a:rPr>
              <a:t>椅子/ベッドに
確実に触れてから
ゆっくり着座</a:t>
            </a:r>
          </a:p>
        </p:txBody>
      </p:sp>
      <p:sp>
        <p:nvSpPr>
          <p:cNvPr id="30" name="Rectangle 29"/>
          <p:cNvSpPr/>
          <p:nvPr/>
        </p:nvSpPr>
        <p:spPr>
          <a:xfrm>
            <a:off x="457200" y="4892040"/>
            <a:ext cx="5029200" cy="1280160"/>
          </a:xfrm>
          <a:prstGeom prst="rect">
            <a:avLst/>
          </a:prstGeom>
          <a:solidFill>
            <a:srgbClr val="DDEAF5"/>
          </a:solidFill>
          <a:ln w="1905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697480" y="5212080"/>
            <a:ext cx="548640" cy="548640"/>
          </a:xfrm>
          <a:prstGeom prst="rect">
            <a:avLst/>
          </a:prstGeom>
          <a:noFill/>
        </p:spPr>
        <p:txBody>
          <a:bodyPr wrap="square">
            <a:spAutoFit/>
          </a:bodyPr>
          <a:lstStyle/>
          <a:p>
            <a:pPr algn="ctr"/>
            <a:r>
              <a:rPr sz="2800" b="0">
                <a:solidFill>
                  <a:srgbClr val="1A1A2E"/>
                </a:solidFill>
                <a:latin typeface="メイリオ"/>
              </a:rPr>
              <a:t>📷</a:t>
            </a:r>
          </a:p>
        </p:txBody>
      </p:sp>
      <p:sp>
        <p:nvSpPr>
          <p:cNvPr id="32" name="TextBox 31"/>
          <p:cNvSpPr txBox="1"/>
          <p:nvPr/>
        </p:nvSpPr>
        <p:spPr>
          <a:xfrm>
            <a:off x="548640" y="5715000"/>
            <a:ext cx="4846320" cy="411480"/>
          </a:xfrm>
          <a:prstGeom prst="rect">
            <a:avLst/>
          </a:prstGeom>
          <a:noFill/>
        </p:spPr>
        <p:txBody>
          <a:bodyPr wrap="square">
            <a:spAutoFit/>
          </a:bodyPr>
          <a:lstStyle/>
          <a:p>
            <a:pPr algn="ctr"/>
            <a:r>
              <a:rPr sz="1200" b="0">
                <a:solidFill>
                  <a:srgbClr val="445566"/>
                </a:solidFill>
                <a:latin typeface="メイリオ"/>
              </a:rPr>
              <a:t>【画像⑦】歩行介助の位置・手の添え方イラスト</a:t>
            </a:r>
          </a:p>
        </p:txBody>
      </p:sp>
      <p:sp>
        <p:nvSpPr>
          <p:cNvPr id="33" name="Rectangle 32"/>
          <p:cNvSpPr/>
          <p:nvPr/>
        </p:nvSpPr>
        <p:spPr>
          <a:xfrm>
            <a:off x="5943600" y="4892040"/>
            <a:ext cx="5788152" cy="1280160"/>
          </a:xfrm>
          <a:prstGeom prst="rect">
            <a:avLst/>
          </a:prstGeom>
          <a:solidFill>
            <a:srgbClr val="DDEAF5"/>
          </a:solidFill>
          <a:ln w="1905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563355" y="5212080"/>
            <a:ext cx="548640" cy="548640"/>
          </a:xfrm>
          <a:prstGeom prst="rect">
            <a:avLst/>
          </a:prstGeom>
          <a:noFill/>
        </p:spPr>
        <p:txBody>
          <a:bodyPr wrap="square">
            <a:spAutoFit/>
          </a:bodyPr>
          <a:lstStyle/>
          <a:p>
            <a:pPr algn="ctr"/>
            <a:r>
              <a:rPr sz="2800" b="0">
                <a:solidFill>
                  <a:srgbClr val="1A1A2E"/>
                </a:solidFill>
                <a:latin typeface="メイリオ"/>
              </a:rPr>
              <a:t>📷</a:t>
            </a:r>
          </a:p>
        </p:txBody>
      </p:sp>
      <p:sp>
        <p:nvSpPr>
          <p:cNvPr id="35" name="TextBox 34"/>
          <p:cNvSpPr txBox="1"/>
          <p:nvPr/>
        </p:nvSpPr>
        <p:spPr>
          <a:xfrm>
            <a:off x="6035040" y="5715000"/>
            <a:ext cx="5605272" cy="411480"/>
          </a:xfrm>
          <a:prstGeom prst="rect">
            <a:avLst/>
          </a:prstGeom>
          <a:noFill/>
        </p:spPr>
        <p:txBody>
          <a:bodyPr wrap="square">
            <a:spAutoFit/>
          </a:bodyPr>
          <a:lstStyle/>
          <a:p>
            <a:pPr algn="ctr"/>
            <a:r>
              <a:rPr sz="1200" b="0">
                <a:solidFill>
                  <a:srgbClr val="445566"/>
                </a:solidFill>
                <a:latin typeface="メイリオ"/>
              </a:rPr>
              <a:t>【画像⑧】歩行補助具（T字杖・歩行器・ロフストランドクラッチ）の写真</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28016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80160"/>
            <a:ext cx="12188952" cy="73152"/>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353312"/>
            <a:ext cx="12188952" cy="5504688"/>
          </a:xfrm>
          <a:prstGeom prst="rect">
            <a:avLst/>
          </a:prstGeom>
          <a:solidFill>
            <a:srgbClr val="F5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37160"/>
            <a:ext cx="10515600" cy="822960"/>
          </a:xfrm>
          <a:prstGeom prst="rect">
            <a:avLst/>
          </a:prstGeom>
          <a:noFill/>
        </p:spPr>
        <p:txBody>
          <a:bodyPr wrap="square">
            <a:spAutoFit/>
          </a:bodyPr>
          <a:lstStyle/>
          <a:p>
            <a:pPr algn="l"/>
            <a:r>
              <a:rPr sz="2800" b="1">
                <a:solidFill>
                  <a:srgbClr val="FFFFFF"/>
                </a:solidFill>
                <a:latin typeface="メイリオ"/>
              </a:rPr>
              <a:t>歩行補助具の種類と特徴</a:t>
            </a:r>
          </a:p>
        </p:txBody>
      </p:sp>
      <p:sp>
        <p:nvSpPr>
          <p:cNvPr id="6" name="TextBox 5"/>
          <p:cNvSpPr txBox="1"/>
          <p:nvPr/>
        </p:nvSpPr>
        <p:spPr>
          <a:xfrm>
            <a:off x="365760" y="777240"/>
            <a:ext cx="9144000" cy="457200"/>
          </a:xfrm>
          <a:prstGeom prst="rect">
            <a:avLst/>
          </a:prstGeom>
          <a:noFill/>
        </p:spPr>
        <p:txBody>
          <a:bodyPr wrap="square">
            <a:spAutoFit/>
          </a:bodyPr>
          <a:lstStyle/>
          <a:p>
            <a:pPr algn="l"/>
            <a:r>
              <a:rPr sz="1400" b="0">
                <a:solidFill>
                  <a:srgbClr val="CCE5FF"/>
                </a:solidFill>
                <a:latin typeface="メイリオ"/>
              </a:rPr>
              <a:t>患者の状態に合った補助具を選択する</a:t>
            </a:r>
          </a:p>
        </p:txBody>
      </p:sp>
      <p:sp>
        <p:nvSpPr>
          <p:cNvPr id="7" name="TextBox 6"/>
          <p:cNvSpPr txBox="1"/>
          <p:nvPr/>
        </p:nvSpPr>
        <p:spPr>
          <a:xfrm>
            <a:off x="11155680" y="182880"/>
            <a:ext cx="822960" cy="457200"/>
          </a:xfrm>
          <a:prstGeom prst="rect">
            <a:avLst/>
          </a:prstGeom>
          <a:noFill/>
        </p:spPr>
        <p:txBody>
          <a:bodyPr wrap="square">
            <a:spAutoFit/>
          </a:bodyPr>
          <a:lstStyle/>
          <a:p>
            <a:pPr algn="r"/>
            <a:r>
              <a:rPr sz="1200" b="0">
                <a:solidFill>
                  <a:srgbClr val="AACCFF"/>
                </a:solidFill>
                <a:latin typeface="メイリオ"/>
              </a:rPr>
              <a:t>11 / 18</a:t>
            </a:r>
          </a:p>
        </p:txBody>
      </p:sp>
      <p:sp>
        <p:nvSpPr>
          <p:cNvPr id="8" name="Rectangle 7"/>
          <p:cNvSpPr/>
          <p:nvPr/>
        </p:nvSpPr>
        <p:spPr>
          <a:xfrm>
            <a:off x="320040" y="1508760"/>
            <a:ext cx="2743200" cy="502920"/>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59" y="1554480"/>
            <a:ext cx="2651760" cy="411480"/>
          </a:xfrm>
          <a:prstGeom prst="rect">
            <a:avLst/>
          </a:prstGeom>
          <a:noFill/>
        </p:spPr>
        <p:txBody>
          <a:bodyPr wrap="square">
            <a:spAutoFit/>
          </a:bodyPr>
          <a:lstStyle/>
          <a:p>
            <a:pPr algn="ctr"/>
            <a:r>
              <a:rPr sz="1300" b="1">
                <a:solidFill>
                  <a:srgbClr val="FFFFFF"/>
                </a:solidFill>
                <a:latin typeface="メイリオ"/>
              </a:rPr>
              <a:t>T字杖（ステッキ）</a:t>
            </a:r>
          </a:p>
        </p:txBody>
      </p:sp>
      <p:sp>
        <p:nvSpPr>
          <p:cNvPr id="10" name="Rectangle 9"/>
          <p:cNvSpPr/>
          <p:nvPr/>
        </p:nvSpPr>
        <p:spPr>
          <a:xfrm>
            <a:off x="320040" y="2011680"/>
            <a:ext cx="2743200" cy="1920240"/>
          </a:xfrm>
          <a:prstGeom prst="rect">
            <a:avLst/>
          </a:prstGeom>
          <a:solidFill>
            <a:srgbClr val="DDEAF5"/>
          </a:solidFill>
          <a:ln w="1905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417320" y="2651760"/>
            <a:ext cx="548640" cy="548640"/>
          </a:xfrm>
          <a:prstGeom prst="rect">
            <a:avLst/>
          </a:prstGeom>
          <a:noFill/>
        </p:spPr>
        <p:txBody>
          <a:bodyPr wrap="square">
            <a:spAutoFit/>
          </a:bodyPr>
          <a:lstStyle/>
          <a:p>
            <a:pPr algn="ctr"/>
            <a:r>
              <a:rPr sz="2800" b="0">
                <a:solidFill>
                  <a:srgbClr val="1A1A2E"/>
                </a:solidFill>
                <a:latin typeface="メイリオ"/>
              </a:rPr>
              <a:t>📷</a:t>
            </a:r>
          </a:p>
        </p:txBody>
      </p:sp>
      <p:sp>
        <p:nvSpPr>
          <p:cNvPr id="12" name="TextBox 11"/>
          <p:cNvSpPr txBox="1"/>
          <p:nvPr/>
        </p:nvSpPr>
        <p:spPr>
          <a:xfrm>
            <a:off x="411479" y="3474720"/>
            <a:ext cx="2560320" cy="411480"/>
          </a:xfrm>
          <a:prstGeom prst="rect">
            <a:avLst/>
          </a:prstGeom>
          <a:noFill/>
        </p:spPr>
        <p:txBody>
          <a:bodyPr wrap="square">
            <a:spAutoFit/>
          </a:bodyPr>
          <a:lstStyle/>
          <a:p>
            <a:pPr algn="ctr"/>
            <a:r>
              <a:rPr sz="1200" b="0">
                <a:solidFill>
                  <a:srgbClr val="445566"/>
                </a:solidFill>
                <a:latin typeface="メイリオ"/>
              </a:rPr>
              <a:t>【写真】T字杖（ステッキ）</a:t>
            </a:r>
          </a:p>
        </p:txBody>
      </p:sp>
      <p:sp>
        <p:nvSpPr>
          <p:cNvPr id="13" name="Rectangle 12"/>
          <p:cNvSpPr/>
          <p:nvPr/>
        </p:nvSpPr>
        <p:spPr>
          <a:xfrm>
            <a:off x="320040" y="3931920"/>
            <a:ext cx="2743200" cy="1920240"/>
          </a:xfrm>
          <a:prstGeom prst="rect">
            <a:avLst/>
          </a:prstGeom>
          <a:solidFill>
            <a:srgbClr val="FFFFFF"/>
          </a:solidFill>
          <a:ln w="1905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11479" y="4023360"/>
            <a:ext cx="2560320" cy="502920"/>
          </a:xfrm>
          <a:prstGeom prst="rect">
            <a:avLst/>
          </a:prstGeom>
          <a:noFill/>
        </p:spPr>
        <p:txBody>
          <a:bodyPr wrap="square">
            <a:spAutoFit/>
          </a:bodyPr>
          <a:lstStyle/>
          <a:p>
            <a:pPr algn="l"/>
            <a:r>
              <a:rPr sz="1300" b="0">
                <a:solidFill>
                  <a:srgbClr val="1A1A2E"/>
                </a:solidFill>
                <a:latin typeface="メイリオ"/>
              </a:rPr>
              <a:t>・軽度の歩行障害に適応</a:t>
            </a:r>
          </a:p>
        </p:txBody>
      </p:sp>
      <p:sp>
        <p:nvSpPr>
          <p:cNvPr id="15" name="TextBox 14"/>
          <p:cNvSpPr txBox="1"/>
          <p:nvPr/>
        </p:nvSpPr>
        <p:spPr>
          <a:xfrm>
            <a:off x="411479" y="4572000"/>
            <a:ext cx="2560320" cy="502920"/>
          </a:xfrm>
          <a:prstGeom prst="rect">
            <a:avLst/>
          </a:prstGeom>
          <a:noFill/>
        </p:spPr>
        <p:txBody>
          <a:bodyPr wrap="square">
            <a:spAutoFit/>
          </a:bodyPr>
          <a:lstStyle/>
          <a:p>
            <a:pPr algn="l"/>
            <a:r>
              <a:rPr sz="1300" b="0">
                <a:solidFill>
                  <a:srgbClr val="1A1A2E"/>
                </a:solidFill>
                <a:latin typeface="メイリオ"/>
              </a:rPr>
              <a:t>・健側で使用する</a:t>
            </a:r>
          </a:p>
        </p:txBody>
      </p:sp>
      <p:sp>
        <p:nvSpPr>
          <p:cNvPr id="16" name="TextBox 15"/>
          <p:cNvSpPr txBox="1"/>
          <p:nvPr/>
        </p:nvSpPr>
        <p:spPr>
          <a:xfrm>
            <a:off x="411479" y="5120640"/>
            <a:ext cx="2560320" cy="502920"/>
          </a:xfrm>
          <a:prstGeom prst="rect">
            <a:avLst/>
          </a:prstGeom>
          <a:noFill/>
        </p:spPr>
        <p:txBody>
          <a:bodyPr wrap="square">
            <a:spAutoFit/>
          </a:bodyPr>
          <a:lstStyle/>
          <a:p>
            <a:pPr algn="l"/>
            <a:r>
              <a:rPr sz="1300" b="0">
                <a:solidFill>
                  <a:srgbClr val="1A1A2E"/>
                </a:solidFill>
                <a:latin typeface="メイリオ"/>
              </a:rPr>
              <a:t>・4点杖より安定性は低い</a:t>
            </a:r>
          </a:p>
        </p:txBody>
      </p:sp>
      <p:sp>
        <p:nvSpPr>
          <p:cNvPr id="17" name="Rectangle 16"/>
          <p:cNvSpPr/>
          <p:nvPr/>
        </p:nvSpPr>
        <p:spPr>
          <a:xfrm>
            <a:off x="3246120" y="1508760"/>
            <a:ext cx="2743200" cy="50292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291840" y="1554480"/>
            <a:ext cx="2651760" cy="411480"/>
          </a:xfrm>
          <a:prstGeom prst="rect">
            <a:avLst/>
          </a:prstGeom>
          <a:noFill/>
        </p:spPr>
        <p:txBody>
          <a:bodyPr wrap="square">
            <a:spAutoFit/>
          </a:bodyPr>
          <a:lstStyle/>
          <a:p>
            <a:pPr algn="ctr"/>
            <a:r>
              <a:rPr sz="1300" b="1">
                <a:solidFill>
                  <a:srgbClr val="FFFFFF"/>
                </a:solidFill>
                <a:latin typeface="メイリオ"/>
              </a:rPr>
              <a:t>4点杖</a:t>
            </a:r>
          </a:p>
        </p:txBody>
      </p:sp>
      <p:sp>
        <p:nvSpPr>
          <p:cNvPr id="19" name="Rectangle 18"/>
          <p:cNvSpPr/>
          <p:nvPr/>
        </p:nvSpPr>
        <p:spPr>
          <a:xfrm>
            <a:off x="3246120" y="2011680"/>
            <a:ext cx="2743200" cy="1920240"/>
          </a:xfrm>
          <a:prstGeom prst="rect">
            <a:avLst/>
          </a:prstGeom>
          <a:solidFill>
            <a:srgbClr val="DDEAF5"/>
          </a:solidFill>
          <a:ln w="1905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343400" y="2651760"/>
            <a:ext cx="548640" cy="548640"/>
          </a:xfrm>
          <a:prstGeom prst="rect">
            <a:avLst/>
          </a:prstGeom>
          <a:noFill/>
        </p:spPr>
        <p:txBody>
          <a:bodyPr wrap="square">
            <a:spAutoFit/>
          </a:bodyPr>
          <a:lstStyle/>
          <a:p>
            <a:pPr algn="ctr"/>
            <a:r>
              <a:rPr sz="2800" b="0">
                <a:solidFill>
                  <a:srgbClr val="1A1A2E"/>
                </a:solidFill>
                <a:latin typeface="メイリオ"/>
              </a:rPr>
              <a:t>📷</a:t>
            </a:r>
          </a:p>
        </p:txBody>
      </p:sp>
      <p:sp>
        <p:nvSpPr>
          <p:cNvPr id="21" name="TextBox 20"/>
          <p:cNvSpPr txBox="1"/>
          <p:nvPr/>
        </p:nvSpPr>
        <p:spPr>
          <a:xfrm>
            <a:off x="3337560" y="3474720"/>
            <a:ext cx="2560320" cy="411480"/>
          </a:xfrm>
          <a:prstGeom prst="rect">
            <a:avLst/>
          </a:prstGeom>
          <a:noFill/>
        </p:spPr>
        <p:txBody>
          <a:bodyPr wrap="square">
            <a:spAutoFit/>
          </a:bodyPr>
          <a:lstStyle/>
          <a:p>
            <a:pPr algn="ctr"/>
            <a:r>
              <a:rPr sz="1200" b="0">
                <a:solidFill>
                  <a:srgbClr val="445566"/>
                </a:solidFill>
                <a:latin typeface="メイリオ"/>
              </a:rPr>
              <a:t>【写真】4点杖</a:t>
            </a:r>
          </a:p>
        </p:txBody>
      </p:sp>
      <p:sp>
        <p:nvSpPr>
          <p:cNvPr id="22" name="Rectangle 21"/>
          <p:cNvSpPr/>
          <p:nvPr/>
        </p:nvSpPr>
        <p:spPr>
          <a:xfrm>
            <a:off x="3246120" y="3931920"/>
            <a:ext cx="2743200" cy="1920240"/>
          </a:xfrm>
          <a:prstGeom prst="rect">
            <a:avLst/>
          </a:prstGeom>
          <a:solidFill>
            <a:srgbClr val="FFFFFF"/>
          </a:solidFill>
          <a:ln w="1905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337560" y="4023360"/>
            <a:ext cx="2560320" cy="502920"/>
          </a:xfrm>
          <a:prstGeom prst="rect">
            <a:avLst/>
          </a:prstGeom>
          <a:noFill/>
        </p:spPr>
        <p:txBody>
          <a:bodyPr wrap="square">
            <a:spAutoFit/>
          </a:bodyPr>
          <a:lstStyle/>
          <a:p>
            <a:pPr algn="l"/>
            <a:r>
              <a:rPr sz="1300" b="0">
                <a:solidFill>
                  <a:srgbClr val="1A1A2E"/>
                </a:solidFill>
                <a:latin typeface="メイリオ"/>
              </a:rPr>
              <a:t>・接地面が広く安定</a:t>
            </a:r>
          </a:p>
        </p:txBody>
      </p:sp>
      <p:sp>
        <p:nvSpPr>
          <p:cNvPr id="24" name="TextBox 23"/>
          <p:cNvSpPr txBox="1"/>
          <p:nvPr/>
        </p:nvSpPr>
        <p:spPr>
          <a:xfrm>
            <a:off x="3337560" y="4572000"/>
            <a:ext cx="2560320" cy="502920"/>
          </a:xfrm>
          <a:prstGeom prst="rect">
            <a:avLst/>
          </a:prstGeom>
          <a:noFill/>
        </p:spPr>
        <p:txBody>
          <a:bodyPr wrap="square">
            <a:spAutoFit/>
          </a:bodyPr>
          <a:lstStyle/>
          <a:p>
            <a:pPr algn="l"/>
            <a:r>
              <a:rPr sz="1300" b="0">
                <a:solidFill>
                  <a:srgbClr val="1A1A2E"/>
                </a:solidFill>
                <a:latin typeface="メイリオ"/>
              </a:rPr>
              <a:t>・片麻痺・バランス障害に有効</a:t>
            </a:r>
          </a:p>
        </p:txBody>
      </p:sp>
      <p:sp>
        <p:nvSpPr>
          <p:cNvPr id="25" name="TextBox 24"/>
          <p:cNvSpPr txBox="1"/>
          <p:nvPr/>
        </p:nvSpPr>
        <p:spPr>
          <a:xfrm>
            <a:off x="3337560" y="5120640"/>
            <a:ext cx="2560320" cy="502920"/>
          </a:xfrm>
          <a:prstGeom prst="rect">
            <a:avLst/>
          </a:prstGeom>
          <a:noFill/>
        </p:spPr>
        <p:txBody>
          <a:bodyPr wrap="square">
            <a:spAutoFit/>
          </a:bodyPr>
          <a:lstStyle/>
          <a:p>
            <a:pPr algn="l"/>
            <a:r>
              <a:rPr sz="1300" b="0">
                <a:solidFill>
                  <a:srgbClr val="1A1A2E"/>
                </a:solidFill>
                <a:latin typeface="メイリオ"/>
              </a:rPr>
              <a:t>・室内使用が主</a:t>
            </a:r>
          </a:p>
        </p:txBody>
      </p:sp>
      <p:sp>
        <p:nvSpPr>
          <p:cNvPr id="26" name="Rectangle 25"/>
          <p:cNvSpPr/>
          <p:nvPr/>
        </p:nvSpPr>
        <p:spPr>
          <a:xfrm>
            <a:off x="6172200" y="1508760"/>
            <a:ext cx="2743200" cy="5029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217920" y="1554480"/>
            <a:ext cx="2651760" cy="411480"/>
          </a:xfrm>
          <a:prstGeom prst="rect">
            <a:avLst/>
          </a:prstGeom>
          <a:noFill/>
        </p:spPr>
        <p:txBody>
          <a:bodyPr wrap="square">
            <a:spAutoFit/>
          </a:bodyPr>
          <a:lstStyle/>
          <a:p>
            <a:pPr algn="ctr"/>
            <a:r>
              <a:rPr sz="1300" b="1">
                <a:solidFill>
                  <a:srgbClr val="FFFFFF"/>
                </a:solidFill>
                <a:latin typeface="メイリオ"/>
              </a:rPr>
              <a:t>歩行器（固定型）</a:t>
            </a:r>
          </a:p>
        </p:txBody>
      </p:sp>
      <p:sp>
        <p:nvSpPr>
          <p:cNvPr id="28" name="Rectangle 27"/>
          <p:cNvSpPr/>
          <p:nvPr/>
        </p:nvSpPr>
        <p:spPr>
          <a:xfrm>
            <a:off x="6172200" y="2011680"/>
            <a:ext cx="2743200" cy="1920240"/>
          </a:xfrm>
          <a:prstGeom prst="rect">
            <a:avLst/>
          </a:prstGeom>
          <a:solidFill>
            <a:srgbClr val="DDEAF5"/>
          </a:solidFill>
          <a:ln w="1905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269480" y="2651760"/>
            <a:ext cx="548640" cy="548640"/>
          </a:xfrm>
          <a:prstGeom prst="rect">
            <a:avLst/>
          </a:prstGeom>
          <a:noFill/>
        </p:spPr>
        <p:txBody>
          <a:bodyPr wrap="square">
            <a:spAutoFit/>
          </a:bodyPr>
          <a:lstStyle/>
          <a:p>
            <a:pPr algn="ctr"/>
            <a:r>
              <a:rPr sz="2800" b="0">
                <a:solidFill>
                  <a:srgbClr val="1A1A2E"/>
                </a:solidFill>
                <a:latin typeface="メイリオ"/>
              </a:rPr>
              <a:t>📷</a:t>
            </a:r>
          </a:p>
        </p:txBody>
      </p:sp>
      <p:sp>
        <p:nvSpPr>
          <p:cNvPr id="30" name="TextBox 29"/>
          <p:cNvSpPr txBox="1"/>
          <p:nvPr/>
        </p:nvSpPr>
        <p:spPr>
          <a:xfrm>
            <a:off x="6263640" y="3474720"/>
            <a:ext cx="2560320" cy="411480"/>
          </a:xfrm>
          <a:prstGeom prst="rect">
            <a:avLst/>
          </a:prstGeom>
          <a:noFill/>
        </p:spPr>
        <p:txBody>
          <a:bodyPr wrap="square">
            <a:spAutoFit/>
          </a:bodyPr>
          <a:lstStyle/>
          <a:p>
            <a:pPr algn="ctr"/>
            <a:r>
              <a:rPr sz="1200" b="0">
                <a:solidFill>
                  <a:srgbClr val="445566"/>
                </a:solidFill>
                <a:latin typeface="メイリオ"/>
              </a:rPr>
              <a:t>【写真】歩行器（固定型）</a:t>
            </a:r>
          </a:p>
        </p:txBody>
      </p:sp>
      <p:sp>
        <p:nvSpPr>
          <p:cNvPr id="31" name="Rectangle 30"/>
          <p:cNvSpPr/>
          <p:nvPr/>
        </p:nvSpPr>
        <p:spPr>
          <a:xfrm>
            <a:off x="6172200" y="3931920"/>
            <a:ext cx="2743200" cy="1920240"/>
          </a:xfrm>
          <a:prstGeom prst="rect">
            <a:avLst/>
          </a:prstGeom>
          <a:solidFill>
            <a:srgbClr val="FFFFFF"/>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263640" y="4023360"/>
            <a:ext cx="2560320" cy="502920"/>
          </a:xfrm>
          <a:prstGeom prst="rect">
            <a:avLst/>
          </a:prstGeom>
          <a:noFill/>
        </p:spPr>
        <p:txBody>
          <a:bodyPr wrap="square">
            <a:spAutoFit/>
          </a:bodyPr>
          <a:lstStyle/>
          <a:p>
            <a:pPr algn="l"/>
            <a:r>
              <a:rPr sz="1300" b="0">
                <a:solidFill>
                  <a:srgbClr val="1A1A2E"/>
                </a:solidFill>
                <a:latin typeface="メイリオ"/>
              </a:rPr>
              <a:t>・前方支持で安定</a:t>
            </a:r>
          </a:p>
        </p:txBody>
      </p:sp>
      <p:sp>
        <p:nvSpPr>
          <p:cNvPr id="33" name="TextBox 32"/>
          <p:cNvSpPr txBox="1"/>
          <p:nvPr/>
        </p:nvSpPr>
        <p:spPr>
          <a:xfrm>
            <a:off x="6263640" y="4572000"/>
            <a:ext cx="2560320" cy="502920"/>
          </a:xfrm>
          <a:prstGeom prst="rect">
            <a:avLst/>
          </a:prstGeom>
          <a:noFill/>
        </p:spPr>
        <p:txBody>
          <a:bodyPr wrap="square">
            <a:spAutoFit/>
          </a:bodyPr>
          <a:lstStyle/>
          <a:p>
            <a:pPr algn="l"/>
            <a:r>
              <a:rPr sz="1300" b="0">
                <a:solidFill>
                  <a:srgbClr val="1A1A2E"/>
                </a:solidFill>
                <a:latin typeface="メイリオ"/>
              </a:rPr>
              <a:t>・両上肢に体重をかけられる</a:t>
            </a:r>
          </a:p>
        </p:txBody>
      </p:sp>
      <p:sp>
        <p:nvSpPr>
          <p:cNvPr id="34" name="TextBox 33"/>
          <p:cNvSpPr txBox="1"/>
          <p:nvPr/>
        </p:nvSpPr>
        <p:spPr>
          <a:xfrm>
            <a:off x="6263640" y="5120640"/>
            <a:ext cx="2560320" cy="502920"/>
          </a:xfrm>
          <a:prstGeom prst="rect">
            <a:avLst/>
          </a:prstGeom>
          <a:noFill/>
        </p:spPr>
        <p:txBody>
          <a:bodyPr wrap="square">
            <a:spAutoFit/>
          </a:bodyPr>
          <a:lstStyle/>
          <a:p>
            <a:pPr algn="l"/>
            <a:r>
              <a:rPr sz="1300" b="0">
                <a:solidFill>
                  <a:srgbClr val="1A1A2E"/>
                </a:solidFill>
                <a:latin typeface="メイリオ"/>
              </a:rPr>
              <a:t>・段差・屋外には不向き</a:t>
            </a:r>
          </a:p>
        </p:txBody>
      </p:sp>
      <p:sp>
        <p:nvSpPr>
          <p:cNvPr id="35" name="Rectangle 34"/>
          <p:cNvSpPr/>
          <p:nvPr/>
        </p:nvSpPr>
        <p:spPr>
          <a:xfrm>
            <a:off x="9098280" y="1508760"/>
            <a:ext cx="2743200" cy="50292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144000" y="1554480"/>
            <a:ext cx="2651760" cy="411480"/>
          </a:xfrm>
          <a:prstGeom prst="rect">
            <a:avLst/>
          </a:prstGeom>
          <a:noFill/>
        </p:spPr>
        <p:txBody>
          <a:bodyPr wrap="square">
            <a:spAutoFit/>
          </a:bodyPr>
          <a:lstStyle/>
          <a:p>
            <a:pPr algn="ctr"/>
            <a:r>
              <a:rPr sz="1300" b="1">
                <a:solidFill>
                  <a:srgbClr val="FFFFFF"/>
                </a:solidFill>
                <a:latin typeface="メイリオ"/>
              </a:rPr>
              <a:t>ロールウォーカー</a:t>
            </a:r>
          </a:p>
        </p:txBody>
      </p:sp>
      <p:sp>
        <p:nvSpPr>
          <p:cNvPr id="37" name="Rectangle 36"/>
          <p:cNvSpPr/>
          <p:nvPr/>
        </p:nvSpPr>
        <p:spPr>
          <a:xfrm>
            <a:off x="9098280" y="2011680"/>
            <a:ext cx="2743200" cy="1920240"/>
          </a:xfrm>
          <a:prstGeom prst="rect">
            <a:avLst/>
          </a:prstGeom>
          <a:solidFill>
            <a:srgbClr val="DDEAF5"/>
          </a:solidFill>
          <a:ln w="1905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0195560" y="2651760"/>
            <a:ext cx="548640" cy="548640"/>
          </a:xfrm>
          <a:prstGeom prst="rect">
            <a:avLst/>
          </a:prstGeom>
          <a:noFill/>
        </p:spPr>
        <p:txBody>
          <a:bodyPr wrap="square">
            <a:spAutoFit/>
          </a:bodyPr>
          <a:lstStyle/>
          <a:p>
            <a:pPr algn="ctr"/>
            <a:r>
              <a:rPr sz="2800" b="0">
                <a:solidFill>
                  <a:srgbClr val="1A1A2E"/>
                </a:solidFill>
                <a:latin typeface="メイリオ"/>
              </a:rPr>
              <a:t>📷</a:t>
            </a:r>
          </a:p>
        </p:txBody>
      </p:sp>
      <p:sp>
        <p:nvSpPr>
          <p:cNvPr id="39" name="TextBox 38"/>
          <p:cNvSpPr txBox="1"/>
          <p:nvPr/>
        </p:nvSpPr>
        <p:spPr>
          <a:xfrm>
            <a:off x="9189720" y="3474720"/>
            <a:ext cx="2560320" cy="411480"/>
          </a:xfrm>
          <a:prstGeom prst="rect">
            <a:avLst/>
          </a:prstGeom>
          <a:noFill/>
        </p:spPr>
        <p:txBody>
          <a:bodyPr wrap="square">
            <a:spAutoFit/>
          </a:bodyPr>
          <a:lstStyle/>
          <a:p>
            <a:pPr algn="ctr"/>
            <a:r>
              <a:rPr sz="1200" b="0">
                <a:solidFill>
                  <a:srgbClr val="445566"/>
                </a:solidFill>
                <a:latin typeface="メイリオ"/>
              </a:rPr>
              <a:t>【写真】ロールウォーカー</a:t>
            </a:r>
          </a:p>
        </p:txBody>
      </p:sp>
      <p:sp>
        <p:nvSpPr>
          <p:cNvPr id="40" name="Rectangle 39"/>
          <p:cNvSpPr/>
          <p:nvPr/>
        </p:nvSpPr>
        <p:spPr>
          <a:xfrm>
            <a:off x="9098280" y="3931920"/>
            <a:ext cx="2743200" cy="1920240"/>
          </a:xfrm>
          <a:prstGeom prst="rect">
            <a:avLst/>
          </a:prstGeom>
          <a:solidFill>
            <a:srgbClr val="FFFFFF"/>
          </a:solidFill>
          <a:ln w="1905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189720" y="4023360"/>
            <a:ext cx="2560320" cy="502920"/>
          </a:xfrm>
          <a:prstGeom prst="rect">
            <a:avLst/>
          </a:prstGeom>
          <a:noFill/>
        </p:spPr>
        <p:txBody>
          <a:bodyPr wrap="square">
            <a:spAutoFit/>
          </a:bodyPr>
          <a:lstStyle/>
          <a:p>
            <a:pPr algn="l"/>
            <a:r>
              <a:rPr sz="1300" b="0">
                <a:solidFill>
                  <a:srgbClr val="1A1A2E"/>
                </a:solidFill>
                <a:latin typeface="メイリオ"/>
              </a:rPr>
              <a:t>・車輪付きで歩きやすい</a:t>
            </a:r>
          </a:p>
        </p:txBody>
      </p:sp>
      <p:sp>
        <p:nvSpPr>
          <p:cNvPr id="42" name="TextBox 41"/>
          <p:cNvSpPr txBox="1"/>
          <p:nvPr/>
        </p:nvSpPr>
        <p:spPr>
          <a:xfrm>
            <a:off x="9189720" y="4572000"/>
            <a:ext cx="2560320" cy="502920"/>
          </a:xfrm>
          <a:prstGeom prst="rect">
            <a:avLst/>
          </a:prstGeom>
          <a:noFill/>
        </p:spPr>
        <p:txBody>
          <a:bodyPr wrap="square">
            <a:spAutoFit/>
          </a:bodyPr>
          <a:lstStyle/>
          <a:p>
            <a:pPr algn="l"/>
            <a:r>
              <a:rPr sz="1300" b="0">
                <a:solidFill>
                  <a:srgbClr val="1A1A2E"/>
                </a:solidFill>
                <a:latin typeface="メイリオ"/>
              </a:rPr>
              <a:t>・屋内外兼用可</a:t>
            </a:r>
          </a:p>
        </p:txBody>
      </p:sp>
      <p:sp>
        <p:nvSpPr>
          <p:cNvPr id="43" name="TextBox 42"/>
          <p:cNvSpPr txBox="1"/>
          <p:nvPr/>
        </p:nvSpPr>
        <p:spPr>
          <a:xfrm>
            <a:off x="9189720" y="5120640"/>
            <a:ext cx="2560320" cy="502920"/>
          </a:xfrm>
          <a:prstGeom prst="rect">
            <a:avLst/>
          </a:prstGeom>
          <a:noFill/>
        </p:spPr>
        <p:txBody>
          <a:bodyPr wrap="square">
            <a:spAutoFit/>
          </a:bodyPr>
          <a:lstStyle/>
          <a:p>
            <a:pPr algn="l"/>
            <a:r>
              <a:rPr sz="1300" b="0">
                <a:solidFill>
                  <a:srgbClr val="1A1A2E"/>
                </a:solidFill>
                <a:latin typeface="メイリオ"/>
              </a:rPr>
              <a:t>・ブレーキ操作を確認</a:t>
            </a:r>
          </a:p>
        </p:txBody>
      </p:sp>
      <p:sp>
        <p:nvSpPr>
          <p:cNvPr id="44" name="Rectangle 43"/>
          <p:cNvSpPr/>
          <p:nvPr/>
        </p:nvSpPr>
        <p:spPr>
          <a:xfrm>
            <a:off x="1371600" y="5943600"/>
            <a:ext cx="9445752" cy="54864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463040" y="5989320"/>
            <a:ext cx="9262872" cy="457200"/>
          </a:xfrm>
          <a:prstGeom prst="rect">
            <a:avLst/>
          </a:prstGeom>
          <a:noFill/>
        </p:spPr>
        <p:txBody>
          <a:bodyPr wrap="square">
            <a:spAutoFit/>
          </a:bodyPr>
          <a:lstStyle/>
          <a:p>
            <a:pPr algn="ctr"/>
            <a:r>
              <a:rPr sz="1400" b="1">
                <a:solidFill>
                  <a:srgbClr val="FFFFFF"/>
                </a:solidFill>
                <a:latin typeface="メイリオ"/>
              </a:rPr>
              <a:t>補助具の選択は理学療法士・主治医と連携して決定すること</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28016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80160"/>
            <a:ext cx="12188952" cy="73152"/>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353312"/>
            <a:ext cx="12188952" cy="5504688"/>
          </a:xfrm>
          <a:prstGeom prst="rect">
            <a:avLst/>
          </a:prstGeom>
          <a:solidFill>
            <a:srgbClr val="F5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37160"/>
            <a:ext cx="10515600" cy="822960"/>
          </a:xfrm>
          <a:prstGeom prst="rect">
            <a:avLst/>
          </a:prstGeom>
          <a:noFill/>
        </p:spPr>
        <p:txBody>
          <a:bodyPr wrap="square">
            <a:spAutoFit/>
          </a:bodyPr>
          <a:lstStyle/>
          <a:p>
            <a:pPr algn="l"/>
            <a:r>
              <a:rPr sz="2800" b="1">
                <a:solidFill>
                  <a:srgbClr val="FFFFFF"/>
                </a:solidFill>
                <a:latin typeface="メイリオ"/>
              </a:rPr>
              <a:t>全介助の移乗（2名介助）</a:t>
            </a:r>
          </a:p>
        </p:txBody>
      </p:sp>
      <p:sp>
        <p:nvSpPr>
          <p:cNvPr id="6" name="TextBox 5"/>
          <p:cNvSpPr txBox="1"/>
          <p:nvPr/>
        </p:nvSpPr>
        <p:spPr>
          <a:xfrm>
            <a:off x="365760" y="777240"/>
            <a:ext cx="9144000" cy="457200"/>
          </a:xfrm>
          <a:prstGeom prst="rect">
            <a:avLst/>
          </a:prstGeom>
          <a:noFill/>
        </p:spPr>
        <p:txBody>
          <a:bodyPr wrap="square">
            <a:spAutoFit/>
          </a:bodyPr>
          <a:lstStyle/>
          <a:p>
            <a:pPr algn="l"/>
            <a:r>
              <a:rPr sz="1400" b="0">
                <a:solidFill>
                  <a:srgbClr val="CCE5FF"/>
                </a:solidFill>
                <a:latin typeface="メイリオ"/>
              </a:rPr>
              <a:t>意識障害・全身脱力・重度障害患者への対応</a:t>
            </a:r>
          </a:p>
        </p:txBody>
      </p:sp>
      <p:sp>
        <p:nvSpPr>
          <p:cNvPr id="7" name="TextBox 6"/>
          <p:cNvSpPr txBox="1"/>
          <p:nvPr/>
        </p:nvSpPr>
        <p:spPr>
          <a:xfrm>
            <a:off x="11155680" y="182880"/>
            <a:ext cx="822960" cy="457200"/>
          </a:xfrm>
          <a:prstGeom prst="rect">
            <a:avLst/>
          </a:prstGeom>
          <a:noFill/>
        </p:spPr>
        <p:txBody>
          <a:bodyPr wrap="square">
            <a:spAutoFit/>
          </a:bodyPr>
          <a:lstStyle/>
          <a:p>
            <a:pPr algn="r"/>
            <a:r>
              <a:rPr sz="1200" b="0">
                <a:solidFill>
                  <a:srgbClr val="AACCFF"/>
                </a:solidFill>
                <a:latin typeface="メイリオ"/>
              </a:rPr>
              <a:t>12 / 18</a:t>
            </a:r>
          </a:p>
        </p:txBody>
      </p:sp>
      <p:sp>
        <p:nvSpPr>
          <p:cNvPr id="8" name="Rectangle 7"/>
          <p:cNvSpPr/>
          <p:nvPr/>
        </p:nvSpPr>
        <p:spPr>
          <a:xfrm>
            <a:off x="365760" y="1508760"/>
            <a:ext cx="11457432" cy="548640"/>
          </a:xfrm>
          <a:prstGeom prst="rect">
            <a:avLst/>
          </a:prstGeom>
          <a:solidFill>
            <a:srgbClr val="E84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1554480"/>
            <a:ext cx="11274552" cy="457200"/>
          </a:xfrm>
          <a:prstGeom prst="rect">
            <a:avLst/>
          </a:prstGeom>
          <a:noFill/>
        </p:spPr>
        <p:txBody>
          <a:bodyPr wrap="square">
            <a:spAutoFit/>
          </a:bodyPr>
          <a:lstStyle/>
          <a:p>
            <a:pPr algn="ctr"/>
            <a:r>
              <a:rPr sz="1500" b="1">
                <a:solidFill>
                  <a:srgbClr val="FFFFFF"/>
                </a:solidFill>
                <a:latin typeface="メイリオ"/>
              </a:rPr>
              <a:t>2名介助の適応：全介助患者 ／ 体重60kg以上 ／ 不安定な患者 ／ 初回移乗</a:t>
            </a:r>
          </a:p>
        </p:txBody>
      </p:sp>
      <p:sp>
        <p:nvSpPr>
          <p:cNvPr id="10" name="Rectangle 9"/>
          <p:cNvSpPr/>
          <p:nvPr/>
        </p:nvSpPr>
        <p:spPr>
          <a:xfrm>
            <a:off x="365760" y="2194560"/>
            <a:ext cx="5577840" cy="54864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2240280"/>
            <a:ext cx="5394960" cy="457200"/>
          </a:xfrm>
          <a:prstGeom prst="rect">
            <a:avLst/>
          </a:prstGeom>
          <a:noFill/>
        </p:spPr>
        <p:txBody>
          <a:bodyPr wrap="square">
            <a:spAutoFit/>
          </a:bodyPr>
          <a:lstStyle/>
          <a:p>
            <a:pPr algn="ctr"/>
            <a:r>
              <a:rPr sz="1700" b="1">
                <a:solidFill>
                  <a:srgbClr val="FFFFFF"/>
                </a:solidFill>
                <a:latin typeface="メイリオ"/>
              </a:rPr>
              <a:t>リーダー役（頭側）</a:t>
            </a:r>
          </a:p>
        </p:txBody>
      </p:sp>
      <p:sp>
        <p:nvSpPr>
          <p:cNvPr id="12" name="Rectangle 11"/>
          <p:cNvSpPr/>
          <p:nvPr/>
        </p:nvSpPr>
        <p:spPr>
          <a:xfrm>
            <a:off x="365760" y="2743200"/>
            <a:ext cx="5577840" cy="2560320"/>
          </a:xfrm>
          <a:prstGeom prst="rect">
            <a:avLst/>
          </a:prstGeom>
          <a:solidFill>
            <a:srgbClr val="FFFFFF"/>
          </a:solidFill>
          <a:ln w="1905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2834640"/>
            <a:ext cx="5303520" cy="530352"/>
          </a:xfrm>
          <a:prstGeom prst="rect">
            <a:avLst/>
          </a:prstGeom>
          <a:noFill/>
        </p:spPr>
        <p:txBody>
          <a:bodyPr wrap="square">
            <a:spAutoFit/>
          </a:bodyPr>
          <a:lstStyle/>
          <a:p>
            <a:pPr algn="l"/>
            <a:r>
              <a:rPr sz="1500" b="0">
                <a:solidFill>
                  <a:srgbClr val="1A1A2E"/>
                </a:solidFill>
                <a:latin typeface="メイリオ"/>
              </a:rPr>
              <a:t>✓  患者の上半身・頭頸部を支持</a:t>
            </a:r>
          </a:p>
        </p:txBody>
      </p:sp>
      <p:sp>
        <p:nvSpPr>
          <p:cNvPr id="14" name="TextBox 13"/>
          <p:cNvSpPr txBox="1"/>
          <p:nvPr/>
        </p:nvSpPr>
        <p:spPr>
          <a:xfrm>
            <a:off x="548640" y="3429000"/>
            <a:ext cx="5303520" cy="530352"/>
          </a:xfrm>
          <a:prstGeom prst="rect">
            <a:avLst/>
          </a:prstGeom>
          <a:noFill/>
        </p:spPr>
        <p:txBody>
          <a:bodyPr wrap="square">
            <a:spAutoFit/>
          </a:bodyPr>
          <a:lstStyle/>
          <a:p>
            <a:pPr algn="l"/>
            <a:r>
              <a:rPr sz="1500" b="0" dirty="0">
                <a:solidFill>
                  <a:srgbClr val="1A1A2E"/>
                </a:solidFill>
                <a:latin typeface="メイリオ"/>
              </a:rPr>
              <a:t>✓  </a:t>
            </a:r>
            <a:r>
              <a:rPr sz="1500" b="0" dirty="0" err="1">
                <a:solidFill>
                  <a:srgbClr val="1A1A2E"/>
                </a:solidFill>
                <a:latin typeface="メイリオ"/>
              </a:rPr>
              <a:t>声かけ・タイミングの指示を出す</a:t>
            </a:r>
            <a:endParaRPr sz="1500" b="0" dirty="0">
              <a:solidFill>
                <a:srgbClr val="1A1A2E"/>
              </a:solidFill>
              <a:latin typeface="メイリオ"/>
            </a:endParaRPr>
          </a:p>
        </p:txBody>
      </p:sp>
      <p:sp>
        <p:nvSpPr>
          <p:cNvPr id="15" name="TextBox 14"/>
          <p:cNvSpPr txBox="1"/>
          <p:nvPr/>
        </p:nvSpPr>
        <p:spPr>
          <a:xfrm>
            <a:off x="548640" y="4023360"/>
            <a:ext cx="5303520" cy="530352"/>
          </a:xfrm>
          <a:prstGeom prst="rect">
            <a:avLst/>
          </a:prstGeom>
          <a:noFill/>
        </p:spPr>
        <p:txBody>
          <a:bodyPr wrap="square">
            <a:spAutoFit/>
          </a:bodyPr>
          <a:lstStyle/>
          <a:p>
            <a:pPr algn="l"/>
            <a:r>
              <a:rPr sz="1500" b="0">
                <a:solidFill>
                  <a:srgbClr val="1A1A2E"/>
                </a:solidFill>
                <a:latin typeface="メイリオ"/>
              </a:rPr>
              <a:t>✓  「いちにのさん」で全員同時に動く</a:t>
            </a:r>
          </a:p>
        </p:txBody>
      </p:sp>
      <p:sp>
        <p:nvSpPr>
          <p:cNvPr id="16" name="TextBox 15"/>
          <p:cNvSpPr txBox="1"/>
          <p:nvPr/>
        </p:nvSpPr>
        <p:spPr>
          <a:xfrm>
            <a:off x="548640" y="4617720"/>
            <a:ext cx="5303520" cy="530352"/>
          </a:xfrm>
          <a:prstGeom prst="rect">
            <a:avLst/>
          </a:prstGeom>
          <a:noFill/>
        </p:spPr>
        <p:txBody>
          <a:bodyPr wrap="square">
            <a:spAutoFit/>
          </a:bodyPr>
          <a:lstStyle/>
          <a:p>
            <a:pPr algn="l"/>
            <a:r>
              <a:rPr sz="1500" b="0">
                <a:solidFill>
                  <a:srgbClr val="1A1A2E"/>
                </a:solidFill>
                <a:latin typeface="メイリオ"/>
              </a:rPr>
              <a:t>✓  気道・カテーテル類の安全を確認</a:t>
            </a:r>
          </a:p>
        </p:txBody>
      </p:sp>
      <p:sp>
        <p:nvSpPr>
          <p:cNvPr id="17" name="Rectangle 16"/>
          <p:cNvSpPr/>
          <p:nvPr/>
        </p:nvSpPr>
        <p:spPr>
          <a:xfrm>
            <a:off x="6309360" y="2194560"/>
            <a:ext cx="5577840" cy="548640"/>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0" y="2240280"/>
            <a:ext cx="5394960" cy="457200"/>
          </a:xfrm>
          <a:prstGeom prst="rect">
            <a:avLst/>
          </a:prstGeom>
          <a:noFill/>
        </p:spPr>
        <p:txBody>
          <a:bodyPr wrap="square">
            <a:spAutoFit/>
          </a:bodyPr>
          <a:lstStyle/>
          <a:p>
            <a:pPr algn="ctr"/>
            <a:r>
              <a:rPr sz="1700" b="1">
                <a:solidFill>
                  <a:srgbClr val="FFFFFF"/>
                </a:solidFill>
                <a:latin typeface="メイリオ"/>
              </a:rPr>
              <a:t>サポート役（足側）</a:t>
            </a:r>
          </a:p>
        </p:txBody>
      </p:sp>
      <p:sp>
        <p:nvSpPr>
          <p:cNvPr id="19" name="Rectangle 18"/>
          <p:cNvSpPr/>
          <p:nvPr/>
        </p:nvSpPr>
        <p:spPr>
          <a:xfrm>
            <a:off x="6309360" y="2743200"/>
            <a:ext cx="5577840" cy="2560320"/>
          </a:xfrm>
          <a:prstGeom prst="rect">
            <a:avLst/>
          </a:prstGeom>
          <a:solidFill>
            <a:srgbClr val="FFFFFF"/>
          </a:solidFill>
          <a:ln w="1905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92240" y="2834640"/>
            <a:ext cx="5303520" cy="530352"/>
          </a:xfrm>
          <a:prstGeom prst="rect">
            <a:avLst/>
          </a:prstGeom>
          <a:noFill/>
        </p:spPr>
        <p:txBody>
          <a:bodyPr wrap="square">
            <a:spAutoFit/>
          </a:bodyPr>
          <a:lstStyle/>
          <a:p>
            <a:pPr algn="l"/>
            <a:r>
              <a:rPr sz="1500" b="0">
                <a:solidFill>
                  <a:srgbClr val="1A1A2E"/>
                </a:solidFill>
                <a:latin typeface="メイリオ"/>
              </a:rPr>
              <a:t>✓  患者の下肢・臀部を支持</a:t>
            </a:r>
          </a:p>
        </p:txBody>
      </p:sp>
      <p:sp>
        <p:nvSpPr>
          <p:cNvPr id="21" name="TextBox 20"/>
          <p:cNvSpPr txBox="1"/>
          <p:nvPr/>
        </p:nvSpPr>
        <p:spPr>
          <a:xfrm>
            <a:off x="6492240" y="3429000"/>
            <a:ext cx="5303520" cy="530352"/>
          </a:xfrm>
          <a:prstGeom prst="rect">
            <a:avLst/>
          </a:prstGeom>
          <a:noFill/>
        </p:spPr>
        <p:txBody>
          <a:bodyPr wrap="square">
            <a:spAutoFit/>
          </a:bodyPr>
          <a:lstStyle/>
          <a:p>
            <a:pPr algn="l"/>
            <a:r>
              <a:rPr sz="1500" b="0">
                <a:solidFill>
                  <a:srgbClr val="1A1A2E"/>
                </a:solidFill>
                <a:latin typeface="メイリオ"/>
              </a:rPr>
              <a:t>✓  リーダーの指示に従う</a:t>
            </a:r>
          </a:p>
        </p:txBody>
      </p:sp>
      <p:sp>
        <p:nvSpPr>
          <p:cNvPr id="22" name="TextBox 21"/>
          <p:cNvSpPr txBox="1"/>
          <p:nvPr/>
        </p:nvSpPr>
        <p:spPr>
          <a:xfrm>
            <a:off x="6492240" y="4023360"/>
            <a:ext cx="5303520" cy="530352"/>
          </a:xfrm>
          <a:prstGeom prst="rect">
            <a:avLst/>
          </a:prstGeom>
          <a:noFill/>
        </p:spPr>
        <p:txBody>
          <a:bodyPr wrap="square">
            <a:spAutoFit/>
          </a:bodyPr>
          <a:lstStyle/>
          <a:p>
            <a:pPr algn="l"/>
            <a:r>
              <a:rPr sz="1500" b="0">
                <a:solidFill>
                  <a:srgbClr val="1A1A2E"/>
                </a:solidFill>
                <a:latin typeface="メイリオ"/>
              </a:rPr>
              <a:t>✓  足先から骨盤まで確実に保持</a:t>
            </a:r>
          </a:p>
        </p:txBody>
      </p:sp>
      <p:sp>
        <p:nvSpPr>
          <p:cNvPr id="23" name="TextBox 22"/>
          <p:cNvSpPr txBox="1"/>
          <p:nvPr/>
        </p:nvSpPr>
        <p:spPr>
          <a:xfrm>
            <a:off x="6492240" y="4617720"/>
            <a:ext cx="5303520" cy="530352"/>
          </a:xfrm>
          <a:prstGeom prst="rect">
            <a:avLst/>
          </a:prstGeom>
          <a:noFill/>
        </p:spPr>
        <p:txBody>
          <a:bodyPr wrap="square">
            <a:spAutoFit/>
          </a:bodyPr>
          <a:lstStyle/>
          <a:p>
            <a:pPr algn="l"/>
            <a:r>
              <a:rPr sz="1500" b="0">
                <a:solidFill>
                  <a:srgbClr val="1A1A2E"/>
                </a:solidFill>
                <a:latin typeface="メイリオ"/>
              </a:rPr>
              <a:t>✓  移動方向を確認してから動く</a:t>
            </a:r>
          </a:p>
        </p:txBody>
      </p:sp>
      <p:sp>
        <p:nvSpPr>
          <p:cNvPr id="24" name="Rectangle 23"/>
          <p:cNvSpPr/>
          <p:nvPr/>
        </p:nvSpPr>
        <p:spPr>
          <a:xfrm>
            <a:off x="365760" y="5394960"/>
            <a:ext cx="11457432" cy="868680"/>
          </a:xfrm>
          <a:prstGeom prst="rect">
            <a:avLst/>
          </a:prstGeom>
          <a:solidFill>
            <a:srgbClr val="DDEAF5"/>
          </a:solidFill>
          <a:ln w="1905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820156" y="5509260"/>
            <a:ext cx="548640" cy="548640"/>
          </a:xfrm>
          <a:prstGeom prst="rect">
            <a:avLst/>
          </a:prstGeom>
          <a:noFill/>
        </p:spPr>
        <p:txBody>
          <a:bodyPr wrap="square">
            <a:spAutoFit/>
          </a:bodyPr>
          <a:lstStyle/>
          <a:p>
            <a:pPr algn="ctr"/>
            <a:r>
              <a:rPr sz="2800" b="0">
                <a:solidFill>
                  <a:srgbClr val="1A1A2E"/>
                </a:solidFill>
                <a:latin typeface="メイリオ"/>
              </a:rPr>
              <a:t>📷</a:t>
            </a:r>
          </a:p>
        </p:txBody>
      </p:sp>
      <p:sp>
        <p:nvSpPr>
          <p:cNvPr id="26" name="TextBox 25"/>
          <p:cNvSpPr txBox="1"/>
          <p:nvPr/>
        </p:nvSpPr>
        <p:spPr>
          <a:xfrm>
            <a:off x="457200" y="5806440"/>
            <a:ext cx="11274552" cy="411480"/>
          </a:xfrm>
          <a:prstGeom prst="rect">
            <a:avLst/>
          </a:prstGeom>
          <a:noFill/>
        </p:spPr>
        <p:txBody>
          <a:bodyPr wrap="square">
            <a:spAutoFit/>
          </a:bodyPr>
          <a:lstStyle/>
          <a:p>
            <a:pPr algn="ctr"/>
            <a:r>
              <a:rPr sz="1200" b="0">
                <a:solidFill>
                  <a:srgbClr val="445566"/>
                </a:solidFill>
                <a:latin typeface="メイリオ"/>
              </a:rPr>
              <a:t>【画像⑨】2名介助でのベッド上移動・移乗イラスト（頭側・足側の持ち方）</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28016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80160"/>
            <a:ext cx="12188952" cy="73152"/>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353312"/>
            <a:ext cx="12188952" cy="5504688"/>
          </a:xfrm>
          <a:prstGeom prst="rect">
            <a:avLst/>
          </a:prstGeom>
          <a:solidFill>
            <a:srgbClr val="F5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37160"/>
            <a:ext cx="10515600" cy="822960"/>
          </a:xfrm>
          <a:prstGeom prst="rect">
            <a:avLst/>
          </a:prstGeom>
          <a:noFill/>
        </p:spPr>
        <p:txBody>
          <a:bodyPr wrap="square">
            <a:spAutoFit/>
          </a:bodyPr>
          <a:lstStyle/>
          <a:p>
            <a:pPr algn="l"/>
            <a:r>
              <a:rPr sz="2800" b="1">
                <a:solidFill>
                  <a:srgbClr val="FFFFFF"/>
                </a:solidFill>
                <a:latin typeface="メイリオ"/>
              </a:rPr>
              <a:t>体位変換（臥位での移動）</a:t>
            </a:r>
          </a:p>
        </p:txBody>
      </p:sp>
      <p:sp>
        <p:nvSpPr>
          <p:cNvPr id="6" name="TextBox 5"/>
          <p:cNvSpPr txBox="1"/>
          <p:nvPr/>
        </p:nvSpPr>
        <p:spPr>
          <a:xfrm>
            <a:off x="365760" y="777240"/>
            <a:ext cx="9144000" cy="457200"/>
          </a:xfrm>
          <a:prstGeom prst="rect">
            <a:avLst/>
          </a:prstGeom>
          <a:noFill/>
        </p:spPr>
        <p:txBody>
          <a:bodyPr wrap="square">
            <a:spAutoFit/>
          </a:bodyPr>
          <a:lstStyle/>
          <a:p>
            <a:pPr algn="l"/>
            <a:r>
              <a:rPr sz="1400" b="0">
                <a:solidFill>
                  <a:srgbClr val="CCE5FF"/>
                </a:solidFill>
                <a:latin typeface="メイリオ"/>
              </a:rPr>
              <a:t>褥瘡予防と安楽な体位管理</a:t>
            </a:r>
          </a:p>
        </p:txBody>
      </p:sp>
      <p:sp>
        <p:nvSpPr>
          <p:cNvPr id="7" name="TextBox 6"/>
          <p:cNvSpPr txBox="1"/>
          <p:nvPr/>
        </p:nvSpPr>
        <p:spPr>
          <a:xfrm>
            <a:off x="11155680" y="182880"/>
            <a:ext cx="822960" cy="457200"/>
          </a:xfrm>
          <a:prstGeom prst="rect">
            <a:avLst/>
          </a:prstGeom>
          <a:noFill/>
        </p:spPr>
        <p:txBody>
          <a:bodyPr wrap="square">
            <a:spAutoFit/>
          </a:bodyPr>
          <a:lstStyle/>
          <a:p>
            <a:pPr algn="r"/>
            <a:r>
              <a:rPr sz="1200" b="0">
                <a:solidFill>
                  <a:srgbClr val="AACCFF"/>
                </a:solidFill>
                <a:latin typeface="メイリオ"/>
              </a:rPr>
              <a:t>13 / 18</a:t>
            </a:r>
          </a:p>
        </p:txBody>
      </p:sp>
      <p:sp>
        <p:nvSpPr>
          <p:cNvPr id="8" name="Rectangle 7"/>
          <p:cNvSpPr/>
          <p:nvPr/>
        </p:nvSpPr>
        <p:spPr>
          <a:xfrm>
            <a:off x="365760" y="1508760"/>
            <a:ext cx="11457432" cy="548640"/>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1554480"/>
            <a:ext cx="11247120" cy="457200"/>
          </a:xfrm>
          <a:prstGeom prst="rect">
            <a:avLst/>
          </a:prstGeom>
          <a:noFill/>
        </p:spPr>
        <p:txBody>
          <a:bodyPr wrap="square">
            <a:spAutoFit/>
          </a:bodyPr>
          <a:lstStyle/>
          <a:p>
            <a:pPr algn="l"/>
            <a:r>
              <a:rPr sz="1500" b="1">
                <a:solidFill>
                  <a:srgbClr val="856504"/>
                </a:solidFill>
                <a:latin typeface="メイリオ"/>
              </a:rPr>
              <a:t>体位変換は原則2時間ごと。骨突出部（仙骨・踵・大転子等）への圧迫を避けること</a:t>
            </a:r>
          </a:p>
        </p:txBody>
      </p:sp>
      <p:sp>
        <p:nvSpPr>
          <p:cNvPr id="10" name="Rectangle 9"/>
          <p:cNvSpPr/>
          <p:nvPr/>
        </p:nvSpPr>
        <p:spPr>
          <a:xfrm>
            <a:off x="365760" y="2148840"/>
            <a:ext cx="2743200" cy="1737360"/>
          </a:xfrm>
          <a:prstGeom prst="rect">
            <a:avLst/>
          </a:prstGeom>
          <a:solidFill>
            <a:srgbClr val="DDEAF5"/>
          </a:solidFill>
          <a:ln w="1905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463039" y="2697479"/>
            <a:ext cx="548640" cy="548640"/>
          </a:xfrm>
          <a:prstGeom prst="rect">
            <a:avLst/>
          </a:prstGeom>
          <a:noFill/>
        </p:spPr>
        <p:txBody>
          <a:bodyPr wrap="square">
            <a:spAutoFit/>
          </a:bodyPr>
          <a:lstStyle/>
          <a:p>
            <a:pPr algn="ctr"/>
            <a:r>
              <a:rPr sz="2800" b="0">
                <a:solidFill>
                  <a:srgbClr val="1A1A2E"/>
                </a:solidFill>
                <a:latin typeface="メイリオ"/>
              </a:rPr>
              <a:t>📷</a:t>
            </a:r>
          </a:p>
        </p:txBody>
      </p:sp>
      <p:sp>
        <p:nvSpPr>
          <p:cNvPr id="12" name="TextBox 11"/>
          <p:cNvSpPr txBox="1"/>
          <p:nvPr/>
        </p:nvSpPr>
        <p:spPr>
          <a:xfrm>
            <a:off x="457200" y="3429000"/>
            <a:ext cx="2560320" cy="411480"/>
          </a:xfrm>
          <a:prstGeom prst="rect">
            <a:avLst/>
          </a:prstGeom>
          <a:noFill/>
        </p:spPr>
        <p:txBody>
          <a:bodyPr wrap="square">
            <a:spAutoFit/>
          </a:bodyPr>
          <a:lstStyle/>
          <a:p>
            <a:pPr algn="ctr"/>
            <a:r>
              <a:rPr sz="1200" b="0">
                <a:solidFill>
                  <a:srgbClr val="445566"/>
                </a:solidFill>
                <a:latin typeface="メイリオ"/>
              </a:rPr>
              <a:t>【画像⑩-1】仰臥位
（あお向け）の姿勢写真</a:t>
            </a:r>
          </a:p>
        </p:txBody>
      </p:sp>
      <p:sp>
        <p:nvSpPr>
          <p:cNvPr id="13" name="Rectangle 12"/>
          <p:cNvSpPr/>
          <p:nvPr/>
        </p:nvSpPr>
        <p:spPr>
          <a:xfrm>
            <a:off x="365760" y="3886200"/>
            <a:ext cx="2743200" cy="45720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5760" y="3913632"/>
            <a:ext cx="2743200" cy="411480"/>
          </a:xfrm>
          <a:prstGeom prst="rect">
            <a:avLst/>
          </a:prstGeom>
          <a:noFill/>
        </p:spPr>
        <p:txBody>
          <a:bodyPr wrap="square">
            <a:spAutoFit/>
          </a:bodyPr>
          <a:lstStyle/>
          <a:p>
            <a:pPr algn="ctr"/>
            <a:r>
              <a:rPr sz="1400" b="1">
                <a:solidFill>
                  <a:srgbClr val="FFFFFF"/>
                </a:solidFill>
                <a:latin typeface="メイリオ"/>
              </a:rPr>
              <a:t>仰臥位
（あお向け）</a:t>
            </a:r>
          </a:p>
        </p:txBody>
      </p:sp>
      <p:sp>
        <p:nvSpPr>
          <p:cNvPr id="15" name="Rectangle 14"/>
          <p:cNvSpPr/>
          <p:nvPr/>
        </p:nvSpPr>
        <p:spPr>
          <a:xfrm>
            <a:off x="365760" y="4343400"/>
            <a:ext cx="2743200" cy="822960"/>
          </a:xfrm>
          <a:prstGeom prst="rect">
            <a:avLst/>
          </a:prstGeom>
          <a:solidFill>
            <a:srgbClr val="FFFFFF"/>
          </a:solidFill>
          <a:ln w="1270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4389120"/>
            <a:ext cx="2560320" cy="731520"/>
          </a:xfrm>
          <a:prstGeom prst="rect">
            <a:avLst/>
          </a:prstGeom>
          <a:noFill/>
        </p:spPr>
        <p:txBody>
          <a:bodyPr wrap="square">
            <a:spAutoFit/>
          </a:bodyPr>
          <a:lstStyle/>
          <a:p>
            <a:pPr algn="l"/>
            <a:r>
              <a:rPr sz="1300" b="0">
                <a:solidFill>
                  <a:srgbClr val="1A1A2E"/>
                </a:solidFill>
                <a:latin typeface="メイリオ"/>
              </a:rPr>
              <a:t>最も基本の体位
踵・仙骨の圧迫に注意</a:t>
            </a:r>
          </a:p>
        </p:txBody>
      </p:sp>
      <p:sp>
        <p:nvSpPr>
          <p:cNvPr id="17" name="Rectangle 16"/>
          <p:cNvSpPr/>
          <p:nvPr/>
        </p:nvSpPr>
        <p:spPr>
          <a:xfrm>
            <a:off x="3291840" y="2148840"/>
            <a:ext cx="2743200" cy="1737360"/>
          </a:xfrm>
          <a:prstGeom prst="rect">
            <a:avLst/>
          </a:prstGeom>
          <a:solidFill>
            <a:srgbClr val="DDEAF5"/>
          </a:solidFill>
          <a:ln w="1905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389120" y="2697479"/>
            <a:ext cx="548640" cy="548640"/>
          </a:xfrm>
          <a:prstGeom prst="rect">
            <a:avLst/>
          </a:prstGeom>
          <a:noFill/>
        </p:spPr>
        <p:txBody>
          <a:bodyPr wrap="square">
            <a:spAutoFit/>
          </a:bodyPr>
          <a:lstStyle/>
          <a:p>
            <a:pPr algn="ctr"/>
            <a:r>
              <a:rPr sz="2800" b="0">
                <a:solidFill>
                  <a:srgbClr val="1A1A2E"/>
                </a:solidFill>
                <a:latin typeface="メイリオ"/>
              </a:rPr>
              <a:t>📷</a:t>
            </a:r>
          </a:p>
        </p:txBody>
      </p:sp>
      <p:sp>
        <p:nvSpPr>
          <p:cNvPr id="19" name="TextBox 18"/>
          <p:cNvSpPr txBox="1"/>
          <p:nvPr/>
        </p:nvSpPr>
        <p:spPr>
          <a:xfrm>
            <a:off x="3383280" y="3429000"/>
            <a:ext cx="2560320" cy="411480"/>
          </a:xfrm>
          <a:prstGeom prst="rect">
            <a:avLst/>
          </a:prstGeom>
          <a:noFill/>
        </p:spPr>
        <p:txBody>
          <a:bodyPr wrap="square">
            <a:spAutoFit/>
          </a:bodyPr>
          <a:lstStyle/>
          <a:p>
            <a:pPr algn="ctr"/>
            <a:r>
              <a:rPr sz="1200" b="0">
                <a:solidFill>
                  <a:srgbClr val="445566"/>
                </a:solidFill>
                <a:latin typeface="メイリオ"/>
              </a:rPr>
              <a:t>【画像⑩-2】側臥位
（横向き）の姿勢写真</a:t>
            </a:r>
          </a:p>
        </p:txBody>
      </p:sp>
      <p:sp>
        <p:nvSpPr>
          <p:cNvPr id="20" name="Rectangle 19"/>
          <p:cNvSpPr/>
          <p:nvPr/>
        </p:nvSpPr>
        <p:spPr>
          <a:xfrm>
            <a:off x="3291840" y="3886200"/>
            <a:ext cx="2743200" cy="45720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291840" y="3913632"/>
            <a:ext cx="2743200" cy="411480"/>
          </a:xfrm>
          <a:prstGeom prst="rect">
            <a:avLst/>
          </a:prstGeom>
          <a:noFill/>
        </p:spPr>
        <p:txBody>
          <a:bodyPr wrap="square">
            <a:spAutoFit/>
          </a:bodyPr>
          <a:lstStyle/>
          <a:p>
            <a:pPr algn="ctr"/>
            <a:r>
              <a:rPr sz="1400" b="1">
                <a:solidFill>
                  <a:srgbClr val="FFFFFF"/>
                </a:solidFill>
                <a:latin typeface="メイリオ"/>
              </a:rPr>
              <a:t>側臥位
（横向き）</a:t>
            </a:r>
          </a:p>
        </p:txBody>
      </p:sp>
      <p:sp>
        <p:nvSpPr>
          <p:cNvPr id="22" name="Rectangle 21"/>
          <p:cNvSpPr/>
          <p:nvPr/>
        </p:nvSpPr>
        <p:spPr>
          <a:xfrm>
            <a:off x="3291840" y="4343400"/>
            <a:ext cx="2743200" cy="822960"/>
          </a:xfrm>
          <a:prstGeom prst="rect">
            <a:avLst/>
          </a:prstGeom>
          <a:solidFill>
            <a:srgbClr val="FFFFFF"/>
          </a:solidFill>
          <a:ln w="1270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383280" y="4389120"/>
            <a:ext cx="2560320" cy="731520"/>
          </a:xfrm>
          <a:prstGeom prst="rect">
            <a:avLst/>
          </a:prstGeom>
          <a:noFill/>
        </p:spPr>
        <p:txBody>
          <a:bodyPr wrap="square">
            <a:spAutoFit/>
          </a:bodyPr>
          <a:lstStyle/>
          <a:p>
            <a:pPr algn="l"/>
            <a:r>
              <a:rPr sz="1300" b="0">
                <a:solidFill>
                  <a:srgbClr val="1A1A2E"/>
                </a:solidFill>
                <a:latin typeface="メイリオ"/>
              </a:rPr>
              <a:t>30°傾けが理想
クッションで保持</a:t>
            </a:r>
          </a:p>
        </p:txBody>
      </p:sp>
      <p:sp>
        <p:nvSpPr>
          <p:cNvPr id="24" name="Rectangle 23"/>
          <p:cNvSpPr/>
          <p:nvPr/>
        </p:nvSpPr>
        <p:spPr>
          <a:xfrm>
            <a:off x="6217920" y="2148840"/>
            <a:ext cx="2743200" cy="1737360"/>
          </a:xfrm>
          <a:prstGeom prst="rect">
            <a:avLst/>
          </a:prstGeom>
          <a:solidFill>
            <a:srgbClr val="DDEAF5"/>
          </a:solidFill>
          <a:ln w="1905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15200" y="2697479"/>
            <a:ext cx="548640" cy="548640"/>
          </a:xfrm>
          <a:prstGeom prst="rect">
            <a:avLst/>
          </a:prstGeom>
          <a:noFill/>
        </p:spPr>
        <p:txBody>
          <a:bodyPr wrap="square">
            <a:spAutoFit/>
          </a:bodyPr>
          <a:lstStyle/>
          <a:p>
            <a:pPr algn="ctr"/>
            <a:r>
              <a:rPr sz="2800" b="0">
                <a:solidFill>
                  <a:srgbClr val="1A1A2E"/>
                </a:solidFill>
                <a:latin typeface="メイリオ"/>
              </a:rPr>
              <a:t>📷</a:t>
            </a:r>
          </a:p>
        </p:txBody>
      </p:sp>
      <p:sp>
        <p:nvSpPr>
          <p:cNvPr id="26" name="TextBox 25"/>
          <p:cNvSpPr txBox="1"/>
          <p:nvPr/>
        </p:nvSpPr>
        <p:spPr>
          <a:xfrm>
            <a:off x="6309360" y="3429000"/>
            <a:ext cx="2560320" cy="411480"/>
          </a:xfrm>
          <a:prstGeom prst="rect">
            <a:avLst/>
          </a:prstGeom>
          <a:noFill/>
        </p:spPr>
        <p:txBody>
          <a:bodyPr wrap="square">
            <a:spAutoFit/>
          </a:bodyPr>
          <a:lstStyle/>
          <a:p>
            <a:pPr algn="ctr"/>
            <a:r>
              <a:rPr sz="1200" b="0">
                <a:solidFill>
                  <a:srgbClr val="445566"/>
                </a:solidFill>
                <a:latin typeface="メイリオ"/>
              </a:rPr>
              <a:t>【画像⑩-3】半座位
（ファウラー位）の姿勢写真</a:t>
            </a:r>
          </a:p>
        </p:txBody>
      </p:sp>
      <p:sp>
        <p:nvSpPr>
          <p:cNvPr id="27" name="Rectangle 26"/>
          <p:cNvSpPr/>
          <p:nvPr/>
        </p:nvSpPr>
        <p:spPr>
          <a:xfrm>
            <a:off x="6217920" y="3886200"/>
            <a:ext cx="2743200" cy="45720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217920" y="3913632"/>
            <a:ext cx="2743200" cy="411480"/>
          </a:xfrm>
          <a:prstGeom prst="rect">
            <a:avLst/>
          </a:prstGeom>
          <a:noFill/>
        </p:spPr>
        <p:txBody>
          <a:bodyPr wrap="square">
            <a:spAutoFit/>
          </a:bodyPr>
          <a:lstStyle/>
          <a:p>
            <a:pPr algn="ctr"/>
            <a:r>
              <a:rPr sz="1400" b="1">
                <a:solidFill>
                  <a:srgbClr val="FFFFFF"/>
                </a:solidFill>
                <a:latin typeface="メイリオ"/>
              </a:rPr>
              <a:t>半座位
（ファウラー位）</a:t>
            </a:r>
          </a:p>
        </p:txBody>
      </p:sp>
      <p:sp>
        <p:nvSpPr>
          <p:cNvPr id="29" name="Rectangle 28"/>
          <p:cNvSpPr/>
          <p:nvPr/>
        </p:nvSpPr>
        <p:spPr>
          <a:xfrm>
            <a:off x="6217920" y="4343400"/>
            <a:ext cx="2743200" cy="822960"/>
          </a:xfrm>
          <a:prstGeom prst="rect">
            <a:avLst/>
          </a:prstGeom>
          <a:solidFill>
            <a:srgbClr val="FFFFFF"/>
          </a:solidFill>
          <a:ln w="1270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309360" y="4389120"/>
            <a:ext cx="2560320" cy="731520"/>
          </a:xfrm>
          <a:prstGeom prst="rect">
            <a:avLst/>
          </a:prstGeom>
          <a:noFill/>
        </p:spPr>
        <p:txBody>
          <a:bodyPr wrap="square">
            <a:spAutoFit/>
          </a:bodyPr>
          <a:lstStyle/>
          <a:p>
            <a:pPr algn="l"/>
            <a:r>
              <a:rPr sz="1300" b="0">
                <a:solidFill>
                  <a:srgbClr val="1A1A2E"/>
                </a:solidFill>
                <a:latin typeface="メイリオ"/>
              </a:rPr>
              <a:t>床頭台15〜45°
誤嚥予防に有効</a:t>
            </a:r>
          </a:p>
        </p:txBody>
      </p:sp>
      <p:sp>
        <p:nvSpPr>
          <p:cNvPr id="31" name="Rectangle 30"/>
          <p:cNvSpPr/>
          <p:nvPr/>
        </p:nvSpPr>
        <p:spPr>
          <a:xfrm>
            <a:off x="9144000" y="2148840"/>
            <a:ext cx="2743200" cy="1737360"/>
          </a:xfrm>
          <a:prstGeom prst="rect">
            <a:avLst/>
          </a:prstGeom>
          <a:solidFill>
            <a:srgbClr val="DDEAF5"/>
          </a:solidFill>
          <a:ln w="1905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241280" y="2697479"/>
            <a:ext cx="548640" cy="548640"/>
          </a:xfrm>
          <a:prstGeom prst="rect">
            <a:avLst/>
          </a:prstGeom>
          <a:noFill/>
        </p:spPr>
        <p:txBody>
          <a:bodyPr wrap="square">
            <a:spAutoFit/>
          </a:bodyPr>
          <a:lstStyle/>
          <a:p>
            <a:pPr algn="ctr"/>
            <a:r>
              <a:rPr sz="2800" b="0">
                <a:solidFill>
                  <a:srgbClr val="1A1A2E"/>
                </a:solidFill>
                <a:latin typeface="メイリオ"/>
              </a:rPr>
              <a:t>📷</a:t>
            </a:r>
          </a:p>
        </p:txBody>
      </p:sp>
      <p:sp>
        <p:nvSpPr>
          <p:cNvPr id="33" name="TextBox 32"/>
          <p:cNvSpPr txBox="1"/>
          <p:nvPr/>
        </p:nvSpPr>
        <p:spPr>
          <a:xfrm>
            <a:off x="9235440" y="3429000"/>
            <a:ext cx="2560320" cy="411480"/>
          </a:xfrm>
          <a:prstGeom prst="rect">
            <a:avLst/>
          </a:prstGeom>
          <a:noFill/>
        </p:spPr>
        <p:txBody>
          <a:bodyPr wrap="square">
            <a:spAutoFit/>
          </a:bodyPr>
          <a:lstStyle/>
          <a:p>
            <a:pPr algn="ctr"/>
            <a:r>
              <a:rPr sz="1200" b="0">
                <a:solidFill>
                  <a:srgbClr val="445566"/>
                </a:solidFill>
                <a:latin typeface="メイリオ"/>
              </a:rPr>
              <a:t>【画像⑩-4】腹臥位
（うつぶせ）の姿勢写真</a:t>
            </a:r>
          </a:p>
        </p:txBody>
      </p:sp>
      <p:sp>
        <p:nvSpPr>
          <p:cNvPr id="34" name="Rectangle 33"/>
          <p:cNvSpPr/>
          <p:nvPr/>
        </p:nvSpPr>
        <p:spPr>
          <a:xfrm>
            <a:off x="9144000" y="3886200"/>
            <a:ext cx="2743200" cy="45720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144000" y="3913632"/>
            <a:ext cx="2743200" cy="411480"/>
          </a:xfrm>
          <a:prstGeom prst="rect">
            <a:avLst/>
          </a:prstGeom>
          <a:noFill/>
        </p:spPr>
        <p:txBody>
          <a:bodyPr wrap="square">
            <a:spAutoFit/>
          </a:bodyPr>
          <a:lstStyle/>
          <a:p>
            <a:pPr algn="ctr"/>
            <a:r>
              <a:rPr sz="1400" b="1">
                <a:solidFill>
                  <a:srgbClr val="FFFFFF"/>
                </a:solidFill>
                <a:latin typeface="メイリオ"/>
              </a:rPr>
              <a:t>腹臥位
（うつぶせ）</a:t>
            </a:r>
          </a:p>
        </p:txBody>
      </p:sp>
      <p:sp>
        <p:nvSpPr>
          <p:cNvPr id="36" name="Rectangle 35"/>
          <p:cNvSpPr/>
          <p:nvPr/>
        </p:nvSpPr>
        <p:spPr>
          <a:xfrm>
            <a:off x="9144000" y="4343400"/>
            <a:ext cx="2743200" cy="822960"/>
          </a:xfrm>
          <a:prstGeom prst="rect">
            <a:avLst/>
          </a:prstGeom>
          <a:solidFill>
            <a:srgbClr val="FFFFFF"/>
          </a:solidFill>
          <a:ln w="1270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235440" y="4389120"/>
            <a:ext cx="2560320" cy="731520"/>
          </a:xfrm>
          <a:prstGeom prst="rect">
            <a:avLst/>
          </a:prstGeom>
          <a:noFill/>
        </p:spPr>
        <p:txBody>
          <a:bodyPr wrap="square">
            <a:spAutoFit/>
          </a:bodyPr>
          <a:lstStyle/>
          <a:p>
            <a:pPr algn="l"/>
            <a:r>
              <a:rPr sz="1300" b="0">
                <a:solidFill>
                  <a:srgbClr val="1A1A2E"/>
                </a:solidFill>
                <a:latin typeface="メイリオ"/>
              </a:rPr>
              <a:t>呼吸改善に有効
顔・腹部の圧迫注意</a:t>
            </a:r>
          </a:p>
        </p:txBody>
      </p:sp>
      <p:sp>
        <p:nvSpPr>
          <p:cNvPr id="38" name="Rectangle 37"/>
          <p:cNvSpPr/>
          <p:nvPr/>
        </p:nvSpPr>
        <p:spPr>
          <a:xfrm>
            <a:off x="1371600" y="5257800"/>
            <a:ext cx="9445752" cy="548640"/>
          </a:xfrm>
          <a:prstGeom prst="rect">
            <a:avLst/>
          </a:prstGeom>
          <a:solidFill>
            <a:srgbClr val="E84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463040" y="5303520"/>
            <a:ext cx="9262872" cy="457200"/>
          </a:xfrm>
          <a:prstGeom prst="rect">
            <a:avLst/>
          </a:prstGeom>
          <a:noFill/>
        </p:spPr>
        <p:txBody>
          <a:bodyPr wrap="square">
            <a:spAutoFit/>
          </a:bodyPr>
          <a:lstStyle/>
          <a:p>
            <a:pPr algn="ctr"/>
            <a:r>
              <a:rPr sz="1400" b="1">
                <a:solidFill>
                  <a:srgbClr val="FFFFFF"/>
                </a:solidFill>
                <a:latin typeface="メイリオ"/>
              </a:rPr>
              <a:t>体位変換のたびに皮膚状態・褥瘡チェックを必ず実施！</a:t>
            </a:r>
          </a:p>
        </p:txBody>
      </p:sp>
      <p:sp>
        <p:nvSpPr>
          <p:cNvPr id="40" name="TextBox 39"/>
          <p:cNvSpPr txBox="1"/>
          <p:nvPr/>
        </p:nvSpPr>
        <p:spPr>
          <a:xfrm>
            <a:off x="457200" y="5870448"/>
            <a:ext cx="11274552" cy="411480"/>
          </a:xfrm>
          <a:prstGeom prst="rect">
            <a:avLst/>
          </a:prstGeom>
          <a:noFill/>
        </p:spPr>
        <p:txBody>
          <a:bodyPr wrap="square">
            <a:spAutoFit/>
          </a:bodyPr>
          <a:lstStyle/>
          <a:p>
            <a:pPr algn="ctr"/>
            <a:r>
              <a:rPr sz="1400" b="0">
                <a:solidFill>
                  <a:srgbClr val="005B99"/>
                </a:solidFill>
                <a:latin typeface="メイリオ"/>
              </a:rPr>
              <a:t>◎ポジショニングクッションを活用し骨突出部への圧迫を分散させましょう</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28016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80160"/>
            <a:ext cx="12188952" cy="73152"/>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353312"/>
            <a:ext cx="12188952" cy="5504688"/>
          </a:xfrm>
          <a:prstGeom prst="rect">
            <a:avLst/>
          </a:prstGeom>
          <a:solidFill>
            <a:srgbClr val="F5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37160"/>
            <a:ext cx="10515600" cy="822960"/>
          </a:xfrm>
          <a:prstGeom prst="rect">
            <a:avLst/>
          </a:prstGeom>
          <a:noFill/>
        </p:spPr>
        <p:txBody>
          <a:bodyPr wrap="square">
            <a:spAutoFit/>
          </a:bodyPr>
          <a:lstStyle/>
          <a:p>
            <a:pPr algn="l"/>
            <a:r>
              <a:rPr sz="2800" b="1">
                <a:solidFill>
                  <a:srgbClr val="FFFFFF"/>
                </a:solidFill>
                <a:latin typeface="メイリオ"/>
              </a:rPr>
              <a:t>転倒・転落予防</a:t>
            </a:r>
          </a:p>
        </p:txBody>
      </p:sp>
      <p:sp>
        <p:nvSpPr>
          <p:cNvPr id="6" name="TextBox 5"/>
          <p:cNvSpPr txBox="1"/>
          <p:nvPr/>
        </p:nvSpPr>
        <p:spPr>
          <a:xfrm>
            <a:off x="365760" y="777240"/>
            <a:ext cx="9144000" cy="457200"/>
          </a:xfrm>
          <a:prstGeom prst="rect">
            <a:avLst/>
          </a:prstGeom>
          <a:noFill/>
        </p:spPr>
        <p:txBody>
          <a:bodyPr wrap="square">
            <a:spAutoFit/>
          </a:bodyPr>
          <a:lstStyle/>
          <a:p>
            <a:pPr algn="l"/>
            <a:r>
              <a:rPr sz="1400" b="0">
                <a:solidFill>
                  <a:srgbClr val="CCE5FF"/>
                </a:solidFill>
                <a:latin typeface="メイリオ"/>
              </a:rPr>
              <a:t>リスク評価と予防策の徹底</a:t>
            </a:r>
          </a:p>
        </p:txBody>
      </p:sp>
      <p:sp>
        <p:nvSpPr>
          <p:cNvPr id="7" name="TextBox 6"/>
          <p:cNvSpPr txBox="1"/>
          <p:nvPr/>
        </p:nvSpPr>
        <p:spPr>
          <a:xfrm>
            <a:off x="11155680" y="182880"/>
            <a:ext cx="822960" cy="457200"/>
          </a:xfrm>
          <a:prstGeom prst="rect">
            <a:avLst/>
          </a:prstGeom>
          <a:noFill/>
        </p:spPr>
        <p:txBody>
          <a:bodyPr wrap="square">
            <a:spAutoFit/>
          </a:bodyPr>
          <a:lstStyle/>
          <a:p>
            <a:pPr algn="r"/>
            <a:r>
              <a:rPr sz="1200" b="0">
                <a:solidFill>
                  <a:srgbClr val="AACCFF"/>
                </a:solidFill>
                <a:latin typeface="メイリオ"/>
              </a:rPr>
              <a:t>14 / 18</a:t>
            </a:r>
          </a:p>
        </p:txBody>
      </p:sp>
      <p:sp>
        <p:nvSpPr>
          <p:cNvPr id="8" name="Rectangle 7"/>
          <p:cNvSpPr/>
          <p:nvPr/>
        </p:nvSpPr>
        <p:spPr>
          <a:xfrm>
            <a:off x="320040" y="1508760"/>
            <a:ext cx="3657600" cy="502920"/>
          </a:xfrm>
          <a:prstGeom prst="rect">
            <a:avLst/>
          </a:prstGeom>
          <a:solidFill>
            <a:srgbClr val="E84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20040" y="1554480"/>
            <a:ext cx="3657600" cy="411480"/>
          </a:xfrm>
          <a:prstGeom prst="rect">
            <a:avLst/>
          </a:prstGeom>
          <a:noFill/>
        </p:spPr>
        <p:txBody>
          <a:bodyPr wrap="square">
            <a:spAutoFit/>
          </a:bodyPr>
          <a:lstStyle/>
          <a:p>
            <a:pPr algn="ctr"/>
            <a:r>
              <a:rPr sz="1700" b="1">
                <a:solidFill>
                  <a:srgbClr val="FFFFFF"/>
                </a:solidFill>
                <a:latin typeface="メイリオ"/>
              </a:rPr>
              <a:t>患者側リスク</a:t>
            </a:r>
          </a:p>
        </p:txBody>
      </p:sp>
      <p:sp>
        <p:nvSpPr>
          <p:cNvPr id="10" name="Rectangle 9"/>
          <p:cNvSpPr/>
          <p:nvPr/>
        </p:nvSpPr>
        <p:spPr>
          <a:xfrm>
            <a:off x="320040" y="2011680"/>
            <a:ext cx="3657600" cy="3474720"/>
          </a:xfrm>
          <a:prstGeom prst="rect">
            <a:avLst/>
          </a:prstGeom>
          <a:solidFill>
            <a:srgbClr val="FFFFFF"/>
          </a:solidFill>
          <a:ln w="19050">
            <a:solidFill>
              <a:srgbClr val="E84C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2121408"/>
            <a:ext cx="3429000" cy="566928"/>
          </a:xfrm>
          <a:prstGeom prst="rect">
            <a:avLst/>
          </a:prstGeom>
          <a:noFill/>
        </p:spPr>
        <p:txBody>
          <a:bodyPr wrap="square">
            <a:spAutoFit/>
          </a:bodyPr>
          <a:lstStyle/>
          <a:p>
            <a:pPr algn="l"/>
            <a:r>
              <a:rPr sz="1400" b="0">
                <a:solidFill>
                  <a:srgbClr val="1A1A2E"/>
                </a:solidFill>
                <a:latin typeface="メイリオ"/>
              </a:rPr>
              <a:t>▸ 筋力低下・バランス障害</a:t>
            </a:r>
          </a:p>
        </p:txBody>
      </p:sp>
      <p:sp>
        <p:nvSpPr>
          <p:cNvPr id="12" name="TextBox 11"/>
          <p:cNvSpPr txBox="1"/>
          <p:nvPr/>
        </p:nvSpPr>
        <p:spPr>
          <a:xfrm>
            <a:off x="457200" y="2761487"/>
            <a:ext cx="3429000" cy="566928"/>
          </a:xfrm>
          <a:prstGeom prst="rect">
            <a:avLst/>
          </a:prstGeom>
          <a:noFill/>
        </p:spPr>
        <p:txBody>
          <a:bodyPr wrap="square">
            <a:spAutoFit/>
          </a:bodyPr>
          <a:lstStyle/>
          <a:p>
            <a:pPr algn="l"/>
            <a:r>
              <a:rPr sz="1400" b="0">
                <a:solidFill>
                  <a:srgbClr val="1A1A2E"/>
                </a:solidFill>
                <a:latin typeface="メイリオ"/>
              </a:rPr>
              <a:t>▸ 認知症・見当識障害</a:t>
            </a:r>
          </a:p>
        </p:txBody>
      </p:sp>
      <p:sp>
        <p:nvSpPr>
          <p:cNvPr id="13" name="TextBox 12"/>
          <p:cNvSpPr txBox="1"/>
          <p:nvPr/>
        </p:nvSpPr>
        <p:spPr>
          <a:xfrm>
            <a:off x="457200" y="3401568"/>
            <a:ext cx="3429000" cy="566928"/>
          </a:xfrm>
          <a:prstGeom prst="rect">
            <a:avLst/>
          </a:prstGeom>
          <a:noFill/>
        </p:spPr>
        <p:txBody>
          <a:bodyPr wrap="square">
            <a:spAutoFit/>
          </a:bodyPr>
          <a:lstStyle/>
          <a:p>
            <a:pPr algn="l"/>
            <a:r>
              <a:rPr sz="1400" b="0">
                <a:solidFill>
                  <a:srgbClr val="1A1A2E"/>
                </a:solidFill>
                <a:latin typeface="メイリオ"/>
              </a:rPr>
              <a:t>▸ 薬剤影響（睡眠薬・降圧薬等）</a:t>
            </a:r>
          </a:p>
        </p:txBody>
      </p:sp>
      <p:sp>
        <p:nvSpPr>
          <p:cNvPr id="14" name="TextBox 13"/>
          <p:cNvSpPr txBox="1"/>
          <p:nvPr/>
        </p:nvSpPr>
        <p:spPr>
          <a:xfrm>
            <a:off x="457200" y="4041648"/>
            <a:ext cx="3429000" cy="566928"/>
          </a:xfrm>
          <a:prstGeom prst="rect">
            <a:avLst/>
          </a:prstGeom>
          <a:noFill/>
        </p:spPr>
        <p:txBody>
          <a:bodyPr wrap="square">
            <a:spAutoFit/>
          </a:bodyPr>
          <a:lstStyle/>
          <a:p>
            <a:pPr algn="l"/>
            <a:r>
              <a:rPr sz="1400" b="0">
                <a:solidFill>
                  <a:srgbClr val="1A1A2E"/>
                </a:solidFill>
                <a:latin typeface="メイリオ"/>
              </a:rPr>
              <a:t>▸ 起立性低血圧</a:t>
            </a:r>
          </a:p>
        </p:txBody>
      </p:sp>
      <p:sp>
        <p:nvSpPr>
          <p:cNvPr id="15" name="TextBox 14"/>
          <p:cNvSpPr txBox="1"/>
          <p:nvPr/>
        </p:nvSpPr>
        <p:spPr>
          <a:xfrm>
            <a:off x="457200" y="4681727"/>
            <a:ext cx="3429000" cy="566928"/>
          </a:xfrm>
          <a:prstGeom prst="rect">
            <a:avLst/>
          </a:prstGeom>
          <a:noFill/>
        </p:spPr>
        <p:txBody>
          <a:bodyPr wrap="square">
            <a:spAutoFit/>
          </a:bodyPr>
          <a:lstStyle/>
          <a:p>
            <a:pPr algn="l"/>
            <a:r>
              <a:rPr sz="1400" b="0">
                <a:solidFill>
                  <a:srgbClr val="1A1A2E"/>
                </a:solidFill>
                <a:latin typeface="メイリオ"/>
              </a:rPr>
              <a:t>▸ 排泄に関する切迫感</a:t>
            </a:r>
          </a:p>
        </p:txBody>
      </p:sp>
      <p:sp>
        <p:nvSpPr>
          <p:cNvPr id="16" name="Rectangle 15"/>
          <p:cNvSpPr/>
          <p:nvPr/>
        </p:nvSpPr>
        <p:spPr>
          <a:xfrm>
            <a:off x="4251959" y="1508760"/>
            <a:ext cx="3657600" cy="50292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251959" y="1554480"/>
            <a:ext cx="3657600" cy="411480"/>
          </a:xfrm>
          <a:prstGeom prst="rect">
            <a:avLst/>
          </a:prstGeom>
          <a:noFill/>
        </p:spPr>
        <p:txBody>
          <a:bodyPr wrap="square">
            <a:spAutoFit/>
          </a:bodyPr>
          <a:lstStyle/>
          <a:p>
            <a:pPr algn="ctr"/>
            <a:r>
              <a:rPr sz="1700" b="1">
                <a:solidFill>
                  <a:srgbClr val="FFFFFF"/>
                </a:solidFill>
                <a:latin typeface="メイリオ"/>
              </a:rPr>
              <a:t>環境側リスク</a:t>
            </a:r>
          </a:p>
        </p:txBody>
      </p:sp>
      <p:sp>
        <p:nvSpPr>
          <p:cNvPr id="18" name="Rectangle 17"/>
          <p:cNvSpPr/>
          <p:nvPr/>
        </p:nvSpPr>
        <p:spPr>
          <a:xfrm>
            <a:off x="4251959" y="2011680"/>
            <a:ext cx="3657600" cy="3474720"/>
          </a:xfrm>
          <a:prstGeom prst="rect">
            <a:avLst/>
          </a:prstGeom>
          <a:solidFill>
            <a:srgbClr val="FFFFFF"/>
          </a:solidFill>
          <a:ln w="1905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389120" y="2121408"/>
            <a:ext cx="3429000" cy="566928"/>
          </a:xfrm>
          <a:prstGeom prst="rect">
            <a:avLst/>
          </a:prstGeom>
          <a:noFill/>
        </p:spPr>
        <p:txBody>
          <a:bodyPr wrap="square">
            <a:spAutoFit/>
          </a:bodyPr>
          <a:lstStyle/>
          <a:p>
            <a:pPr algn="l"/>
            <a:r>
              <a:rPr sz="1400" b="0">
                <a:solidFill>
                  <a:srgbClr val="1A1A2E"/>
                </a:solidFill>
                <a:latin typeface="メイリオ"/>
              </a:rPr>
              <a:t>▸ 床の濡れ・障害物</a:t>
            </a:r>
          </a:p>
        </p:txBody>
      </p:sp>
      <p:sp>
        <p:nvSpPr>
          <p:cNvPr id="20" name="TextBox 19"/>
          <p:cNvSpPr txBox="1"/>
          <p:nvPr/>
        </p:nvSpPr>
        <p:spPr>
          <a:xfrm>
            <a:off x="4389120" y="2761487"/>
            <a:ext cx="3429000" cy="566928"/>
          </a:xfrm>
          <a:prstGeom prst="rect">
            <a:avLst/>
          </a:prstGeom>
          <a:noFill/>
        </p:spPr>
        <p:txBody>
          <a:bodyPr wrap="square">
            <a:spAutoFit/>
          </a:bodyPr>
          <a:lstStyle/>
          <a:p>
            <a:pPr algn="l"/>
            <a:r>
              <a:rPr sz="1400" b="0">
                <a:solidFill>
                  <a:srgbClr val="1A1A2E"/>
                </a:solidFill>
                <a:latin typeface="メイリオ"/>
              </a:rPr>
              <a:t>▸ 不適切な照明（暗すぎ）</a:t>
            </a:r>
          </a:p>
        </p:txBody>
      </p:sp>
      <p:sp>
        <p:nvSpPr>
          <p:cNvPr id="21" name="TextBox 20"/>
          <p:cNvSpPr txBox="1"/>
          <p:nvPr/>
        </p:nvSpPr>
        <p:spPr>
          <a:xfrm>
            <a:off x="4389120" y="3401568"/>
            <a:ext cx="3429000" cy="566928"/>
          </a:xfrm>
          <a:prstGeom prst="rect">
            <a:avLst/>
          </a:prstGeom>
          <a:noFill/>
        </p:spPr>
        <p:txBody>
          <a:bodyPr wrap="square">
            <a:spAutoFit/>
          </a:bodyPr>
          <a:lstStyle/>
          <a:p>
            <a:pPr algn="l"/>
            <a:r>
              <a:rPr sz="1400" b="0">
                <a:solidFill>
                  <a:srgbClr val="1A1A2E"/>
                </a:solidFill>
                <a:latin typeface="メイリオ"/>
              </a:rPr>
              <a:t>▸ ベッド高さ不適切</a:t>
            </a:r>
          </a:p>
        </p:txBody>
      </p:sp>
      <p:sp>
        <p:nvSpPr>
          <p:cNvPr id="22" name="TextBox 21"/>
          <p:cNvSpPr txBox="1"/>
          <p:nvPr/>
        </p:nvSpPr>
        <p:spPr>
          <a:xfrm>
            <a:off x="4389120" y="4041648"/>
            <a:ext cx="3429000" cy="566928"/>
          </a:xfrm>
          <a:prstGeom prst="rect">
            <a:avLst/>
          </a:prstGeom>
          <a:noFill/>
        </p:spPr>
        <p:txBody>
          <a:bodyPr wrap="square">
            <a:spAutoFit/>
          </a:bodyPr>
          <a:lstStyle/>
          <a:p>
            <a:pPr algn="l"/>
            <a:r>
              <a:rPr sz="1400" b="0">
                <a:solidFill>
                  <a:srgbClr val="1A1A2E"/>
                </a:solidFill>
                <a:latin typeface="メイリオ"/>
              </a:rPr>
              <a:t>▸ ナースコール未設置</a:t>
            </a:r>
          </a:p>
        </p:txBody>
      </p:sp>
      <p:sp>
        <p:nvSpPr>
          <p:cNvPr id="23" name="TextBox 22"/>
          <p:cNvSpPr txBox="1"/>
          <p:nvPr/>
        </p:nvSpPr>
        <p:spPr>
          <a:xfrm>
            <a:off x="4389120" y="4681727"/>
            <a:ext cx="3429000" cy="566928"/>
          </a:xfrm>
          <a:prstGeom prst="rect">
            <a:avLst/>
          </a:prstGeom>
          <a:noFill/>
        </p:spPr>
        <p:txBody>
          <a:bodyPr wrap="square">
            <a:spAutoFit/>
          </a:bodyPr>
          <a:lstStyle/>
          <a:p>
            <a:pPr algn="l"/>
            <a:r>
              <a:rPr sz="1400" b="0">
                <a:solidFill>
                  <a:srgbClr val="1A1A2E"/>
                </a:solidFill>
                <a:latin typeface="メイリオ"/>
              </a:rPr>
              <a:t>▸ スリッパなど滑りやすい履物</a:t>
            </a:r>
          </a:p>
        </p:txBody>
      </p:sp>
      <p:sp>
        <p:nvSpPr>
          <p:cNvPr id="24" name="Rectangle 23"/>
          <p:cNvSpPr/>
          <p:nvPr/>
        </p:nvSpPr>
        <p:spPr>
          <a:xfrm>
            <a:off x="8183879" y="1508760"/>
            <a:ext cx="3657600" cy="5029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183879" y="1554480"/>
            <a:ext cx="3657600" cy="411480"/>
          </a:xfrm>
          <a:prstGeom prst="rect">
            <a:avLst/>
          </a:prstGeom>
          <a:noFill/>
        </p:spPr>
        <p:txBody>
          <a:bodyPr wrap="square">
            <a:spAutoFit/>
          </a:bodyPr>
          <a:lstStyle/>
          <a:p>
            <a:pPr algn="ctr"/>
            <a:r>
              <a:rPr sz="1700" b="1">
                <a:solidFill>
                  <a:srgbClr val="FFFFFF"/>
                </a:solidFill>
                <a:latin typeface="メイリオ"/>
              </a:rPr>
              <a:t>予防策</a:t>
            </a:r>
          </a:p>
        </p:txBody>
      </p:sp>
      <p:sp>
        <p:nvSpPr>
          <p:cNvPr id="26" name="Rectangle 25"/>
          <p:cNvSpPr/>
          <p:nvPr/>
        </p:nvSpPr>
        <p:spPr>
          <a:xfrm>
            <a:off x="8183879" y="2011680"/>
            <a:ext cx="3657600" cy="3474720"/>
          </a:xfrm>
          <a:prstGeom prst="rect">
            <a:avLst/>
          </a:prstGeom>
          <a:solidFill>
            <a:srgbClr val="FFFFFF"/>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321040" y="2121408"/>
            <a:ext cx="3429000" cy="566928"/>
          </a:xfrm>
          <a:prstGeom prst="rect">
            <a:avLst/>
          </a:prstGeom>
          <a:noFill/>
        </p:spPr>
        <p:txBody>
          <a:bodyPr wrap="square">
            <a:spAutoFit/>
          </a:bodyPr>
          <a:lstStyle/>
          <a:p>
            <a:pPr algn="l"/>
            <a:r>
              <a:rPr sz="1400" b="0">
                <a:solidFill>
                  <a:srgbClr val="1A1A2E"/>
                </a:solidFill>
                <a:latin typeface="メイリオ"/>
              </a:rPr>
              <a:t>▸ 転倒リスクスコア評価（毎日）</a:t>
            </a:r>
          </a:p>
        </p:txBody>
      </p:sp>
      <p:sp>
        <p:nvSpPr>
          <p:cNvPr id="28" name="TextBox 27"/>
          <p:cNvSpPr txBox="1"/>
          <p:nvPr/>
        </p:nvSpPr>
        <p:spPr>
          <a:xfrm>
            <a:off x="8321040" y="2761487"/>
            <a:ext cx="3429000" cy="566928"/>
          </a:xfrm>
          <a:prstGeom prst="rect">
            <a:avLst/>
          </a:prstGeom>
          <a:noFill/>
        </p:spPr>
        <p:txBody>
          <a:bodyPr wrap="square">
            <a:spAutoFit/>
          </a:bodyPr>
          <a:lstStyle/>
          <a:p>
            <a:pPr algn="l"/>
            <a:r>
              <a:rPr sz="1400" b="0">
                <a:solidFill>
                  <a:srgbClr val="1A1A2E"/>
                </a:solidFill>
                <a:latin typeface="メイリオ"/>
              </a:rPr>
              <a:t>▸ 離床センサー・ベッドアラーム設置</a:t>
            </a:r>
          </a:p>
        </p:txBody>
      </p:sp>
      <p:sp>
        <p:nvSpPr>
          <p:cNvPr id="29" name="TextBox 28"/>
          <p:cNvSpPr txBox="1"/>
          <p:nvPr/>
        </p:nvSpPr>
        <p:spPr>
          <a:xfrm>
            <a:off x="8321040" y="3401568"/>
            <a:ext cx="3429000" cy="566928"/>
          </a:xfrm>
          <a:prstGeom prst="rect">
            <a:avLst/>
          </a:prstGeom>
          <a:noFill/>
        </p:spPr>
        <p:txBody>
          <a:bodyPr wrap="square">
            <a:spAutoFit/>
          </a:bodyPr>
          <a:lstStyle/>
          <a:p>
            <a:pPr algn="l"/>
            <a:r>
              <a:rPr sz="1400" b="0">
                <a:solidFill>
                  <a:srgbClr val="1A1A2E"/>
                </a:solidFill>
                <a:latin typeface="メイリオ"/>
              </a:rPr>
              <a:t>▸ 低床ベッドの使用</a:t>
            </a:r>
          </a:p>
        </p:txBody>
      </p:sp>
      <p:sp>
        <p:nvSpPr>
          <p:cNvPr id="30" name="TextBox 29"/>
          <p:cNvSpPr txBox="1"/>
          <p:nvPr/>
        </p:nvSpPr>
        <p:spPr>
          <a:xfrm>
            <a:off x="8321040" y="4041648"/>
            <a:ext cx="3429000" cy="566928"/>
          </a:xfrm>
          <a:prstGeom prst="rect">
            <a:avLst/>
          </a:prstGeom>
          <a:noFill/>
        </p:spPr>
        <p:txBody>
          <a:bodyPr wrap="square">
            <a:spAutoFit/>
          </a:bodyPr>
          <a:lstStyle/>
          <a:p>
            <a:pPr algn="l"/>
            <a:r>
              <a:rPr sz="1400" b="0">
                <a:solidFill>
                  <a:srgbClr val="1A1A2E"/>
                </a:solidFill>
                <a:latin typeface="メイリオ"/>
              </a:rPr>
              <a:t>▸ ナースコール手の届く位置へ</a:t>
            </a:r>
          </a:p>
        </p:txBody>
      </p:sp>
      <p:sp>
        <p:nvSpPr>
          <p:cNvPr id="31" name="TextBox 30"/>
          <p:cNvSpPr txBox="1"/>
          <p:nvPr/>
        </p:nvSpPr>
        <p:spPr>
          <a:xfrm>
            <a:off x="8321040" y="4681727"/>
            <a:ext cx="3429000" cy="566928"/>
          </a:xfrm>
          <a:prstGeom prst="rect">
            <a:avLst/>
          </a:prstGeom>
          <a:noFill/>
        </p:spPr>
        <p:txBody>
          <a:bodyPr wrap="square">
            <a:spAutoFit/>
          </a:bodyPr>
          <a:lstStyle/>
          <a:p>
            <a:pPr algn="l"/>
            <a:r>
              <a:rPr sz="1400" b="0">
                <a:solidFill>
                  <a:srgbClr val="1A1A2E"/>
                </a:solidFill>
                <a:latin typeface="メイリオ"/>
              </a:rPr>
              <a:t>▸ ラウンド強化（排泄パターン把握）</a:t>
            </a:r>
          </a:p>
        </p:txBody>
      </p:sp>
      <p:sp>
        <p:nvSpPr>
          <p:cNvPr id="32" name="Rectangle 31"/>
          <p:cNvSpPr/>
          <p:nvPr/>
        </p:nvSpPr>
        <p:spPr>
          <a:xfrm>
            <a:off x="365760" y="5577840"/>
            <a:ext cx="11457432" cy="594360"/>
          </a:xfrm>
          <a:prstGeom prst="rect">
            <a:avLst/>
          </a:prstGeom>
          <a:solidFill>
            <a:srgbClr val="E84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57200" y="5623559"/>
            <a:ext cx="11274552" cy="502920"/>
          </a:xfrm>
          <a:prstGeom prst="rect">
            <a:avLst/>
          </a:prstGeom>
          <a:noFill/>
        </p:spPr>
        <p:txBody>
          <a:bodyPr wrap="square">
            <a:spAutoFit/>
          </a:bodyPr>
          <a:lstStyle/>
          <a:p>
            <a:pPr algn="ctr"/>
            <a:r>
              <a:rPr sz="1400" b="1">
                <a:solidFill>
                  <a:srgbClr val="FFFFFF"/>
                </a:solidFill>
                <a:latin typeface="メイリオ"/>
              </a:rPr>
              <a:t>転倒・転落発生時：患者の安全確保 → ナースコール → 状態確認 → 報告 → 記録</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28016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80160"/>
            <a:ext cx="12188952" cy="73152"/>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353312"/>
            <a:ext cx="12188952" cy="5504688"/>
          </a:xfrm>
          <a:prstGeom prst="rect">
            <a:avLst/>
          </a:prstGeom>
          <a:solidFill>
            <a:srgbClr val="F5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37160"/>
            <a:ext cx="10515600" cy="822960"/>
          </a:xfrm>
          <a:prstGeom prst="rect">
            <a:avLst/>
          </a:prstGeom>
          <a:noFill/>
        </p:spPr>
        <p:txBody>
          <a:bodyPr wrap="square">
            <a:spAutoFit/>
          </a:bodyPr>
          <a:lstStyle/>
          <a:p>
            <a:pPr algn="l"/>
            <a:r>
              <a:rPr sz="2800" b="1">
                <a:solidFill>
                  <a:srgbClr val="FFFFFF"/>
                </a:solidFill>
                <a:latin typeface="メイリオ"/>
              </a:rPr>
              <a:t>よくあるミスとその対策</a:t>
            </a:r>
          </a:p>
        </p:txBody>
      </p:sp>
      <p:sp>
        <p:nvSpPr>
          <p:cNvPr id="6" name="TextBox 5"/>
          <p:cNvSpPr txBox="1"/>
          <p:nvPr/>
        </p:nvSpPr>
        <p:spPr>
          <a:xfrm>
            <a:off x="365760" y="777240"/>
            <a:ext cx="9144000" cy="457200"/>
          </a:xfrm>
          <a:prstGeom prst="rect">
            <a:avLst/>
          </a:prstGeom>
          <a:noFill/>
        </p:spPr>
        <p:txBody>
          <a:bodyPr wrap="square">
            <a:spAutoFit/>
          </a:bodyPr>
          <a:lstStyle/>
          <a:p>
            <a:pPr algn="l"/>
            <a:r>
              <a:rPr sz="1400" b="0">
                <a:solidFill>
                  <a:srgbClr val="CCE5FF"/>
                </a:solidFill>
                <a:latin typeface="メイリオ"/>
              </a:rPr>
              <a:t>新人職員が陥りやすいポイント</a:t>
            </a:r>
          </a:p>
        </p:txBody>
      </p:sp>
      <p:sp>
        <p:nvSpPr>
          <p:cNvPr id="7" name="TextBox 6"/>
          <p:cNvSpPr txBox="1"/>
          <p:nvPr/>
        </p:nvSpPr>
        <p:spPr>
          <a:xfrm>
            <a:off x="11155680" y="182880"/>
            <a:ext cx="822960" cy="457200"/>
          </a:xfrm>
          <a:prstGeom prst="rect">
            <a:avLst/>
          </a:prstGeom>
          <a:noFill/>
        </p:spPr>
        <p:txBody>
          <a:bodyPr wrap="square">
            <a:spAutoFit/>
          </a:bodyPr>
          <a:lstStyle/>
          <a:p>
            <a:pPr algn="r"/>
            <a:r>
              <a:rPr sz="1200" b="0">
                <a:solidFill>
                  <a:srgbClr val="AACCFF"/>
                </a:solidFill>
                <a:latin typeface="メイリオ"/>
              </a:rPr>
              <a:t>15 / 18</a:t>
            </a:r>
          </a:p>
        </p:txBody>
      </p:sp>
      <p:sp>
        <p:nvSpPr>
          <p:cNvPr id="8" name="Rectangle 7"/>
          <p:cNvSpPr/>
          <p:nvPr/>
        </p:nvSpPr>
        <p:spPr>
          <a:xfrm>
            <a:off x="365760" y="1508760"/>
            <a:ext cx="11457432" cy="4663440"/>
          </a:xfrm>
          <a:prstGeom prst="rect">
            <a:avLst/>
          </a:prstGeom>
          <a:solidFill>
            <a:srgbClr val="FFFFFF"/>
          </a:solidFill>
          <a:ln w="1270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554480"/>
            <a:ext cx="2743200" cy="41148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572768"/>
            <a:ext cx="2743200" cy="384048"/>
          </a:xfrm>
          <a:prstGeom prst="rect">
            <a:avLst/>
          </a:prstGeom>
          <a:noFill/>
        </p:spPr>
        <p:txBody>
          <a:bodyPr wrap="square">
            <a:spAutoFit/>
          </a:bodyPr>
          <a:lstStyle/>
          <a:p>
            <a:pPr algn="ctr"/>
            <a:r>
              <a:rPr sz="1400" b="1">
                <a:solidFill>
                  <a:srgbClr val="FFFFFF"/>
                </a:solidFill>
                <a:latin typeface="メイリオ"/>
              </a:rPr>
              <a:t>よくあるミス</a:t>
            </a:r>
          </a:p>
        </p:txBody>
      </p:sp>
      <p:sp>
        <p:nvSpPr>
          <p:cNvPr id="11" name="Rectangle 10"/>
          <p:cNvSpPr/>
          <p:nvPr/>
        </p:nvSpPr>
        <p:spPr>
          <a:xfrm>
            <a:off x="3291840" y="1554480"/>
            <a:ext cx="3474720" cy="41148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91840" y="1572768"/>
            <a:ext cx="3474720" cy="384048"/>
          </a:xfrm>
          <a:prstGeom prst="rect">
            <a:avLst/>
          </a:prstGeom>
          <a:noFill/>
        </p:spPr>
        <p:txBody>
          <a:bodyPr wrap="square">
            <a:spAutoFit/>
          </a:bodyPr>
          <a:lstStyle/>
          <a:p>
            <a:pPr algn="ctr"/>
            <a:r>
              <a:rPr sz="1400" b="1">
                <a:solidFill>
                  <a:srgbClr val="FFFFFF"/>
                </a:solidFill>
                <a:latin typeface="メイリオ"/>
              </a:rPr>
              <a:t>起こりうる問題</a:t>
            </a:r>
          </a:p>
        </p:txBody>
      </p:sp>
      <p:sp>
        <p:nvSpPr>
          <p:cNvPr id="13" name="Rectangle 12"/>
          <p:cNvSpPr/>
          <p:nvPr/>
        </p:nvSpPr>
        <p:spPr>
          <a:xfrm>
            <a:off x="6858000" y="1554480"/>
            <a:ext cx="4846320" cy="41148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0" y="1572768"/>
            <a:ext cx="4846320" cy="384048"/>
          </a:xfrm>
          <a:prstGeom prst="rect">
            <a:avLst/>
          </a:prstGeom>
          <a:noFill/>
        </p:spPr>
        <p:txBody>
          <a:bodyPr wrap="square">
            <a:spAutoFit/>
          </a:bodyPr>
          <a:lstStyle/>
          <a:p>
            <a:pPr algn="ctr"/>
            <a:r>
              <a:rPr sz="1400" b="1">
                <a:solidFill>
                  <a:srgbClr val="FFFFFF"/>
                </a:solidFill>
                <a:latin typeface="メイリオ"/>
              </a:rPr>
              <a:t>対策</a:t>
            </a:r>
          </a:p>
        </p:txBody>
      </p:sp>
      <p:sp>
        <p:nvSpPr>
          <p:cNvPr id="15" name="Rectangle 14"/>
          <p:cNvSpPr/>
          <p:nvPr/>
        </p:nvSpPr>
        <p:spPr>
          <a:xfrm>
            <a:off x="457200" y="2011680"/>
            <a:ext cx="2743200" cy="594360"/>
          </a:xfrm>
          <a:prstGeom prst="rect">
            <a:avLst/>
          </a:prstGeom>
          <a:solidFill>
            <a:srgbClr val="F0F5FF"/>
          </a:solidFill>
          <a:ln w="635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291840" y="2011680"/>
            <a:ext cx="3474720" cy="594360"/>
          </a:xfrm>
          <a:prstGeom prst="rect">
            <a:avLst/>
          </a:prstGeom>
          <a:solidFill>
            <a:srgbClr val="F0F5FF"/>
          </a:solidFill>
          <a:ln w="635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858000" y="2011680"/>
            <a:ext cx="4846320" cy="594360"/>
          </a:xfrm>
          <a:prstGeom prst="rect">
            <a:avLst/>
          </a:prstGeom>
          <a:solidFill>
            <a:srgbClr val="F0F5FF"/>
          </a:solidFill>
          <a:ln w="635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48640" y="2084832"/>
            <a:ext cx="2560320" cy="457200"/>
          </a:xfrm>
          <a:prstGeom prst="rect">
            <a:avLst/>
          </a:prstGeom>
          <a:noFill/>
        </p:spPr>
        <p:txBody>
          <a:bodyPr wrap="square">
            <a:spAutoFit/>
          </a:bodyPr>
          <a:lstStyle/>
          <a:p>
            <a:pPr algn="l"/>
            <a:r>
              <a:rPr sz="1200" b="0">
                <a:solidFill>
                  <a:srgbClr val="E84C3B"/>
                </a:solidFill>
                <a:latin typeface="メイリオ"/>
              </a:rPr>
              <a:t>✗ 声かけを忘れる</a:t>
            </a:r>
          </a:p>
        </p:txBody>
      </p:sp>
      <p:sp>
        <p:nvSpPr>
          <p:cNvPr id="19" name="TextBox 18"/>
          <p:cNvSpPr txBox="1"/>
          <p:nvPr/>
        </p:nvSpPr>
        <p:spPr>
          <a:xfrm>
            <a:off x="3383280" y="2084832"/>
            <a:ext cx="3291839" cy="457200"/>
          </a:xfrm>
          <a:prstGeom prst="rect">
            <a:avLst/>
          </a:prstGeom>
          <a:noFill/>
        </p:spPr>
        <p:txBody>
          <a:bodyPr wrap="square">
            <a:spAutoFit/>
          </a:bodyPr>
          <a:lstStyle/>
          <a:p>
            <a:pPr algn="l"/>
            <a:r>
              <a:rPr sz="1200" b="0">
                <a:solidFill>
                  <a:srgbClr val="805000"/>
                </a:solidFill>
                <a:latin typeface="メイリオ"/>
              </a:rPr>
              <a:t>患者の心理的不安・筋緊張が増す</a:t>
            </a:r>
          </a:p>
        </p:txBody>
      </p:sp>
      <p:sp>
        <p:nvSpPr>
          <p:cNvPr id="20" name="TextBox 19"/>
          <p:cNvSpPr txBox="1"/>
          <p:nvPr/>
        </p:nvSpPr>
        <p:spPr>
          <a:xfrm>
            <a:off x="6949440" y="2084832"/>
            <a:ext cx="4663440" cy="457200"/>
          </a:xfrm>
          <a:prstGeom prst="rect">
            <a:avLst/>
          </a:prstGeom>
          <a:noFill/>
        </p:spPr>
        <p:txBody>
          <a:bodyPr wrap="square">
            <a:spAutoFit/>
          </a:bodyPr>
          <a:lstStyle/>
          <a:p>
            <a:pPr algn="l"/>
            <a:r>
              <a:rPr sz="1200" b="0">
                <a:solidFill>
                  <a:srgbClr val="27AE60"/>
                </a:solidFill>
                <a:latin typeface="メイリオ"/>
              </a:rPr>
              <a:t>✓ 必ず「〇〇しますね」と伝えてから開始</a:t>
            </a:r>
          </a:p>
        </p:txBody>
      </p:sp>
      <p:sp>
        <p:nvSpPr>
          <p:cNvPr id="21" name="Rectangle 20"/>
          <p:cNvSpPr/>
          <p:nvPr/>
        </p:nvSpPr>
        <p:spPr>
          <a:xfrm>
            <a:off x="457200" y="2670048"/>
            <a:ext cx="2743200" cy="594360"/>
          </a:xfrm>
          <a:prstGeom prst="rect">
            <a:avLst/>
          </a:prstGeom>
          <a:solidFill>
            <a:srgbClr val="FFFFFF"/>
          </a:solidFill>
          <a:ln w="635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291840" y="2670048"/>
            <a:ext cx="3474720" cy="594360"/>
          </a:xfrm>
          <a:prstGeom prst="rect">
            <a:avLst/>
          </a:prstGeom>
          <a:solidFill>
            <a:srgbClr val="FFFFFF"/>
          </a:solidFill>
          <a:ln w="635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858000" y="2670048"/>
            <a:ext cx="4846320" cy="594360"/>
          </a:xfrm>
          <a:prstGeom prst="rect">
            <a:avLst/>
          </a:prstGeom>
          <a:solidFill>
            <a:srgbClr val="FFFFFF"/>
          </a:solidFill>
          <a:ln w="635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48640" y="2743200"/>
            <a:ext cx="2560320" cy="457200"/>
          </a:xfrm>
          <a:prstGeom prst="rect">
            <a:avLst/>
          </a:prstGeom>
          <a:noFill/>
        </p:spPr>
        <p:txBody>
          <a:bodyPr wrap="square">
            <a:spAutoFit/>
          </a:bodyPr>
          <a:lstStyle/>
          <a:p>
            <a:pPr algn="l"/>
            <a:r>
              <a:rPr sz="1200" b="0">
                <a:solidFill>
                  <a:srgbClr val="E84C3B"/>
                </a:solidFill>
                <a:latin typeface="メイリオ"/>
              </a:rPr>
              <a:t>✗ ブレーキを忘れる</a:t>
            </a:r>
          </a:p>
        </p:txBody>
      </p:sp>
      <p:sp>
        <p:nvSpPr>
          <p:cNvPr id="25" name="TextBox 24"/>
          <p:cNvSpPr txBox="1"/>
          <p:nvPr/>
        </p:nvSpPr>
        <p:spPr>
          <a:xfrm>
            <a:off x="3383280" y="2743200"/>
            <a:ext cx="3291839" cy="457200"/>
          </a:xfrm>
          <a:prstGeom prst="rect">
            <a:avLst/>
          </a:prstGeom>
          <a:noFill/>
        </p:spPr>
        <p:txBody>
          <a:bodyPr wrap="square">
            <a:spAutoFit/>
          </a:bodyPr>
          <a:lstStyle/>
          <a:p>
            <a:pPr algn="l"/>
            <a:r>
              <a:rPr sz="1200" b="0">
                <a:solidFill>
                  <a:srgbClr val="805000"/>
                </a:solidFill>
                <a:latin typeface="メイリオ"/>
              </a:rPr>
              <a:t>移乗中に車椅子が動いて転落</a:t>
            </a:r>
          </a:p>
        </p:txBody>
      </p:sp>
      <p:sp>
        <p:nvSpPr>
          <p:cNvPr id="26" name="TextBox 25"/>
          <p:cNvSpPr txBox="1"/>
          <p:nvPr/>
        </p:nvSpPr>
        <p:spPr>
          <a:xfrm>
            <a:off x="6949440" y="2743200"/>
            <a:ext cx="4663440" cy="457200"/>
          </a:xfrm>
          <a:prstGeom prst="rect">
            <a:avLst/>
          </a:prstGeom>
          <a:noFill/>
        </p:spPr>
        <p:txBody>
          <a:bodyPr wrap="square">
            <a:spAutoFit/>
          </a:bodyPr>
          <a:lstStyle/>
          <a:p>
            <a:pPr algn="l"/>
            <a:r>
              <a:rPr sz="1200" b="0">
                <a:solidFill>
                  <a:srgbClr val="27AE60"/>
                </a:solidFill>
                <a:latin typeface="メイリオ"/>
              </a:rPr>
              <a:t>✓ 移乗前の確認を手順書通りに実施</a:t>
            </a:r>
          </a:p>
        </p:txBody>
      </p:sp>
      <p:sp>
        <p:nvSpPr>
          <p:cNvPr id="27" name="Rectangle 26"/>
          <p:cNvSpPr/>
          <p:nvPr/>
        </p:nvSpPr>
        <p:spPr>
          <a:xfrm>
            <a:off x="457200" y="3328416"/>
            <a:ext cx="2743200" cy="594360"/>
          </a:xfrm>
          <a:prstGeom prst="rect">
            <a:avLst/>
          </a:prstGeom>
          <a:solidFill>
            <a:srgbClr val="F0F5FF"/>
          </a:solidFill>
          <a:ln w="635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291840" y="3328416"/>
            <a:ext cx="3474720" cy="594360"/>
          </a:xfrm>
          <a:prstGeom prst="rect">
            <a:avLst/>
          </a:prstGeom>
          <a:solidFill>
            <a:srgbClr val="F0F5FF"/>
          </a:solidFill>
          <a:ln w="635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858000" y="3328416"/>
            <a:ext cx="4846320" cy="594360"/>
          </a:xfrm>
          <a:prstGeom prst="rect">
            <a:avLst/>
          </a:prstGeom>
          <a:solidFill>
            <a:srgbClr val="F0F5FF"/>
          </a:solidFill>
          <a:ln w="635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48640" y="3401568"/>
            <a:ext cx="2560320" cy="457200"/>
          </a:xfrm>
          <a:prstGeom prst="rect">
            <a:avLst/>
          </a:prstGeom>
          <a:noFill/>
        </p:spPr>
        <p:txBody>
          <a:bodyPr wrap="square">
            <a:spAutoFit/>
          </a:bodyPr>
          <a:lstStyle/>
          <a:p>
            <a:pPr algn="l"/>
            <a:r>
              <a:rPr sz="1200" b="0">
                <a:solidFill>
                  <a:srgbClr val="E84C3B"/>
                </a:solidFill>
                <a:latin typeface="メイリオ"/>
              </a:rPr>
              <a:t>✗ 腰だけで持ち上げる</a:t>
            </a:r>
          </a:p>
        </p:txBody>
      </p:sp>
      <p:sp>
        <p:nvSpPr>
          <p:cNvPr id="31" name="TextBox 30"/>
          <p:cNvSpPr txBox="1"/>
          <p:nvPr/>
        </p:nvSpPr>
        <p:spPr>
          <a:xfrm>
            <a:off x="3383280" y="3401568"/>
            <a:ext cx="3291839" cy="457200"/>
          </a:xfrm>
          <a:prstGeom prst="rect">
            <a:avLst/>
          </a:prstGeom>
          <a:noFill/>
        </p:spPr>
        <p:txBody>
          <a:bodyPr wrap="square">
            <a:spAutoFit/>
          </a:bodyPr>
          <a:lstStyle/>
          <a:p>
            <a:pPr algn="l"/>
            <a:r>
              <a:rPr sz="1200" b="0">
                <a:solidFill>
                  <a:srgbClr val="805000"/>
                </a:solidFill>
                <a:latin typeface="メイリオ"/>
              </a:rPr>
              <a:t>介助者の腰痛・ぎっくり腰</a:t>
            </a:r>
          </a:p>
        </p:txBody>
      </p:sp>
      <p:sp>
        <p:nvSpPr>
          <p:cNvPr id="32" name="TextBox 31"/>
          <p:cNvSpPr txBox="1"/>
          <p:nvPr/>
        </p:nvSpPr>
        <p:spPr>
          <a:xfrm>
            <a:off x="6949440" y="3401568"/>
            <a:ext cx="4663440" cy="457200"/>
          </a:xfrm>
          <a:prstGeom prst="rect">
            <a:avLst/>
          </a:prstGeom>
          <a:noFill/>
        </p:spPr>
        <p:txBody>
          <a:bodyPr wrap="square">
            <a:spAutoFit/>
          </a:bodyPr>
          <a:lstStyle/>
          <a:p>
            <a:pPr algn="l"/>
            <a:r>
              <a:rPr sz="1200" b="0">
                <a:solidFill>
                  <a:srgbClr val="27AE60"/>
                </a:solidFill>
                <a:latin typeface="メイリオ"/>
              </a:rPr>
              <a:t>✓ ボディメカニクスを意識。足・体幹を使う</a:t>
            </a:r>
          </a:p>
        </p:txBody>
      </p:sp>
      <p:sp>
        <p:nvSpPr>
          <p:cNvPr id="33" name="Rectangle 32"/>
          <p:cNvSpPr/>
          <p:nvPr/>
        </p:nvSpPr>
        <p:spPr>
          <a:xfrm>
            <a:off x="457200" y="3986784"/>
            <a:ext cx="2743200" cy="594360"/>
          </a:xfrm>
          <a:prstGeom prst="rect">
            <a:avLst/>
          </a:prstGeom>
          <a:solidFill>
            <a:srgbClr val="FFFFFF"/>
          </a:solidFill>
          <a:ln w="635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3291840" y="3986784"/>
            <a:ext cx="3474720" cy="594360"/>
          </a:xfrm>
          <a:prstGeom prst="rect">
            <a:avLst/>
          </a:prstGeom>
          <a:solidFill>
            <a:srgbClr val="FFFFFF"/>
          </a:solidFill>
          <a:ln w="635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858000" y="3986784"/>
            <a:ext cx="4846320" cy="594360"/>
          </a:xfrm>
          <a:prstGeom prst="rect">
            <a:avLst/>
          </a:prstGeom>
          <a:solidFill>
            <a:srgbClr val="FFFFFF"/>
          </a:solidFill>
          <a:ln w="635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48640" y="4059936"/>
            <a:ext cx="2560320" cy="457200"/>
          </a:xfrm>
          <a:prstGeom prst="rect">
            <a:avLst/>
          </a:prstGeom>
          <a:noFill/>
        </p:spPr>
        <p:txBody>
          <a:bodyPr wrap="square">
            <a:spAutoFit/>
          </a:bodyPr>
          <a:lstStyle/>
          <a:p>
            <a:pPr algn="l"/>
            <a:r>
              <a:rPr sz="1200" b="0">
                <a:solidFill>
                  <a:srgbClr val="E84C3B"/>
                </a:solidFill>
                <a:latin typeface="メイリオ"/>
              </a:rPr>
              <a:t>✗ 急ぎすぎる</a:t>
            </a:r>
          </a:p>
        </p:txBody>
      </p:sp>
      <p:sp>
        <p:nvSpPr>
          <p:cNvPr id="37" name="TextBox 36"/>
          <p:cNvSpPr txBox="1"/>
          <p:nvPr/>
        </p:nvSpPr>
        <p:spPr>
          <a:xfrm>
            <a:off x="3383280" y="4059936"/>
            <a:ext cx="3291839" cy="457200"/>
          </a:xfrm>
          <a:prstGeom prst="rect">
            <a:avLst/>
          </a:prstGeom>
          <a:noFill/>
        </p:spPr>
        <p:txBody>
          <a:bodyPr wrap="square">
            <a:spAutoFit/>
          </a:bodyPr>
          <a:lstStyle/>
          <a:p>
            <a:pPr algn="l"/>
            <a:r>
              <a:rPr sz="1200" b="0">
                <a:solidFill>
                  <a:srgbClr val="805000"/>
                </a:solidFill>
                <a:latin typeface="メイリオ"/>
              </a:rPr>
              <a:t>患者が不安・バランス崩す</a:t>
            </a:r>
          </a:p>
        </p:txBody>
      </p:sp>
      <p:sp>
        <p:nvSpPr>
          <p:cNvPr id="38" name="TextBox 37"/>
          <p:cNvSpPr txBox="1"/>
          <p:nvPr/>
        </p:nvSpPr>
        <p:spPr>
          <a:xfrm>
            <a:off x="6949440" y="4059936"/>
            <a:ext cx="4663440" cy="457200"/>
          </a:xfrm>
          <a:prstGeom prst="rect">
            <a:avLst/>
          </a:prstGeom>
          <a:noFill/>
        </p:spPr>
        <p:txBody>
          <a:bodyPr wrap="square">
            <a:spAutoFit/>
          </a:bodyPr>
          <a:lstStyle/>
          <a:p>
            <a:pPr algn="l"/>
            <a:r>
              <a:rPr sz="1200" b="0">
                <a:solidFill>
                  <a:srgbClr val="27AE60"/>
                </a:solidFill>
                <a:latin typeface="メイリオ"/>
              </a:rPr>
              <a:t>✓ 患者のペースに合わせ、ゆっくり確実に</a:t>
            </a:r>
          </a:p>
        </p:txBody>
      </p:sp>
      <p:sp>
        <p:nvSpPr>
          <p:cNvPr id="39" name="Rectangle 38"/>
          <p:cNvSpPr/>
          <p:nvPr/>
        </p:nvSpPr>
        <p:spPr>
          <a:xfrm>
            <a:off x="457200" y="4645152"/>
            <a:ext cx="2743200" cy="594360"/>
          </a:xfrm>
          <a:prstGeom prst="rect">
            <a:avLst/>
          </a:prstGeom>
          <a:solidFill>
            <a:srgbClr val="F0F5FF"/>
          </a:solidFill>
          <a:ln w="635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3291840" y="4645152"/>
            <a:ext cx="3474720" cy="594360"/>
          </a:xfrm>
          <a:prstGeom prst="rect">
            <a:avLst/>
          </a:prstGeom>
          <a:solidFill>
            <a:srgbClr val="F0F5FF"/>
          </a:solidFill>
          <a:ln w="635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6858000" y="4645152"/>
            <a:ext cx="4846320" cy="594360"/>
          </a:xfrm>
          <a:prstGeom prst="rect">
            <a:avLst/>
          </a:prstGeom>
          <a:solidFill>
            <a:srgbClr val="F0F5FF"/>
          </a:solidFill>
          <a:ln w="635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48640" y="4718304"/>
            <a:ext cx="2560320" cy="457200"/>
          </a:xfrm>
          <a:prstGeom prst="rect">
            <a:avLst/>
          </a:prstGeom>
          <a:noFill/>
        </p:spPr>
        <p:txBody>
          <a:bodyPr wrap="square">
            <a:spAutoFit/>
          </a:bodyPr>
          <a:lstStyle/>
          <a:p>
            <a:pPr algn="l"/>
            <a:r>
              <a:rPr sz="1200" b="0">
                <a:solidFill>
                  <a:srgbClr val="E84C3B"/>
                </a:solidFill>
                <a:latin typeface="メイリオ"/>
              </a:rPr>
              <a:t>✗ 1人で無理をする</a:t>
            </a:r>
          </a:p>
        </p:txBody>
      </p:sp>
      <p:sp>
        <p:nvSpPr>
          <p:cNvPr id="43" name="TextBox 42"/>
          <p:cNvSpPr txBox="1"/>
          <p:nvPr/>
        </p:nvSpPr>
        <p:spPr>
          <a:xfrm>
            <a:off x="3383280" y="4718304"/>
            <a:ext cx="3291839" cy="457200"/>
          </a:xfrm>
          <a:prstGeom prst="rect">
            <a:avLst/>
          </a:prstGeom>
          <a:noFill/>
        </p:spPr>
        <p:txBody>
          <a:bodyPr wrap="square">
            <a:spAutoFit/>
          </a:bodyPr>
          <a:lstStyle/>
          <a:p>
            <a:pPr algn="l"/>
            <a:r>
              <a:rPr sz="1200" b="0">
                <a:solidFill>
                  <a:srgbClr val="805000"/>
                </a:solidFill>
                <a:latin typeface="メイリオ"/>
              </a:rPr>
              <a:t>患者・介助者ともに受傷リスク</a:t>
            </a:r>
          </a:p>
        </p:txBody>
      </p:sp>
      <p:sp>
        <p:nvSpPr>
          <p:cNvPr id="44" name="TextBox 43"/>
          <p:cNvSpPr txBox="1"/>
          <p:nvPr/>
        </p:nvSpPr>
        <p:spPr>
          <a:xfrm>
            <a:off x="6949440" y="4718304"/>
            <a:ext cx="4663440" cy="457200"/>
          </a:xfrm>
          <a:prstGeom prst="rect">
            <a:avLst/>
          </a:prstGeom>
          <a:noFill/>
        </p:spPr>
        <p:txBody>
          <a:bodyPr wrap="square">
            <a:spAutoFit/>
          </a:bodyPr>
          <a:lstStyle/>
          <a:p>
            <a:pPr algn="l"/>
            <a:r>
              <a:rPr sz="1200" b="0">
                <a:solidFill>
                  <a:srgbClr val="27AE60"/>
                </a:solidFill>
                <a:latin typeface="メイリオ"/>
              </a:rPr>
              <a:t>✓ 迷ったら必ず同僚に声をかける</a:t>
            </a:r>
          </a:p>
        </p:txBody>
      </p:sp>
      <p:sp>
        <p:nvSpPr>
          <p:cNvPr id="45" name="Rectangle 44"/>
          <p:cNvSpPr/>
          <p:nvPr/>
        </p:nvSpPr>
        <p:spPr>
          <a:xfrm>
            <a:off x="457200" y="5303520"/>
            <a:ext cx="2743200" cy="594360"/>
          </a:xfrm>
          <a:prstGeom prst="rect">
            <a:avLst/>
          </a:prstGeom>
          <a:solidFill>
            <a:srgbClr val="FFFFFF"/>
          </a:solidFill>
          <a:ln w="635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3291840" y="5303520"/>
            <a:ext cx="3474720" cy="594360"/>
          </a:xfrm>
          <a:prstGeom prst="rect">
            <a:avLst/>
          </a:prstGeom>
          <a:solidFill>
            <a:srgbClr val="FFFFFF"/>
          </a:solidFill>
          <a:ln w="635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6858000" y="5303520"/>
            <a:ext cx="4846320" cy="594360"/>
          </a:xfrm>
          <a:prstGeom prst="rect">
            <a:avLst/>
          </a:prstGeom>
          <a:solidFill>
            <a:srgbClr val="FFFFFF"/>
          </a:solidFill>
          <a:ln w="635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548640" y="5376672"/>
            <a:ext cx="2560320" cy="457200"/>
          </a:xfrm>
          <a:prstGeom prst="rect">
            <a:avLst/>
          </a:prstGeom>
          <a:noFill/>
        </p:spPr>
        <p:txBody>
          <a:bodyPr wrap="square">
            <a:spAutoFit/>
          </a:bodyPr>
          <a:lstStyle/>
          <a:p>
            <a:pPr algn="l"/>
            <a:r>
              <a:rPr sz="1200" b="0">
                <a:solidFill>
                  <a:srgbClr val="E84C3B"/>
                </a:solidFill>
                <a:latin typeface="メイリオ"/>
              </a:rPr>
              <a:t>✗ カテーテルを忘れる</a:t>
            </a:r>
          </a:p>
        </p:txBody>
      </p:sp>
      <p:sp>
        <p:nvSpPr>
          <p:cNvPr id="49" name="TextBox 48"/>
          <p:cNvSpPr txBox="1"/>
          <p:nvPr/>
        </p:nvSpPr>
        <p:spPr>
          <a:xfrm>
            <a:off x="3383280" y="5376672"/>
            <a:ext cx="3291839" cy="457200"/>
          </a:xfrm>
          <a:prstGeom prst="rect">
            <a:avLst/>
          </a:prstGeom>
          <a:noFill/>
        </p:spPr>
        <p:txBody>
          <a:bodyPr wrap="square">
            <a:spAutoFit/>
          </a:bodyPr>
          <a:lstStyle/>
          <a:p>
            <a:pPr algn="l"/>
            <a:r>
              <a:rPr sz="1200" b="0">
                <a:solidFill>
                  <a:srgbClr val="805000"/>
                </a:solidFill>
                <a:latin typeface="メイリオ"/>
              </a:rPr>
              <a:t>ドレーン抜去・皮膚損傷</a:t>
            </a:r>
          </a:p>
        </p:txBody>
      </p:sp>
      <p:sp>
        <p:nvSpPr>
          <p:cNvPr id="50" name="TextBox 49"/>
          <p:cNvSpPr txBox="1"/>
          <p:nvPr/>
        </p:nvSpPr>
        <p:spPr>
          <a:xfrm>
            <a:off x="6949440" y="5376672"/>
            <a:ext cx="4663440" cy="457200"/>
          </a:xfrm>
          <a:prstGeom prst="rect">
            <a:avLst/>
          </a:prstGeom>
          <a:noFill/>
        </p:spPr>
        <p:txBody>
          <a:bodyPr wrap="square">
            <a:spAutoFit/>
          </a:bodyPr>
          <a:lstStyle/>
          <a:p>
            <a:pPr algn="l"/>
            <a:r>
              <a:rPr sz="1200" b="0">
                <a:solidFill>
                  <a:srgbClr val="27AE60"/>
                </a:solidFill>
                <a:latin typeface="メイリオ"/>
              </a:rPr>
              <a:t>✓ 移乗前にルート類の長さ・固定を確認</a:t>
            </a:r>
          </a:p>
        </p:txBody>
      </p:sp>
      <p:sp>
        <p:nvSpPr>
          <p:cNvPr id="51" name="Rectangle 50"/>
          <p:cNvSpPr/>
          <p:nvPr/>
        </p:nvSpPr>
        <p:spPr>
          <a:xfrm>
            <a:off x="1371600" y="6263640"/>
            <a:ext cx="9445752" cy="45720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463040" y="6309359"/>
            <a:ext cx="9262872" cy="365760"/>
          </a:xfrm>
          <a:prstGeom prst="rect">
            <a:avLst/>
          </a:prstGeom>
          <a:noFill/>
        </p:spPr>
        <p:txBody>
          <a:bodyPr wrap="square">
            <a:spAutoFit/>
          </a:bodyPr>
          <a:lstStyle/>
          <a:p>
            <a:pPr algn="ctr"/>
            <a:r>
              <a:rPr sz="1400" b="1">
                <a:solidFill>
                  <a:srgbClr val="FFFFFF"/>
                </a:solidFill>
                <a:latin typeface="メイリオ"/>
              </a:rPr>
              <a:t>わからないことは必ず先輩に確認！報告・連絡・相談を徹底しましょう</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28016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80160"/>
            <a:ext cx="12188952" cy="73152"/>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353312"/>
            <a:ext cx="12188952" cy="5504688"/>
          </a:xfrm>
          <a:prstGeom prst="rect">
            <a:avLst/>
          </a:prstGeom>
          <a:solidFill>
            <a:srgbClr val="F5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37160"/>
            <a:ext cx="10515600" cy="822960"/>
          </a:xfrm>
          <a:prstGeom prst="rect">
            <a:avLst/>
          </a:prstGeom>
          <a:noFill/>
        </p:spPr>
        <p:txBody>
          <a:bodyPr wrap="square">
            <a:spAutoFit/>
          </a:bodyPr>
          <a:lstStyle/>
          <a:p>
            <a:pPr algn="l"/>
            <a:r>
              <a:rPr sz="2800" b="1">
                <a:solidFill>
                  <a:srgbClr val="FFFFFF"/>
                </a:solidFill>
                <a:latin typeface="メイリオ"/>
              </a:rPr>
              <a:t>記録・報告のポイント</a:t>
            </a:r>
          </a:p>
        </p:txBody>
      </p:sp>
      <p:sp>
        <p:nvSpPr>
          <p:cNvPr id="6" name="TextBox 5"/>
          <p:cNvSpPr txBox="1"/>
          <p:nvPr/>
        </p:nvSpPr>
        <p:spPr>
          <a:xfrm>
            <a:off x="365760" y="777240"/>
            <a:ext cx="9144000" cy="457200"/>
          </a:xfrm>
          <a:prstGeom prst="rect">
            <a:avLst/>
          </a:prstGeom>
          <a:noFill/>
        </p:spPr>
        <p:txBody>
          <a:bodyPr wrap="square">
            <a:spAutoFit/>
          </a:bodyPr>
          <a:lstStyle/>
          <a:p>
            <a:pPr algn="l"/>
            <a:r>
              <a:rPr sz="1400" b="0">
                <a:solidFill>
                  <a:srgbClr val="CCE5FF"/>
                </a:solidFill>
                <a:latin typeface="メイリオ"/>
              </a:rPr>
              <a:t>介助後の観察と情報共有</a:t>
            </a:r>
          </a:p>
        </p:txBody>
      </p:sp>
      <p:sp>
        <p:nvSpPr>
          <p:cNvPr id="7" name="TextBox 6"/>
          <p:cNvSpPr txBox="1"/>
          <p:nvPr/>
        </p:nvSpPr>
        <p:spPr>
          <a:xfrm>
            <a:off x="11155680" y="182880"/>
            <a:ext cx="822960" cy="457200"/>
          </a:xfrm>
          <a:prstGeom prst="rect">
            <a:avLst/>
          </a:prstGeom>
          <a:noFill/>
        </p:spPr>
        <p:txBody>
          <a:bodyPr wrap="square">
            <a:spAutoFit/>
          </a:bodyPr>
          <a:lstStyle/>
          <a:p>
            <a:pPr algn="r"/>
            <a:r>
              <a:rPr sz="1200" b="0">
                <a:solidFill>
                  <a:srgbClr val="AACCFF"/>
                </a:solidFill>
                <a:latin typeface="メイリオ"/>
              </a:rPr>
              <a:t>16 / 18</a:t>
            </a:r>
          </a:p>
        </p:txBody>
      </p:sp>
      <p:sp>
        <p:nvSpPr>
          <p:cNvPr id="8" name="Rectangle 7"/>
          <p:cNvSpPr/>
          <p:nvPr/>
        </p:nvSpPr>
        <p:spPr>
          <a:xfrm>
            <a:off x="365760" y="1508760"/>
            <a:ext cx="6858000" cy="4846320"/>
          </a:xfrm>
          <a:prstGeom prst="rect">
            <a:avLst/>
          </a:prstGeom>
          <a:solidFill>
            <a:srgbClr val="FFFFFF"/>
          </a:solidFill>
          <a:ln w="1905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1554480"/>
            <a:ext cx="6675120" cy="457200"/>
          </a:xfrm>
          <a:prstGeom prst="rect">
            <a:avLst/>
          </a:prstGeom>
          <a:noFill/>
        </p:spPr>
        <p:txBody>
          <a:bodyPr wrap="square">
            <a:spAutoFit/>
          </a:bodyPr>
          <a:lstStyle/>
          <a:p>
            <a:pPr algn="l"/>
            <a:r>
              <a:rPr sz="1600" b="1">
                <a:solidFill>
                  <a:srgbClr val="005B99"/>
                </a:solidFill>
                <a:latin typeface="メイリオ"/>
              </a:rPr>
              <a:t>記録に含める内容（5W1H＋状態）</a:t>
            </a:r>
          </a:p>
        </p:txBody>
      </p:sp>
      <p:sp>
        <p:nvSpPr>
          <p:cNvPr id="10" name="Rectangle 9"/>
          <p:cNvSpPr/>
          <p:nvPr/>
        </p:nvSpPr>
        <p:spPr>
          <a:xfrm>
            <a:off x="457200" y="2057400"/>
            <a:ext cx="1371600" cy="475488"/>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2112264"/>
            <a:ext cx="1371600" cy="384048"/>
          </a:xfrm>
          <a:prstGeom prst="rect">
            <a:avLst/>
          </a:prstGeom>
          <a:noFill/>
        </p:spPr>
        <p:txBody>
          <a:bodyPr wrap="square">
            <a:spAutoFit/>
          </a:bodyPr>
          <a:lstStyle/>
          <a:p>
            <a:pPr algn="ctr"/>
            <a:r>
              <a:rPr sz="1400" b="1">
                <a:solidFill>
                  <a:srgbClr val="FFFFFF"/>
                </a:solidFill>
                <a:latin typeface="メイリオ"/>
              </a:rPr>
              <a:t>いつ</a:t>
            </a:r>
          </a:p>
        </p:txBody>
      </p:sp>
      <p:sp>
        <p:nvSpPr>
          <p:cNvPr id="12" name="TextBox 11"/>
          <p:cNvSpPr txBox="1"/>
          <p:nvPr/>
        </p:nvSpPr>
        <p:spPr>
          <a:xfrm>
            <a:off x="1920240" y="2130552"/>
            <a:ext cx="5212080" cy="384048"/>
          </a:xfrm>
          <a:prstGeom prst="rect">
            <a:avLst/>
          </a:prstGeom>
          <a:noFill/>
        </p:spPr>
        <p:txBody>
          <a:bodyPr wrap="square">
            <a:spAutoFit/>
          </a:bodyPr>
          <a:lstStyle/>
          <a:p>
            <a:pPr algn="l"/>
            <a:r>
              <a:rPr sz="1400" b="0">
                <a:solidFill>
                  <a:srgbClr val="1A1A2E"/>
                </a:solidFill>
                <a:latin typeface="メイリオ"/>
              </a:rPr>
              <a:t>移乗・移動の実施日時</a:t>
            </a:r>
          </a:p>
        </p:txBody>
      </p:sp>
      <p:sp>
        <p:nvSpPr>
          <p:cNvPr id="13" name="Rectangle 12"/>
          <p:cNvSpPr/>
          <p:nvPr/>
        </p:nvSpPr>
        <p:spPr>
          <a:xfrm>
            <a:off x="457200" y="2642616"/>
            <a:ext cx="1371600" cy="475488"/>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 y="2697480"/>
            <a:ext cx="1371600" cy="384048"/>
          </a:xfrm>
          <a:prstGeom prst="rect">
            <a:avLst/>
          </a:prstGeom>
          <a:noFill/>
        </p:spPr>
        <p:txBody>
          <a:bodyPr wrap="square">
            <a:spAutoFit/>
          </a:bodyPr>
          <a:lstStyle/>
          <a:p>
            <a:pPr algn="ctr"/>
            <a:r>
              <a:rPr sz="1400" b="1">
                <a:solidFill>
                  <a:srgbClr val="FFFFFF"/>
                </a:solidFill>
                <a:latin typeface="メイリオ"/>
              </a:rPr>
              <a:t>どこで</a:t>
            </a:r>
          </a:p>
        </p:txBody>
      </p:sp>
      <p:sp>
        <p:nvSpPr>
          <p:cNvPr id="15" name="TextBox 14"/>
          <p:cNvSpPr txBox="1"/>
          <p:nvPr/>
        </p:nvSpPr>
        <p:spPr>
          <a:xfrm>
            <a:off x="1920240" y="2715768"/>
            <a:ext cx="5212080" cy="384048"/>
          </a:xfrm>
          <a:prstGeom prst="rect">
            <a:avLst/>
          </a:prstGeom>
          <a:noFill/>
        </p:spPr>
        <p:txBody>
          <a:bodyPr wrap="square">
            <a:spAutoFit/>
          </a:bodyPr>
          <a:lstStyle/>
          <a:p>
            <a:pPr algn="l"/>
            <a:r>
              <a:rPr sz="1400" b="0">
                <a:solidFill>
                  <a:srgbClr val="1A1A2E"/>
                </a:solidFill>
                <a:latin typeface="メイリオ"/>
              </a:rPr>
              <a:t>場所（病室・廊下・リハビリ室など）</a:t>
            </a:r>
          </a:p>
        </p:txBody>
      </p:sp>
      <p:sp>
        <p:nvSpPr>
          <p:cNvPr id="16" name="Rectangle 15"/>
          <p:cNvSpPr/>
          <p:nvPr/>
        </p:nvSpPr>
        <p:spPr>
          <a:xfrm>
            <a:off x="457200" y="3227832"/>
            <a:ext cx="1371600" cy="475488"/>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3282696"/>
            <a:ext cx="1371600" cy="384048"/>
          </a:xfrm>
          <a:prstGeom prst="rect">
            <a:avLst/>
          </a:prstGeom>
          <a:noFill/>
        </p:spPr>
        <p:txBody>
          <a:bodyPr wrap="square">
            <a:spAutoFit/>
          </a:bodyPr>
          <a:lstStyle/>
          <a:p>
            <a:pPr algn="ctr"/>
            <a:r>
              <a:rPr sz="1400" b="1">
                <a:solidFill>
                  <a:srgbClr val="FFFFFF"/>
                </a:solidFill>
                <a:latin typeface="メイリオ"/>
              </a:rPr>
              <a:t>何を</a:t>
            </a:r>
          </a:p>
        </p:txBody>
      </p:sp>
      <p:sp>
        <p:nvSpPr>
          <p:cNvPr id="18" name="TextBox 17"/>
          <p:cNvSpPr txBox="1"/>
          <p:nvPr/>
        </p:nvSpPr>
        <p:spPr>
          <a:xfrm>
            <a:off x="1920240" y="3300984"/>
            <a:ext cx="5212080" cy="384048"/>
          </a:xfrm>
          <a:prstGeom prst="rect">
            <a:avLst/>
          </a:prstGeom>
          <a:noFill/>
        </p:spPr>
        <p:txBody>
          <a:bodyPr wrap="square">
            <a:spAutoFit/>
          </a:bodyPr>
          <a:lstStyle/>
          <a:p>
            <a:pPr algn="l"/>
            <a:r>
              <a:rPr sz="1400" b="0">
                <a:solidFill>
                  <a:srgbClr val="1A1A2E"/>
                </a:solidFill>
                <a:latin typeface="メイリオ"/>
              </a:rPr>
              <a:t>実施した介助内容（車椅子移乗・歩行介助など）</a:t>
            </a:r>
          </a:p>
        </p:txBody>
      </p:sp>
      <p:sp>
        <p:nvSpPr>
          <p:cNvPr id="19" name="Rectangle 18"/>
          <p:cNvSpPr/>
          <p:nvPr/>
        </p:nvSpPr>
        <p:spPr>
          <a:xfrm>
            <a:off x="457200" y="3813048"/>
            <a:ext cx="1371600" cy="475488"/>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3867911"/>
            <a:ext cx="1371600" cy="384048"/>
          </a:xfrm>
          <a:prstGeom prst="rect">
            <a:avLst/>
          </a:prstGeom>
          <a:noFill/>
        </p:spPr>
        <p:txBody>
          <a:bodyPr wrap="square">
            <a:spAutoFit/>
          </a:bodyPr>
          <a:lstStyle/>
          <a:p>
            <a:pPr algn="ctr"/>
            <a:r>
              <a:rPr sz="1400" b="1">
                <a:solidFill>
                  <a:srgbClr val="FFFFFF"/>
                </a:solidFill>
                <a:latin typeface="メイリオ"/>
              </a:rPr>
              <a:t>誰が</a:t>
            </a:r>
          </a:p>
        </p:txBody>
      </p:sp>
      <p:sp>
        <p:nvSpPr>
          <p:cNvPr id="21" name="TextBox 20"/>
          <p:cNvSpPr txBox="1"/>
          <p:nvPr/>
        </p:nvSpPr>
        <p:spPr>
          <a:xfrm>
            <a:off x="1920240" y="3886200"/>
            <a:ext cx="5212080" cy="384048"/>
          </a:xfrm>
          <a:prstGeom prst="rect">
            <a:avLst/>
          </a:prstGeom>
          <a:noFill/>
        </p:spPr>
        <p:txBody>
          <a:bodyPr wrap="square">
            <a:spAutoFit/>
          </a:bodyPr>
          <a:lstStyle/>
          <a:p>
            <a:pPr algn="l"/>
            <a:r>
              <a:rPr sz="1400" b="0">
                <a:solidFill>
                  <a:srgbClr val="1A1A2E"/>
                </a:solidFill>
                <a:latin typeface="メイリオ"/>
              </a:rPr>
              <a:t>実施者（1名・2名介助など）</a:t>
            </a:r>
          </a:p>
        </p:txBody>
      </p:sp>
      <p:sp>
        <p:nvSpPr>
          <p:cNvPr id="22" name="Rectangle 21"/>
          <p:cNvSpPr/>
          <p:nvPr/>
        </p:nvSpPr>
        <p:spPr>
          <a:xfrm>
            <a:off x="457200" y="4398264"/>
            <a:ext cx="1371600" cy="475488"/>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4453128"/>
            <a:ext cx="1371600" cy="384048"/>
          </a:xfrm>
          <a:prstGeom prst="rect">
            <a:avLst/>
          </a:prstGeom>
          <a:noFill/>
        </p:spPr>
        <p:txBody>
          <a:bodyPr wrap="square">
            <a:spAutoFit/>
          </a:bodyPr>
          <a:lstStyle/>
          <a:p>
            <a:pPr algn="ctr"/>
            <a:r>
              <a:rPr sz="1400" b="1">
                <a:solidFill>
                  <a:srgbClr val="FFFFFF"/>
                </a:solidFill>
                <a:latin typeface="メイリオ"/>
              </a:rPr>
              <a:t>どのように</a:t>
            </a:r>
          </a:p>
        </p:txBody>
      </p:sp>
      <p:sp>
        <p:nvSpPr>
          <p:cNvPr id="24" name="TextBox 23"/>
          <p:cNvSpPr txBox="1"/>
          <p:nvPr/>
        </p:nvSpPr>
        <p:spPr>
          <a:xfrm>
            <a:off x="1920240" y="4471416"/>
            <a:ext cx="5212080" cy="384048"/>
          </a:xfrm>
          <a:prstGeom prst="rect">
            <a:avLst/>
          </a:prstGeom>
          <a:noFill/>
        </p:spPr>
        <p:txBody>
          <a:bodyPr wrap="square">
            <a:spAutoFit/>
          </a:bodyPr>
          <a:lstStyle/>
          <a:p>
            <a:pPr algn="l"/>
            <a:r>
              <a:rPr sz="1400" b="0">
                <a:solidFill>
                  <a:srgbClr val="1A1A2E"/>
                </a:solidFill>
                <a:latin typeface="メイリオ"/>
              </a:rPr>
              <a:t>使用した補助具・患者の協力度</a:t>
            </a:r>
          </a:p>
        </p:txBody>
      </p:sp>
      <p:sp>
        <p:nvSpPr>
          <p:cNvPr id="25" name="Rectangle 24"/>
          <p:cNvSpPr/>
          <p:nvPr/>
        </p:nvSpPr>
        <p:spPr>
          <a:xfrm>
            <a:off x="457200" y="4983480"/>
            <a:ext cx="1371600" cy="475488"/>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57200" y="5038344"/>
            <a:ext cx="1371600" cy="384048"/>
          </a:xfrm>
          <a:prstGeom prst="rect">
            <a:avLst/>
          </a:prstGeom>
          <a:noFill/>
        </p:spPr>
        <p:txBody>
          <a:bodyPr wrap="square">
            <a:spAutoFit/>
          </a:bodyPr>
          <a:lstStyle/>
          <a:p>
            <a:pPr algn="ctr"/>
            <a:r>
              <a:rPr sz="1400" b="1">
                <a:solidFill>
                  <a:srgbClr val="FFFFFF"/>
                </a:solidFill>
                <a:latin typeface="メイリオ"/>
              </a:rPr>
              <a:t>患者の状態</a:t>
            </a:r>
          </a:p>
        </p:txBody>
      </p:sp>
      <p:sp>
        <p:nvSpPr>
          <p:cNvPr id="27" name="TextBox 26"/>
          <p:cNvSpPr txBox="1"/>
          <p:nvPr/>
        </p:nvSpPr>
        <p:spPr>
          <a:xfrm>
            <a:off x="1920240" y="5056632"/>
            <a:ext cx="5212080" cy="384048"/>
          </a:xfrm>
          <a:prstGeom prst="rect">
            <a:avLst/>
          </a:prstGeom>
          <a:noFill/>
        </p:spPr>
        <p:txBody>
          <a:bodyPr wrap="square">
            <a:spAutoFit/>
          </a:bodyPr>
          <a:lstStyle/>
          <a:p>
            <a:pPr algn="l"/>
            <a:r>
              <a:rPr sz="1400" b="0">
                <a:solidFill>
                  <a:srgbClr val="1A1A2E"/>
                </a:solidFill>
                <a:latin typeface="メイリオ"/>
              </a:rPr>
              <a:t>バイタル変化・表情・疼痛・ふらつきの有無</a:t>
            </a:r>
          </a:p>
        </p:txBody>
      </p:sp>
      <p:sp>
        <p:nvSpPr>
          <p:cNvPr id="28" name="Rectangle 27"/>
          <p:cNvSpPr/>
          <p:nvPr/>
        </p:nvSpPr>
        <p:spPr>
          <a:xfrm>
            <a:off x="457200" y="5568696"/>
            <a:ext cx="1371600" cy="475488"/>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57200" y="5623559"/>
            <a:ext cx="1371600" cy="384048"/>
          </a:xfrm>
          <a:prstGeom prst="rect">
            <a:avLst/>
          </a:prstGeom>
          <a:noFill/>
        </p:spPr>
        <p:txBody>
          <a:bodyPr wrap="square">
            <a:spAutoFit/>
          </a:bodyPr>
          <a:lstStyle/>
          <a:p>
            <a:pPr algn="ctr"/>
            <a:r>
              <a:rPr sz="1400" b="1">
                <a:solidFill>
                  <a:srgbClr val="FFFFFF"/>
                </a:solidFill>
                <a:latin typeface="メイリオ"/>
              </a:rPr>
              <a:t>特記事項</a:t>
            </a:r>
          </a:p>
        </p:txBody>
      </p:sp>
      <p:sp>
        <p:nvSpPr>
          <p:cNvPr id="30" name="TextBox 29"/>
          <p:cNvSpPr txBox="1"/>
          <p:nvPr/>
        </p:nvSpPr>
        <p:spPr>
          <a:xfrm>
            <a:off x="1920240" y="5641848"/>
            <a:ext cx="5212080" cy="384048"/>
          </a:xfrm>
          <a:prstGeom prst="rect">
            <a:avLst/>
          </a:prstGeom>
          <a:noFill/>
        </p:spPr>
        <p:txBody>
          <a:bodyPr wrap="square">
            <a:spAutoFit/>
          </a:bodyPr>
          <a:lstStyle/>
          <a:p>
            <a:pPr algn="l"/>
            <a:r>
              <a:rPr sz="1400" b="0">
                <a:solidFill>
                  <a:srgbClr val="1A1A2E"/>
                </a:solidFill>
                <a:latin typeface="メイリオ"/>
              </a:rPr>
              <a:t>ヒヤリハット・異常所見は必ず記録・報告</a:t>
            </a:r>
          </a:p>
        </p:txBody>
      </p:sp>
      <p:sp>
        <p:nvSpPr>
          <p:cNvPr id="31" name="Rectangle 30"/>
          <p:cNvSpPr/>
          <p:nvPr/>
        </p:nvSpPr>
        <p:spPr>
          <a:xfrm>
            <a:off x="7406640" y="1508760"/>
            <a:ext cx="4389120" cy="4846320"/>
          </a:xfrm>
          <a:prstGeom prst="rect">
            <a:avLst/>
          </a:prstGeom>
          <a:solidFill>
            <a:srgbClr val="FFFFFF"/>
          </a:solidFill>
          <a:ln w="25400">
            <a:solidFill>
              <a:srgbClr val="E84C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7406640" y="1508760"/>
            <a:ext cx="4389120" cy="502920"/>
          </a:xfrm>
          <a:prstGeom prst="rect">
            <a:avLst/>
          </a:prstGeom>
          <a:solidFill>
            <a:srgbClr val="E84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406640" y="1554480"/>
            <a:ext cx="4389120" cy="411480"/>
          </a:xfrm>
          <a:prstGeom prst="rect">
            <a:avLst/>
          </a:prstGeom>
          <a:noFill/>
        </p:spPr>
        <p:txBody>
          <a:bodyPr wrap="square">
            <a:spAutoFit/>
          </a:bodyPr>
          <a:lstStyle/>
          <a:p>
            <a:pPr algn="ctr"/>
            <a:r>
              <a:rPr sz="1500" b="1">
                <a:solidFill>
                  <a:srgbClr val="FFFFFF"/>
                </a:solidFill>
                <a:latin typeface="メイリオ"/>
              </a:rPr>
              <a:t>報告が必要な場合</a:t>
            </a:r>
          </a:p>
        </p:txBody>
      </p:sp>
      <p:sp>
        <p:nvSpPr>
          <p:cNvPr id="34" name="TextBox 33"/>
          <p:cNvSpPr txBox="1"/>
          <p:nvPr/>
        </p:nvSpPr>
        <p:spPr>
          <a:xfrm>
            <a:off x="7498079" y="2084831"/>
            <a:ext cx="4206240" cy="502920"/>
          </a:xfrm>
          <a:prstGeom prst="rect">
            <a:avLst/>
          </a:prstGeom>
          <a:noFill/>
        </p:spPr>
        <p:txBody>
          <a:bodyPr wrap="square">
            <a:spAutoFit/>
          </a:bodyPr>
          <a:lstStyle/>
          <a:p>
            <a:pPr algn="l"/>
            <a:r>
              <a:rPr sz="1300" b="0">
                <a:solidFill>
                  <a:srgbClr val="E84C3B"/>
                </a:solidFill>
                <a:latin typeface="メイリオ"/>
              </a:rPr>
              <a:t>⚠ 転倒・転落が発生した</a:t>
            </a:r>
          </a:p>
        </p:txBody>
      </p:sp>
      <p:sp>
        <p:nvSpPr>
          <p:cNvPr id="35" name="TextBox 34"/>
          <p:cNvSpPr txBox="1"/>
          <p:nvPr/>
        </p:nvSpPr>
        <p:spPr>
          <a:xfrm>
            <a:off x="7498079" y="2660903"/>
            <a:ext cx="4206240" cy="502920"/>
          </a:xfrm>
          <a:prstGeom prst="rect">
            <a:avLst/>
          </a:prstGeom>
          <a:noFill/>
        </p:spPr>
        <p:txBody>
          <a:bodyPr wrap="square">
            <a:spAutoFit/>
          </a:bodyPr>
          <a:lstStyle/>
          <a:p>
            <a:pPr algn="l"/>
            <a:r>
              <a:rPr sz="1300" b="0">
                <a:solidFill>
                  <a:srgbClr val="E84C3B"/>
                </a:solidFill>
                <a:latin typeface="メイリオ"/>
              </a:rPr>
              <a:t>⚠ ヒヤリハットがあった</a:t>
            </a:r>
          </a:p>
        </p:txBody>
      </p:sp>
      <p:sp>
        <p:nvSpPr>
          <p:cNvPr id="36" name="TextBox 35"/>
          <p:cNvSpPr txBox="1"/>
          <p:nvPr/>
        </p:nvSpPr>
        <p:spPr>
          <a:xfrm>
            <a:off x="7498079" y="3236976"/>
            <a:ext cx="4206240" cy="502920"/>
          </a:xfrm>
          <a:prstGeom prst="rect">
            <a:avLst/>
          </a:prstGeom>
          <a:noFill/>
        </p:spPr>
        <p:txBody>
          <a:bodyPr wrap="square">
            <a:spAutoFit/>
          </a:bodyPr>
          <a:lstStyle/>
          <a:p>
            <a:pPr algn="l"/>
            <a:r>
              <a:rPr sz="1300" b="0">
                <a:solidFill>
                  <a:srgbClr val="1A1A2E"/>
                </a:solidFill>
                <a:latin typeface="メイリオ"/>
              </a:rPr>
              <a:t>⚠ 患者が痛みを訴えた</a:t>
            </a:r>
          </a:p>
        </p:txBody>
      </p:sp>
      <p:sp>
        <p:nvSpPr>
          <p:cNvPr id="37" name="TextBox 36"/>
          <p:cNvSpPr txBox="1"/>
          <p:nvPr/>
        </p:nvSpPr>
        <p:spPr>
          <a:xfrm>
            <a:off x="7498079" y="3813048"/>
            <a:ext cx="4206240" cy="502920"/>
          </a:xfrm>
          <a:prstGeom prst="rect">
            <a:avLst/>
          </a:prstGeom>
          <a:noFill/>
        </p:spPr>
        <p:txBody>
          <a:bodyPr wrap="square">
            <a:spAutoFit/>
          </a:bodyPr>
          <a:lstStyle/>
          <a:p>
            <a:pPr algn="l"/>
            <a:r>
              <a:rPr sz="1300" b="0">
                <a:solidFill>
                  <a:srgbClr val="1A1A2E"/>
                </a:solidFill>
                <a:latin typeface="メイリオ"/>
              </a:rPr>
              <a:t>⚠ バイタルが基準値を逸脱した</a:t>
            </a:r>
          </a:p>
        </p:txBody>
      </p:sp>
      <p:sp>
        <p:nvSpPr>
          <p:cNvPr id="38" name="TextBox 37"/>
          <p:cNvSpPr txBox="1"/>
          <p:nvPr/>
        </p:nvSpPr>
        <p:spPr>
          <a:xfrm>
            <a:off x="7498079" y="4389120"/>
            <a:ext cx="4206240" cy="502920"/>
          </a:xfrm>
          <a:prstGeom prst="rect">
            <a:avLst/>
          </a:prstGeom>
          <a:noFill/>
        </p:spPr>
        <p:txBody>
          <a:bodyPr wrap="square">
            <a:spAutoFit/>
          </a:bodyPr>
          <a:lstStyle/>
          <a:p>
            <a:pPr algn="l"/>
            <a:r>
              <a:rPr sz="1300" b="0">
                <a:solidFill>
                  <a:srgbClr val="1A1A2E"/>
                </a:solidFill>
                <a:latin typeface="メイリオ"/>
              </a:rPr>
              <a:t>⚠ 皮膚の発赤・損傷を発見した</a:t>
            </a:r>
          </a:p>
        </p:txBody>
      </p:sp>
      <p:sp>
        <p:nvSpPr>
          <p:cNvPr id="39" name="TextBox 38"/>
          <p:cNvSpPr txBox="1"/>
          <p:nvPr/>
        </p:nvSpPr>
        <p:spPr>
          <a:xfrm>
            <a:off x="7498079" y="4965192"/>
            <a:ext cx="4206240" cy="502920"/>
          </a:xfrm>
          <a:prstGeom prst="rect">
            <a:avLst/>
          </a:prstGeom>
          <a:noFill/>
        </p:spPr>
        <p:txBody>
          <a:bodyPr wrap="square">
            <a:spAutoFit/>
          </a:bodyPr>
          <a:lstStyle/>
          <a:p>
            <a:pPr algn="l"/>
            <a:r>
              <a:rPr sz="1300" b="0">
                <a:solidFill>
                  <a:srgbClr val="1A1A2E"/>
                </a:solidFill>
                <a:latin typeface="メイリオ"/>
              </a:rPr>
              <a:t>⚠ ドレーン・カテーテルが抜けた</a:t>
            </a:r>
          </a:p>
        </p:txBody>
      </p:sp>
      <p:sp>
        <p:nvSpPr>
          <p:cNvPr id="40" name="TextBox 39"/>
          <p:cNvSpPr txBox="1"/>
          <p:nvPr/>
        </p:nvSpPr>
        <p:spPr>
          <a:xfrm>
            <a:off x="7498079" y="5541264"/>
            <a:ext cx="4206240" cy="502920"/>
          </a:xfrm>
          <a:prstGeom prst="rect">
            <a:avLst/>
          </a:prstGeom>
          <a:noFill/>
        </p:spPr>
        <p:txBody>
          <a:bodyPr wrap="square">
            <a:spAutoFit/>
          </a:bodyPr>
          <a:lstStyle/>
          <a:p>
            <a:pPr algn="l"/>
            <a:r>
              <a:rPr sz="1300" b="0">
                <a:solidFill>
                  <a:srgbClr val="1A1A2E"/>
                </a:solidFill>
                <a:latin typeface="メイリオ"/>
              </a:rPr>
              <a:t>⚠ 患者が介助を拒否した</a:t>
            </a:r>
          </a:p>
        </p:txBody>
      </p:sp>
      <p:sp>
        <p:nvSpPr>
          <p:cNvPr id="41" name="Rectangle 40"/>
          <p:cNvSpPr/>
          <p:nvPr/>
        </p:nvSpPr>
        <p:spPr>
          <a:xfrm>
            <a:off x="365760" y="6400800"/>
            <a:ext cx="11457432" cy="36576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57200" y="6446520"/>
            <a:ext cx="11274552" cy="274320"/>
          </a:xfrm>
          <a:prstGeom prst="rect">
            <a:avLst/>
          </a:prstGeom>
          <a:noFill/>
        </p:spPr>
        <p:txBody>
          <a:bodyPr wrap="square">
            <a:spAutoFit/>
          </a:bodyPr>
          <a:lstStyle/>
          <a:p>
            <a:pPr algn="ctr"/>
            <a:r>
              <a:rPr sz="1300" b="1">
                <a:solidFill>
                  <a:srgbClr val="FFFFFF"/>
                </a:solidFill>
                <a:latin typeface="メイリオ"/>
              </a:rPr>
              <a:t>記録は「事実」を具体的・客観的に。主観的な表現は避ける</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28016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80160"/>
            <a:ext cx="12188952" cy="73152"/>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353312"/>
            <a:ext cx="12188952" cy="5504688"/>
          </a:xfrm>
          <a:prstGeom prst="rect">
            <a:avLst/>
          </a:prstGeom>
          <a:solidFill>
            <a:srgbClr val="F5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37160"/>
            <a:ext cx="10515600" cy="822960"/>
          </a:xfrm>
          <a:prstGeom prst="rect">
            <a:avLst/>
          </a:prstGeom>
          <a:noFill/>
        </p:spPr>
        <p:txBody>
          <a:bodyPr wrap="square">
            <a:spAutoFit/>
          </a:bodyPr>
          <a:lstStyle/>
          <a:p>
            <a:pPr algn="l"/>
            <a:r>
              <a:rPr sz="2800" b="1">
                <a:solidFill>
                  <a:srgbClr val="FFFFFF"/>
                </a:solidFill>
                <a:latin typeface="メイリオ"/>
              </a:rPr>
              <a:t>確認テスト</a:t>
            </a:r>
          </a:p>
        </p:txBody>
      </p:sp>
      <p:sp>
        <p:nvSpPr>
          <p:cNvPr id="6" name="TextBox 5"/>
          <p:cNvSpPr txBox="1"/>
          <p:nvPr/>
        </p:nvSpPr>
        <p:spPr>
          <a:xfrm>
            <a:off x="365760" y="777240"/>
            <a:ext cx="9144000" cy="457200"/>
          </a:xfrm>
          <a:prstGeom prst="rect">
            <a:avLst/>
          </a:prstGeom>
          <a:noFill/>
        </p:spPr>
        <p:txBody>
          <a:bodyPr wrap="square">
            <a:spAutoFit/>
          </a:bodyPr>
          <a:lstStyle/>
          <a:p>
            <a:pPr algn="l"/>
            <a:r>
              <a:rPr sz="1400" b="0">
                <a:solidFill>
                  <a:srgbClr val="CCE5FF"/>
                </a:solidFill>
                <a:latin typeface="メイリオ"/>
              </a:rPr>
              <a:t>本日の研修内容を振り返りましょう</a:t>
            </a:r>
          </a:p>
        </p:txBody>
      </p:sp>
      <p:sp>
        <p:nvSpPr>
          <p:cNvPr id="7" name="TextBox 6"/>
          <p:cNvSpPr txBox="1"/>
          <p:nvPr/>
        </p:nvSpPr>
        <p:spPr>
          <a:xfrm>
            <a:off x="11155680" y="182880"/>
            <a:ext cx="822960" cy="457200"/>
          </a:xfrm>
          <a:prstGeom prst="rect">
            <a:avLst/>
          </a:prstGeom>
          <a:noFill/>
        </p:spPr>
        <p:txBody>
          <a:bodyPr wrap="square">
            <a:spAutoFit/>
          </a:bodyPr>
          <a:lstStyle/>
          <a:p>
            <a:pPr algn="r"/>
            <a:r>
              <a:rPr sz="1200" b="0">
                <a:solidFill>
                  <a:srgbClr val="AACCFF"/>
                </a:solidFill>
                <a:latin typeface="メイリオ"/>
              </a:rPr>
              <a:t>17 / 18</a:t>
            </a:r>
          </a:p>
        </p:txBody>
      </p:sp>
      <p:sp>
        <p:nvSpPr>
          <p:cNvPr id="8" name="Rectangle 7"/>
          <p:cNvSpPr/>
          <p:nvPr/>
        </p:nvSpPr>
        <p:spPr>
          <a:xfrm>
            <a:off x="365760" y="1554480"/>
            <a:ext cx="914400" cy="68580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645920"/>
            <a:ext cx="914400" cy="502920"/>
          </a:xfrm>
          <a:prstGeom prst="rect">
            <a:avLst/>
          </a:prstGeom>
          <a:noFill/>
        </p:spPr>
        <p:txBody>
          <a:bodyPr wrap="square">
            <a:spAutoFit/>
          </a:bodyPr>
          <a:lstStyle/>
          <a:p>
            <a:pPr algn="ctr"/>
            <a:r>
              <a:rPr sz="1600" b="1">
                <a:solidFill>
                  <a:srgbClr val="FFFFFF"/>
                </a:solidFill>
                <a:latin typeface="メイリオ"/>
              </a:rPr>
              <a:t>Q1</a:t>
            </a:r>
          </a:p>
        </p:txBody>
      </p:sp>
      <p:sp>
        <p:nvSpPr>
          <p:cNvPr id="10" name="Rectangle 9"/>
          <p:cNvSpPr/>
          <p:nvPr/>
        </p:nvSpPr>
        <p:spPr>
          <a:xfrm>
            <a:off x="1280160" y="1554480"/>
            <a:ext cx="10543032" cy="685800"/>
          </a:xfrm>
          <a:prstGeom prst="rect">
            <a:avLst/>
          </a:prstGeom>
          <a:solidFill>
            <a:srgbClr val="FFFFFF"/>
          </a:solidFill>
          <a:ln w="1270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417320" y="1627632"/>
            <a:ext cx="10241280" cy="594360"/>
          </a:xfrm>
          <a:prstGeom prst="rect">
            <a:avLst/>
          </a:prstGeom>
          <a:noFill/>
        </p:spPr>
        <p:txBody>
          <a:bodyPr wrap="square">
            <a:spAutoFit/>
          </a:bodyPr>
          <a:lstStyle/>
          <a:p>
            <a:pPr algn="l"/>
            <a:r>
              <a:rPr sz="1300" b="0">
                <a:solidFill>
                  <a:srgbClr val="1A1A2E"/>
                </a:solidFill>
                <a:latin typeface="メイリオ"/>
              </a:rPr>
              <a:t>ボディメカニクスの目的は何ですか？
①患者の安楽  ②介助者の腰痛予防  ③両方  ④どちらでもない</a:t>
            </a:r>
          </a:p>
        </p:txBody>
      </p:sp>
      <p:sp>
        <p:nvSpPr>
          <p:cNvPr id="12" name="Rectangle 11"/>
          <p:cNvSpPr/>
          <p:nvPr/>
        </p:nvSpPr>
        <p:spPr>
          <a:xfrm>
            <a:off x="365760" y="2487168"/>
            <a:ext cx="914400" cy="68580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5760" y="2578608"/>
            <a:ext cx="914400" cy="502920"/>
          </a:xfrm>
          <a:prstGeom prst="rect">
            <a:avLst/>
          </a:prstGeom>
          <a:noFill/>
        </p:spPr>
        <p:txBody>
          <a:bodyPr wrap="square">
            <a:spAutoFit/>
          </a:bodyPr>
          <a:lstStyle/>
          <a:p>
            <a:pPr algn="ctr"/>
            <a:r>
              <a:rPr sz="1600" b="1">
                <a:solidFill>
                  <a:srgbClr val="FFFFFF"/>
                </a:solidFill>
                <a:latin typeface="メイリオ"/>
              </a:rPr>
              <a:t>Q2</a:t>
            </a:r>
          </a:p>
        </p:txBody>
      </p:sp>
      <p:sp>
        <p:nvSpPr>
          <p:cNvPr id="14" name="Rectangle 13"/>
          <p:cNvSpPr/>
          <p:nvPr/>
        </p:nvSpPr>
        <p:spPr>
          <a:xfrm>
            <a:off x="1280160" y="2487168"/>
            <a:ext cx="10543032" cy="685800"/>
          </a:xfrm>
          <a:prstGeom prst="rect">
            <a:avLst/>
          </a:prstGeom>
          <a:solidFill>
            <a:srgbClr val="FFFFFF"/>
          </a:solidFill>
          <a:ln w="1270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417320" y="2560320"/>
            <a:ext cx="10241280" cy="594360"/>
          </a:xfrm>
          <a:prstGeom prst="rect">
            <a:avLst/>
          </a:prstGeom>
          <a:noFill/>
        </p:spPr>
        <p:txBody>
          <a:bodyPr wrap="square">
            <a:spAutoFit/>
          </a:bodyPr>
          <a:lstStyle/>
          <a:p>
            <a:pPr algn="l"/>
            <a:r>
              <a:rPr sz="1300" b="0">
                <a:solidFill>
                  <a:srgbClr val="1A1A2E"/>
                </a:solidFill>
                <a:latin typeface="メイリオ"/>
              </a:rPr>
              <a:t>片麻痺患者への車椅子移乗で、車椅子を置く位置はどちら側ですか？
①患側（麻痺側）  ②健側（麻痺のない側）  ③どちらでも同じ</a:t>
            </a:r>
          </a:p>
        </p:txBody>
      </p:sp>
      <p:sp>
        <p:nvSpPr>
          <p:cNvPr id="16" name="Rectangle 15"/>
          <p:cNvSpPr/>
          <p:nvPr/>
        </p:nvSpPr>
        <p:spPr>
          <a:xfrm>
            <a:off x="365760" y="3419856"/>
            <a:ext cx="914400" cy="68580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65760" y="3511296"/>
            <a:ext cx="914400" cy="502920"/>
          </a:xfrm>
          <a:prstGeom prst="rect">
            <a:avLst/>
          </a:prstGeom>
          <a:noFill/>
        </p:spPr>
        <p:txBody>
          <a:bodyPr wrap="square">
            <a:spAutoFit/>
          </a:bodyPr>
          <a:lstStyle/>
          <a:p>
            <a:pPr algn="ctr"/>
            <a:r>
              <a:rPr sz="1600" b="1">
                <a:solidFill>
                  <a:srgbClr val="FFFFFF"/>
                </a:solidFill>
                <a:latin typeface="メイリオ"/>
              </a:rPr>
              <a:t>Q3</a:t>
            </a:r>
          </a:p>
        </p:txBody>
      </p:sp>
      <p:sp>
        <p:nvSpPr>
          <p:cNvPr id="18" name="Rectangle 17"/>
          <p:cNvSpPr/>
          <p:nvPr/>
        </p:nvSpPr>
        <p:spPr>
          <a:xfrm>
            <a:off x="1280160" y="3419856"/>
            <a:ext cx="10543032" cy="685800"/>
          </a:xfrm>
          <a:prstGeom prst="rect">
            <a:avLst/>
          </a:prstGeom>
          <a:solidFill>
            <a:srgbClr val="FFFFFF"/>
          </a:solidFill>
          <a:ln w="1270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417320" y="3493008"/>
            <a:ext cx="10241280" cy="594360"/>
          </a:xfrm>
          <a:prstGeom prst="rect">
            <a:avLst/>
          </a:prstGeom>
          <a:noFill/>
        </p:spPr>
        <p:txBody>
          <a:bodyPr wrap="square">
            <a:spAutoFit/>
          </a:bodyPr>
          <a:lstStyle/>
          <a:p>
            <a:pPr algn="l"/>
            <a:r>
              <a:rPr sz="1300" b="0">
                <a:solidFill>
                  <a:srgbClr val="1A1A2E"/>
                </a:solidFill>
                <a:latin typeface="メイリオ"/>
              </a:rPr>
              <a:t>2名介助が必要な条件を1つ答えてください。</a:t>
            </a:r>
          </a:p>
        </p:txBody>
      </p:sp>
      <p:sp>
        <p:nvSpPr>
          <p:cNvPr id="20" name="Rectangle 19"/>
          <p:cNvSpPr/>
          <p:nvPr/>
        </p:nvSpPr>
        <p:spPr>
          <a:xfrm>
            <a:off x="365760" y="4352544"/>
            <a:ext cx="914400" cy="68580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65760" y="4443983"/>
            <a:ext cx="914400" cy="502920"/>
          </a:xfrm>
          <a:prstGeom prst="rect">
            <a:avLst/>
          </a:prstGeom>
          <a:noFill/>
        </p:spPr>
        <p:txBody>
          <a:bodyPr wrap="square">
            <a:spAutoFit/>
          </a:bodyPr>
          <a:lstStyle/>
          <a:p>
            <a:pPr algn="ctr"/>
            <a:r>
              <a:rPr sz="1600" b="1">
                <a:solidFill>
                  <a:srgbClr val="FFFFFF"/>
                </a:solidFill>
                <a:latin typeface="メイリオ"/>
              </a:rPr>
              <a:t>Q4</a:t>
            </a:r>
          </a:p>
        </p:txBody>
      </p:sp>
      <p:sp>
        <p:nvSpPr>
          <p:cNvPr id="22" name="Rectangle 21"/>
          <p:cNvSpPr/>
          <p:nvPr/>
        </p:nvSpPr>
        <p:spPr>
          <a:xfrm>
            <a:off x="1280160" y="4352544"/>
            <a:ext cx="10543032" cy="685800"/>
          </a:xfrm>
          <a:prstGeom prst="rect">
            <a:avLst/>
          </a:prstGeom>
          <a:solidFill>
            <a:srgbClr val="FFFFFF"/>
          </a:solidFill>
          <a:ln w="1270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417320" y="4425696"/>
            <a:ext cx="10241280" cy="594360"/>
          </a:xfrm>
          <a:prstGeom prst="rect">
            <a:avLst/>
          </a:prstGeom>
          <a:noFill/>
        </p:spPr>
        <p:txBody>
          <a:bodyPr wrap="square">
            <a:spAutoFit/>
          </a:bodyPr>
          <a:lstStyle/>
          <a:p>
            <a:pPr algn="l"/>
            <a:r>
              <a:rPr sz="1300" b="0">
                <a:solidFill>
                  <a:srgbClr val="1A1A2E"/>
                </a:solidFill>
                <a:latin typeface="メイリオ"/>
              </a:rPr>
              <a:t>移乗介助前に必ず確認すべき3つのことを答えてください。</a:t>
            </a:r>
          </a:p>
        </p:txBody>
      </p:sp>
      <p:sp>
        <p:nvSpPr>
          <p:cNvPr id="24" name="Rectangle 23"/>
          <p:cNvSpPr/>
          <p:nvPr/>
        </p:nvSpPr>
        <p:spPr>
          <a:xfrm>
            <a:off x="365760" y="5285232"/>
            <a:ext cx="914400" cy="68580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65760" y="5376672"/>
            <a:ext cx="914400" cy="502920"/>
          </a:xfrm>
          <a:prstGeom prst="rect">
            <a:avLst/>
          </a:prstGeom>
          <a:noFill/>
        </p:spPr>
        <p:txBody>
          <a:bodyPr wrap="square">
            <a:spAutoFit/>
          </a:bodyPr>
          <a:lstStyle/>
          <a:p>
            <a:pPr algn="ctr"/>
            <a:r>
              <a:rPr sz="1600" b="1">
                <a:solidFill>
                  <a:srgbClr val="FFFFFF"/>
                </a:solidFill>
                <a:latin typeface="メイリオ"/>
              </a:rPr>
              <a:t>Q5</a:t>
            </a:r>
          </a:p>
        </p:txBody>
      </p:sp>
      <p:sp>
        <p:nvSpPr>
          <p:cNvPr id="26" name="Rectangle 25"/>
          <p:cNvSpPr/>
          <p:nvPr/>
        </p:nvSpPr>
        <p:spPr>
          <a:xfrm>
            <a:off x="1280160" y="5285232"/>
            <a:ext cx="10543032" cy="685800"/>
          </a:xfrm>
          <a:prstGeom prst="rect">
            <a:avLst/>
          </a:prstGeom>
          <a:solidFill>
            <a:srgbClr val="FFFFFF"/>
          </a:solidFill>
          <a:ln w="1270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417320" y="5358384"/>
            <a:ext cx="10241280" cy="594360"/>
          </a:xfrm>
          <a:prstGeom prst="rect">
            <a:avLst/>
          </a:prstGeom>
          <a:noFill/>
        </p:spPr>
        <p:txBody>
          <a:bodyPr wrap="square">
            <a:spAutoFit/>
          </a:bodyPr>
          <a:lstStyle/>
          <a:p>
            <a:pPr algn="l"/>
            <a:r>
              <a:rPr sz="1300" b="0">
                <a:solidFill>
                  <a:srgbClr val="1A1A2E"/>
                </a:solidFill>
                <a:latin typeface="メイリオ"/>
              </a:rPr>
              <a:t>転倒が発生した際の対応の優先順位を答えてください。</a:t>
            </a:r>
          </a:p>
        </p:txBody>
      </p:sp>
      <p:sp>
        <p:nvSpPr>
          <p:cNvPr id="28" name="Rectangle 27"/>
          <p:cNvSpPr/>
          <p:nvPr/>
        </p:nvSpPr>
        <p:spPr>
          <a:xfrm>
            <a:off x="1828800" y="6263640"/>
            <a:ext cx="8531352" cy="457200"/>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920240" y="6309359"/>
            <a:ext cx="8348472" cy="365760"/>
          </a:xfrm>
          <a:prstGeom prst="rect">
            <a:avLst/>
          </a:prstGeom>
          <a:noFill/>
        </p:spPr>
        <p:txBody>
          <a:bodyPr wrap="square">
            <a:spAutoFit/>
          </a:bodyPr>
          <a:lstStyle/>
          <a:p>
            <a:pPr algn="ctr"/>
            <a:r>
              <a:rPr sz="1400" b="1">
                <a:solidFill>
                  <a:srgbClr val="FFFFFF"/>
                </a:solidFill>
                <a:latin typeface="メイリオ"/>
              </a:rPr>
              <a:t>答え合わせは研修担当者と一緒に行いましょう！</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28016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80160"/>
            <a:ext cx="12188952" cy="73152"/>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353312"/>
            <a:ext cx="12188952" cy="5504688"/>
          </a:xfrm>
          <a:prstGeom prst="rect">
            <a:avLst/>
          </a:prstGeom>
          <a:solidFill>
            <a:srgbClr val="F5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37160"/>
            <a:ext cx="10515600" cy="822960"/>
          </a:xfrm>
          <a:prstGeom prst="rect">
            <a:avLst/>
          </a:prstGeom>
          <a:noFill/>
        </p:spPr>
        <p:txBody>
          <a:bodyPr wrap="square">
            <a:spAutoFit/>
          </a:bodyPr>
          <a:lstStyle/>
          <a:p>
            <a:pPr algn="l"/>
            <a:r>
              <a:rPr sz="2800" b="1">
                <a:solidFill>
                  <a:srgbClr val="FFFFFF"/>
                </a:solidFill>
                <a:latin typeface="メイリオ"/>
              </a:rPr>
              <a:t>本日のまとめ</a:t>
            </a:r>
          </a:p>
        </p:txBody>
      </p:sp>
      <p:sp>
        <p:nvSpPr>
          <p:cNvPr id="6" name="TextBox 5"/>
          <p:cNvSpPr txBox="1"/>
          <p:nvPr/>
        </p:nvSpPr>
        <p:spPr>
          <a:xfrm>
            <a:off x="365760" y="777240"/>
            <a:ext cx="9144000" cy="457200"/>
          </a:xfrm>
          <a:prstGeom prst="rect">
            <a:avLst/>
          </a:prstGeom>
          <a:noFill/>
        </p:spPr>
        <p:txBody>
          <a:bodyPr wrap="square">
            <a:spAutoFit/>
          </a:bodyPr>
          <a:lstStyle/>
          <a:p>
            <a:pPr algn="l"/>
            <a:r>
              <a:rPr sz="1400" b="0">
                <a:solidFill>
                  <a:srgbClr val="CCE5FF"/>
                </a:solidFill>
                <a:latin typeface="メイリオ"/>
              </a:rPr>
              <a:t>移乗・移動介助のポイントを復習</a:t>
            </a:r>
          </a:p>
        </p:txBody>
      </p:sp>
      <p:sp>
        <p:nvSpPr>
          <p:cNvPr id="7" name="TextBox 6"/>
          <p:cNvSpPr txBox="1"/>
          <p:nvPr/>
        </p:nvSpPr>
        <p:spPr>
          <a:xfrm>
            <a:off x="11155680" y="182880"/>
            <a:ext cx="822960" cy="457200"/>
          </a:xfrm>
          <a:prstGeom prst="rect">
            <a:avLst/>
          </a:prstGeom>
          <a:noFill/>
        </p:spPr>
        <p:txBody>
          <a:bodyPr wrap="square">
            <a:spAutoFit/>
          </a:bodyPr>
          <a:lstStyle/>
          <a:p>
            <a:pPr algn="r"/>
            <a:r>
              <a:rPr sz="1200" b="0">
                <a:solidFill>
                  <a:srgbClr val="AACCFF"/>
                </a:solidFill>
                <a:latin typeface="メイリオ"/>
              </a:rPr>
              <a:t>18 / 18</a:t>
            </a:r>
          </a:p>
        </p:txBody>
      </p:sp>
      <p:sp>
        <p:nvSpPr>
          <p:cNvPr id="8" name="Rectangle 7"/>
          <p:cNvSpPr/>
          <p:nvPr/>
        </p:nvSpPr>
        <p:spPr>
          <a:xfrm>
            <a:off x="320040" y="1554480"/>
            <a:ext cx="640080" cy="109728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20040" y="1828800"/>
            <a:ext cx="640080" cy="548640"/>
          </a:xfrm>
          <a:prstGeom prst="rect">
            <a:avLst/>
          </a:prstGeom>
          <a:noFill/>
        </p:spPr>
        <p:txBody>
          <a:bodyPr wrap="square">
            <a:spAutoFit/>
          </a:bodyPr>
          <a:lstStyle/>
          <a:p>
            <a:pPr algn="ctr"/>
            <a:r>
              <a:rPr sz="2200" b="1">
                <a:solidFill>
                  <a:srgbClr val="FFFFFF"/>
                </a:solidFill>
                <a:latin typeface="メイリオ"/>
              </a:rPr>
              <a:t>1</a:t>
            </a:r>
          </a:p>
        </p:txBody>
      </p:sp>
      <p:sp>
        <p:nvSpPr>
          <p:cNvPr id="10" name="Rectangle 9"/>
          <p:cNvSpPr/>
          <p:nvPr/>
        </p:nvSpPr>
        <p:spPr>
          <a:xfrm>
            <a:off x="960119" y="1554480"/>
            <a:ext cx="5166360" cy="1097280"/>
          </a:xfrm>
          <a:prstGeom prst="rect">
            <a:avLst/>
          </a:prstGeom>
          <a:solidFill>
            <a:srgbClr val="FFFFFF"/>
          </a:solidFill>
          <a:ln w="1905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97280" y="1645920"/>
            <a:ext cx="4937760" cy="411480"/>
          </a:xfrm>
          <a:prstGeom prst="rect">
            <a:avLst/>
          </a:prstGeom>
          <a:noFill/>
        </p:spPr>
        <p:txBody>
          <a:bodyPr wrap="square">
            <a:spAutoFit/>
          </a:bodyPr>
          <a:lstStyle/>
          <a:p>
            <a:pPr algn="l"/>
            <a:r>
              <a:rPr sz="1600" b="1">
                <a:solidFill>
                  <a:srgbClr val="005B99"/>
                </a:solidFill>
                <a:latin typeface="メイリオ"/>
              </a:rPr>
              <a:t>介助の3原則</a:t>
            </a:r>
          </a:p>
        </p:txBody>
      </p:sp>
      <p:sp>
        <p:nvSpPr>
          <p:cNvPr id="12" name="TextBox 11"/>
          <p:cNvSpPr txBox="1"/>
          <p:nvPr/>
        </p:nvSpPr>
        <p:spPr>
          <a:xfrm>
            <a:off x="1097280" y="2057400"/>
            <a:ext cx="4937760" cy="502920"/>
          </a:xfrm>
          <a:prstGeom prst="rect">
            <a:avLst/>
          </a:prstGeom>
          <a:noFill/>
        </p:spPr>
        <p:txBody>
          <a:bodyPr wrap="square">
            <a:spAutoFit/>
          </a:bodyPr>
          <a:lstStyle/>
          <a:p>
            <a:pPr algn="l"/>
            <a:r>
              <a:rPr sz="1400" b="0">
                <a:solidFill>
                  <a:srgbClr val="1A1A2E"/>
                </a:solidFill>
                <a:latin typeface="メイリオ"/>
              </a:rPr>
              <a:t>安全・安楽・自立支援を常に意識する</a:t>
            </a:r>
          </a:p>
        </p:txBody>
      </p:sp>
      <p:sp>
        <p:nvSpPr>
          <p:cNvPr id="13" name="Rectangle 12"/>
          <p:cNvSpPr/>
          <p:nvPr/>
        </p:nvSpPr>
        <p:spPr>
          <a:xfrm>
            <a:off x="320040" y="2907791"/>
            <a:ext cx="640080" cy="109728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20040" y="3182111"/>
            <a:ext cx="640080" cy="548640"/>
          </a:xfrm>
          <a:prstGeom prst="rect">
            <a:avLst/>
          </a:prstGeom>
          <a:noFill/>
        </p:spPr>
        <p:txBody>
          <a:bodyPr wrap="square">
            <a:spAutoFit/>
          </a:bodyPr>
          <a:lstStyle/>
          <a:p>
            <a:pPr algn="ctr"/>
            <a:r>
              <a:rPr sz="2200" b="1">
                <a:solidFill>
                  <a:srgbClr val="FFFFFF"/>
                </a:solidFill>
                <a:latin typeface="メイリオ"/>
              </a:rPr>
              <a:t>2</a:t>
            </a:r>
          </a:p>
        </p:txBody>
      </p:sp>
      <p:sp>
        <p:nvSpPr>
          <p:cNvPr id="15" name="Rectangle 14"/>
          <p:cNvSpPr/>
          <p:nvPr/>
        </p:nvSpPr>
        <p:spPr>
          <a:xfrm>
            <a:off x="960119" y="2907791"/>
            <a:ext cx="5166360" cy="1097280"/>
          </a:xfrm>
          <a:prstGeom prst="rect">
            <a:avLst/>
          </a:prstGeom>
          <a:solidFill>
            <a:srgbClr val="FFFFFF"/>
          </a:solidFill>
          <a:ln w="1905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97280" y="2999232"/>
            <a:ext cx="4937760" cy="411480"/>
          </a:xfrm>
          <a:prstGeom prst="rect">
            <a:avLst/>
          </a:prstGeom>
          <a:noFill/>
        </p:spPr>
        <p:txBody>
          <a:bodyPr wrap="square">
            <a:spAutoFit/>
          </a:bodyPr>
          <a:lstStyle/>
          <a:p>
            <a:pPr algn="l"/>
            <a:r>
              <a:rPr sz="1600" b="1">
                <a:solidFill>
                  <a:srgbClr val="005B99"/>
                </a:solidFill>
                <a:latin typeface="メイリオ"/>
              </a:rPr>
              <a:t>ボディメカニクス</a:t>
            </a:r>
          </a:p>
        </p:txBody>
      </p:sp>
      <p:sp>
        <p:nvSpPr>
          <p:cNvPr id="17" name="TextBox 16"/>
          <p:cNvSpPr txBox="1"/>
          <p:nvPr/>
        </p:nvSpPr>
        <p:spPr>
          <a:xfrm>
            <a:off x="1097280" y="3410711"/>
            <a:ext cx="4937760" cy="502920"/>
          </a:xfrm>
          <a:prstGeom prst="rect">
            <a:avLst/>
          </a:prstGeom>
          <a:noFill/>
        </p:spPr>
        <p:txBody>
          <a:bodyPr wrap="square">
            <a:spAutoFit/>
          </a:bodyPr>
          <a:lstStyle/>
          <a:p>
            <a:pPr algn="l"/>
            <a:r>
              <a:rPr sz="1400" b="0">
                <a:solidFill>
                  <a:srgbClr val="1A1A2E"/>
                </a:solidFill>
                <a:latin typeface="メイリオ"/>
              </a:rPr>
              <a:t>正しい姿勢で患者も介助者も守る</a:t>
            </a:r>
          </a:p>
        </p:txBody>
      </p:sp>
      <p:sp>
        <p:nvSpPr>
          <p:cNvPr id="18" name="Rectangle 17"/>
          <p:cNvSpPr/>
          <p:nvPr/>
        </p:nvSpPr>
        <p:spPr>
          <a:xfrm>
            <a:off x="320040" y="4261104"/>
            <a:ext cx="640080" cy="109728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20040" y="4535424"/>
            <a:ext cx="640080" cy="548640"/>
          </a:xfrm>
          <a:prstGeom prst="rect">
            <a:avLst/>
          </a:prstGeom>
          <a:noFill/>
        </p:spPr>
        <p:txBody>
          <a:bodyPr wrap="square">
            <a:spAutoFit/>
          </a:bodyPr>
          <a:lstStyle/>
          <a:p>
            <a:pPr algn="ctr"/>
            <a:r>
              <a:rPr sz="2200" b="1">
                <a:solidFill>
                  <a:srgbClr val="FFFFFF"/>
                </a:solidFill>
                <a:latin typeface="メイリオ"/>
              </a:rPr>
              <a:t>3</a:t>
            </a:r>
          </a:p>
        </p:txBody>
      </p:sp>
      <p:sp>
        <p:nvSpPr>
          <p:cNvPr id="20" name="Rectangle 19"/>
          <p:cNvSpPr/>
          <p:nvPr/>
        </p:nvSpPr>
        <p:spPr>
          <a:xfrm>
            <a:off x="960119" y="4261104"/>
            <a:ext cx="5166360" cy="1097280"/>
          </a:xfrm>
          <a:prstGeom prst="rect">
            <a:avLst/>
          </a:prstGeom>
          <a:solidFill>
            <a:srgbClr val="FFFFFF"/>
          </a:solidFill>
          <a:ln w="1905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97280" y="4352544"/>
            <a:ext cx="4937760" cy="411480"/>
          </a:xfrm>
          <a:prstGeom prst="rect">
            <a:avLst/>
          </a:prstGeom>
          <a:noFill/>
        </p:spPr>
        <p:txBody>
          <a:bodyPr wrap="square">
            <a:spAutoFit/>
          </a:bodyPr>
          <a:lstStyle/>
          <a:p>
            <a:pPr algn="l"/>
            <a:r>
              <a:rPr sz="1600" b="1">
                <a:solidFill>
                  <a:srgbClr val="005B99"/>
                </a:solidFill>
                <a:latin typeface="メイリオ"/>
              </a:rPr>
              <a:t>確認・声かけ</a:t>
            </a:r>
          </a:p>
        </p:txBody>
      </p:sp>
      <p:sp>
        <p:nvSpPr>
          <p:cNvPr id="22" name="TextBox 21"/>
          <p:cNvSpPr txBox="1"/>
          <p:nvPr/>
        </p:nvSpPr>
        <p:spPr>
          <a:xfrm>
            <a:off x="1097280" y="4764024"/>
            <a:ext cx="4937760" cy="502920"/>
          </a:xfrm>
          <a:prstGeom prst="rect">
            <a:avLst/>
          </a:prstGeom>
          <a:noFill/>
        </p:spPr>
        <p:txBody>
          <a:bodyPr wrap="square">
            <a:spAutoFit/>
          </a:bodyPr>
          <a:lstStyle/>
          <a:p>
            <a:pPr algn="l"/>
            <a:r>
              <a:rPr sz="1400" b="0">
                <a:solidFill>
                  <a:srgbClr val="1A1A2E"/>
                </a:solidFill>
                <a:latin typeface="メイリオ"/>
              </a:rPr>
              <a:t>介助前の確認と患者への声かけを徹底する</a:t>
            </a:r>
          </a:p>
        </p:txBody>
      </p:sp>
      <p:sp>
        <p:nvSpPr>
          <p:cNvPr id="23" name="Rectangle 22"/>
          <p:cNvSpPr/>
          <p:nvPr/>
        </p:nvSpPr>
        <p:spPr>
          <a:xfrm>
            <a:off x="6126480" y="1554480"/>
            <a:ext cx="640080" cy="109728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126480" y="1828800"/>
            <a:ext cx="640080" cy="548640"/>
          </a:xfrm>
          <a:prstGeom prst="rect">
            <a:avLst/>
          </a:prstGeom>
          <a:noFill/>
        </p:spPr>
        <p:txBody>
          <a:bodyPr wrap="square">
            <a:spAutoFit/>
          </a:bodyPr>
          <a:lstStyle/>
          <a:p>
            <a:pPr algn="ctr"/>
            <a:r>
              <a:rPr sz="2200" b="1">
                <a:solidFill>
                  <a:srgbClr val="FFFFFF"/>
                </a:solidFill>
                <a:latin typeface="メイリオ"/>
              </a:rPr>
              <a:t>4</a:t>
            </a:r>
          </a:p>
        </p:txBody>
      </p:sp>
      <p:sp>
        <p:nvSpPr>
          <p:cNvPr id="25" name="Rectangle 24"/>
          <p:cNvSpPr/>
          <p:nvPr/>
        </p:nvSpPr>
        <p:spPr>
          <a:xfrm>
            <a:off x="6766560" y="1554480"/>
            <a:ext cx="5166360" cy="1097280"/>
          </a:xfrm>
          <a:prstGeom prst="rect">
            <a:avLst/>
          </a:prstGeom>
          <a:solidFill>
            <a:srgbClr val="FFFFFF"/>
          </a:solidFill>
          <a:ln w="1905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03720" y="1645920"/>
            <a:ext cx="4937760" cy="411480"/>
          </a:xfrm>
          <a:prstGeom prst="rect">
            <a:avLst/>
          </a:prstGeom>
          <a:noFill/>
        </p:spPr>
        <p:txBody>
          <a:bodyPr wrap="square">
            <a:spAutoFit/>
          </a:bodyPr>
          <a:lstStyle/>
          <a:p>
            <a:pPr algn="l"/>
            <a:r>
              <a:rPr sz="1600" b="1">
                <a:solidFill>
                  <a:srgbClr val="005B99"/>
                </a:solidFill>
                <a:latin typeface="メイリオ"/>
              </a:rPr>
              <a:t>移乗手順の遵守</a:t>
            </a:r>
          </a:p>
        </p:txBody>
      </p:sp>
      <p:sp>
        <p:nvSpPr>
          <p:cNvPr id="27" name="TextBox 26"/>
          <p:cNvSpPr txBox="1"/>
          <p:nvPr/>
        </p:nvSpPr>
        <p:spPr>
          <a:xfrm>
            <a:off x="6903720" y="2057400"/>
            <a:ext cx="4937760" cy="502920"/>
          </a:xfrm>
          <a:prstGeom prst="rect">
            <a:avLst/>
          </a:prstGeom>
          <a:noFill/>
        </p:spPr>
        <p:txBody>
          <a:bodyPr wrap="square">
            <a:spAutoFit/>
          </a:bodyPr>
          <a:lstStyle/>
          <a:p>
            <a:pPr algn="l"/>
            <a:r>
              <a:rPr sz="1400" b="0">
                <a:solidFill>
                  <a:srgbClr val="1A1A2E"/>
                </a:solidFill>
                <a:latin typeface="メイリオ"/>
              </a:rPr>
              <a:t>車椅子の角度・ブレーキ・フットレストを確認</a:t>
            </a:r>
          </a:p>
        </p:txBody>
      </p:sp>
      <p:sp>
        <p:nvSpPr>
          <p:cNvPr id="28" name="Rectangle 27"/>
          <p:cNvSpPr/>
          <p:nvPr/>
        </p:nvSpPr>
        <p:spPr>
          <a:xfrm>
            <a:off x="6126480" y="2907791"/>
            <a:ext cx="640080" cy="109728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126480" y="3182111"/>
            <a:ext cx="640080" cy="548640"/>
          </a:xfrm>
          <a:prstGeom prst="rect">
            <a:avLst/>
          </a:prstGeom>
          <a:noFill/>
        </p:spPr>
        <p:txBody>
          <a:bodyPr wrap="square">
            <a:spAutoFit/>
          </a:bodyPr>
          <a:lstStyle/>
          <a:p>
            <a:pPr algn="ctr"/>
            <a:r>
              <a:rPr sz="2200" b="1">
                <a:solidFill>
                  <a:srgbClr val="FFFFFF"/>
                </a:solidFill>
                <a:latin typeface="メイリオ"/>
              </a:rPr>
              <a:t>5</a:t>
            </a:r>
          </a:p>
        </p:txBody>
      </p:sp>
      <p:sp>
        <p:nvSpPr>
          <p:cNvPr id="30" name="Rectangle 29"/>
          <p:cNvSpPr/>
          <p:nvPr/>
        </p:nvSpPr>
        <p:spPr>
          <a:xfrm>
            <a:off x="6766560" y="2907791"/>
            <a:ext cx="5166360" cy="1097280"/>
          </a:xfrm>
          <a:prstGeom prst="rect">
            <a:avLst/>
          </a:prstGeom>
          <a:solidFill>
            <a:srgbClr val="FFFFFF"/>
          </a:solidFill>
          <a:ln w="1905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903720" y="2999232"/>
            <a:ext cx="4937760" cy="411480"/>
          </a:xfrm>
          <a:prstGeom prst="rect">
            <a:avLst/>
          </a:prstGeom>
          <a:noFill/>
        </p:spPr>
        <p:txBody>
          <a:bodyPr wrap="square">
            <a:spAutoFit/>
          </a:bodyPr>
          <a:lstStyle/>
          <a:p>
            <a:pPr algn="l"/>
            <a:r>
              <a:rPr sz="1600" b="1">
                <a:solidFill>
                  <a:srgbClr val="005B99"/>
                </a:solidFill>
                <a:latin typeface="メイリオ"/>
              </a:rPr>
              <a:t>2名介助の判断</a:t>
            </a:r>
          </a:p>
        </p:txBody>
      </p:sp>
      <p:sp>
        <p:nvSpPr>
          <p:cNvPr id="32" name="TextBox 31"/>
          <p:cNvSpPr txBox="1"/>
          <p:nvPr/>
        </p:nvSpPr>
        <p:spPr>
          <a:xfrm>
            <a:off x="6903720" y="3410711"/>
            <a:ext cx="4937760" cy="502920"/>
          </a:xfrm>
          <a:prstGeom prst="rect">
            <a:avLst/>
          </a:prstGeom>
          <a:noFill/>
        </p:spPr>
        <p:txBody>
          <a:bodyPr wrap="square">
            <a:spAutoFit/>
          </a:bodyPr>
          <a:lstStyle/>
          <a:p>
            <a:pPr algn="l"/>
            <a:r>
              <a:rPr sz="1400" b="0">
                <a:solidFill>
                  <a:srgbClr val="1A1A2E"/>
                </a:solidFill>
                <a:latin typeface="メイリオ"/>
              </a:rPr>
              <a:t>一人で無理せず、迷ったら必ず声をかける</a:t>
            </a:r>
          </a:p>
        </p:txBody>
      </p:sp>
      <p:sp>
        <p:nvSpPr>
          <p:cNvPr id="33" name="Rectangle 32"/>
          <p:cNvSpPr/>
          <p:nvPr/>
        </p:nvSpPr>
        <p:spPr>
          <a:xfrm>
            <a:off x="6126480" y="4261104"/>
            <a:ext cx="640080" cy="109728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126480" y="4535424"/>
            <a:ext cx="640080" cy="548640"/>
          </a:xfrm>
          <a:prstGeom prst="rect">
            <a:avLst/>
          </a:prstGeom>
          <a:noFill/>
        </p:spPr>
        <p:txBody>
          <a:bodyPr wrap="square">
            <a:spAutoFit/>
          </a:bodyPr>
          <a:lstStyle/>
          <a:p>
            <a:pPr algn="ctr"/>
            <a:r>
              <a:rPr sz="2200" b="1">
                <a:solidFill>
                  <a:srgbClr val="FFFFFF"/>
                </a:solidFill>
                <a:latin typeface="メイリオ"/>
              </a:rPr>
              <a:t>6</a:t>
            </a:r>
          </a:p>
        </p:txBody>
      </p:sp>
      <p:sp>
        <p:nvSpPr>
          <p:cNvPr id="35" name="Rectangle 34"/>
          <p:cNvSpPr/>
          <p:nvPr/>
        </p:nvSpPr>
        <p:spPr>
          <a:xfrm>
            <a:off x="6766560" y="4261104"/>
            <a:ext cx="5166360" cy="1097280"/>
          </a:xfrm>
          <a:prstGeom prst="rect">
            <a:avLst/>
          </a:prstGeom>
          <a:solidFill>
            <a:srgbClr val="FFFFFF"/>
          </a:solidFill>
          <a:ln w="1905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903720" y="4352544"/>
            <a:ext cx="4937760" cy="411480"/>
          </a:xfrm>
          <a:prstGeom prst="rect">
            <a:avLst/>
          </a:prstGeom>
          <a:noFill/>
        </p:spPr>
        <p:txBody>
          <a:bodyPr wrap="square">
            <a:spAutoFit/>
          </a:bodyPr>
          <a:lstStyle/>
          <a:p>
            <a:pPr algn="l"/>
            <a:r>
              <a:rPr sz="1600" b="1">
                <a:solidFill>
                  <a:srgbClr val="005B99"/>
                </a:solidFill>
                <a:latin typeface="メイリオ"/>
              </a:rPr>
              <a:t>記録・報告</a:t>
            </a:r>
          </a:p>
        </p:txBody>
      </p:sp>
      <p:sp>
        <p:nvSpPr>
          <p:cNvPr id="37" name="TextBox 36"/>
          <p:cNvSpPr txBox="1"/>
          <p:nvPr/>
        </p:nvSpPr>
        <p:spPr>
          <a:xfrm>
            <a:off x="6903720" y="4764024"/>
            <a:ext cx="4937760" cy="502920"/>
          </a:xfrm>
          <a:prstGeom prst="rect">
            <a:avLst/>
          </a:prstGeom>
          <a:noFill/>
        </p:spPr>
        <p:txBody>
          <a:bodyPr wrap="square">
            <a:spAutoFit/>
          </a:bodyPr>
          <a:lstStyle/>
          <a:p>
            <a:pPr algn="l"/>
            <a:r>
              <a:rPr sz="1400" b="0">
                <a:solidFill>
                  <a:srgbClr val="1A1A2E"/>
                </a:solidFill>
                <a:latin typeface="メイリオ"/>
              </a:rPr>
              <a:t>気づいたことはすぐに記録・報告・連絡</a:t>
            </a:r>
          </a:p>
        </p:txBody>
      </p:sp>
      <p:sp>
        <p:nvSpPr>
          <p:cNvPr id="38" name="Rectangle 37"/>
          <p:cNvSpPr/>
          <p:nvPr/>
        </p:nvSpPr>
        <p:spPr>
          <a:xfrm>
            <a:off x="365760" y="6035040"/>
            <a:ext cx="11457432" cy="68580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7200" y="6108192"/>
            <a:ext cx="11247120" cy="502920"/>
          </a:xfrm>
          <a:prstGeom prst="rect">
            <a:avLst/>
          </a:prstGeom>
          <a:noFill/>
        </p:spPr>
        <p:txBody>
          <a:bodyPr wrap="square">
            <a:spAutoFit/>
          </a:bodyPr>
          <a:lstStyle/>
          <a:p>
            <a:pPr algn="ctr"/>
            <a:r>
              <a:rPr sz="1700" b="1">
                <a:solidFill>
                  <a:srgbClr val="FFFFFF"/>
                </a:solidFill>
                <a:latin typeface="メイリオ"/>
              </a:rPr>
              <a:t>患者の「安全・安楽・自立支援」のために、今日から実践しましょう！</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1181</TotalTime>
  <Words>1289</Words>
  <Application>Microsoft Office PowerPoint</Application>
  <PresentationFormat>ユーザー設定</PresentationFormat>
  <Paragraphs>352</Paragraphs>
  <Slides>18</Slides>
  <Notes>1</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18</vt:i4>
      </vt:variant>
    </vt:vector>
  </HeadingPairs>
  <TitlesOfParts>
    <vt:vector size="23" baseType="lpstr">
      <vt:lpstr>メイリオ</vt:lpstr>
      <vt:lpstr>游ゴシック</vt:lpstr>
      <vt:lpstr>Arial</vt:lpstr>
      <vt:lpstr>Calibri</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新誠</dc:creator>
  <cp:keywords/>
  <dc:description>generated using python-pptx</dc:description>
  <cp:lastModifiedBy>s21901</cp:lastModifiedBy>
  <cp:revision>2</cp:revision>
  <dcterms:created xsi:type="dcterms:W3CDTF">2013-01-27T09:14:16Z</dcterms:created>
  <dcterms:modified xsi:type="dcterms:W3CDTF">2026-03-23T10:53:02Z</dcterms:modified>
  <cp:category/>
</cp:coreProperties>
</file>
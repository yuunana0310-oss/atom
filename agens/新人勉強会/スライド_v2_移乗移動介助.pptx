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新人職員研修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498079" cy="1463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移乗・移動介助の基本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〜安全・安楽・自立支援を実践する〜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対象：看護職員・介護職員　｜　所要時間：約30分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</a:rPr>
              <a:t>医療法人 研修・教育委員会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97280"/>
            <a:ext cx="3474720" cy="438912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0175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移乗介助の場面写真
young nurse assisting transfer
bright facility warm light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本日の研修目標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この研修で身につけること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868680"/>
          </a:xfrm>
          <a:prstGeom prst="rect">
            <a:avLst/>
          </a:prstGeom>
          <a:solidFill>
            <a:srgbClr val="457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581912"/>
            <a:ext cx="530352" cy="5303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002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移乗・移動介助の基本原則とボディメカニクスを理解する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1274552" cy="868680"/>
          </a:xfrm>
          <a:prstGeom prst="rect">
            <a:avLst/>
          </a:prstGeom>
          <a:solidFill>
            <a:srgbClr val="2EAAC4"/>
          </a:solidFill>
          <a:ln w="1905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2587752"/>
            <a:ext cx="530352" cy="530352"/>
          </a:xfrm>
          <a:prstGeom prst="ellipse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060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車椅子・ベッド間の移乗手順を正しく実施できる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11274552" cy="868680"/>
          </a:xfrm>
          <a:prstGeom prst="rect">
            <a:avLst/>
          </a:prstGeom>
          <a:solidFill>
            <a:srgbClr val="2DBE91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3593592"/>
            <a:ext cx="530352" cy="5303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11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歩行介助・立ち上がり介助を安全に行える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11274552" cy="868680"/>
          </a:xfrm>
          <a:prstGeom prst="rect">
            <a:avLst/>
          </a:prstGeom>
          <a:solidFill>
            <a:srgbClr val="FF9F2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4599432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61772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転倒・転落リスクを予測し予防策を講じられる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440680"/>
            <a:ext cx="11274552" cy="868680"/>
          </a:xfrm>
          <a:prstGeom prst="rect">
            <a:avLst/>
          </a:prstGeom>
          <a:solidFill>
            <a:srgbClr val="9E45C9"/>
          </a:solidFill>
          <a:ln w="19050">
            <a:solidFill>
              <a:srgbClr val="761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5605272"/>
            <a:ext cx="530352" cy="530352"/>
          </a:xfrm>
          <a:prstGeom prst="ellipse">
            <a:avLst/>
          </a:prstGeom>
          <a:solidFill>
            <a:srgbClr val="761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62356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患者の尊厳と残存能力を尊重した介助ができる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solidFill>
            <a:srgbClr val="FFF3C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92240"/>
            <a:ext cx="1104595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▲  患者の安全・安楽・自立支援が介助の3原則です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介助の3原則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すべての介助の土台となる考え方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49039" cy="4846320"/>
          </a:xfrm>
          <a:prstGeom prst="rect">
            <a:avLst/>
          </a:prstGeom>
          <a:solidFill>
            <a:srgbClr val="FDE8E8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</a:rPr>
              <a:t>安　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✓  転倒・転落・皮膚損傷を防ぐ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✓  環境整備を必ず行う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✓  2人介助の基準を遵守する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749039" cy="4846320"/>
          </a:xfrm>
          <a:prstGeom prst="rect">
            <a:avLst/>
          </a:prstGeom>
          <a:solidFill>
            <a:srgbClr val="ECFDF5"/>
          </a:solidFill>
          <a:ln w="3810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829C"/>
                </a:solidFill>
              </a:rPr>
              <a:t>安　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✓  患者の苦痛・不安を最小化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7180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✓  声かけ・同意を必ず得る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74904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✓  プライバシーを守る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3749039" cy="4846320"/>
          </a:xfrm>
          <a:prstGeom prst="rect">
            <a:avLst/>
          </a:prstGeom>
          <a:solidFill>
            <a:srgbClr val="F3E8FF"/>
          </a:solidFill>
          <a:ln w="38100">
            <a:solidFill>
              <a:srgbClr val="761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61DA1"/>
                </a:solidFill>
              </a:rPr>
              <a:t>自立支援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✓  できることは自分で行ってもらう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97180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✓  残存能力を活かす介助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74904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✓  ADL維持・向上を目指す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400800"/>
            <a:ext cx="11457432" cy="347472"/>
          </a:xfrm>
          <a:prstGeom prst="rect">
            <a:avLst/>
          </a:prstGeom>
          <a:solidFill>
            <a:srgbClr val="FFF3C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11228832" cy="2103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▲  声かけ・同意・プライバシー保護は必ず実施！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ボディメカニクスの基本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介助者の腰痛予防と安全な介助のために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566160" cy="1600200"/>
          </a:xfrm>
          <a:prstGeom prst="rect">
            <a:avLst/>
          </a:prstGeom>
          <a:solidFill>
            <a:srgbClr val="F8FA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1527048"/>
            <a:ext cx="502920" cy="5029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2704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① 支持基底面を広げる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84248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足を肩幅に開き、安定した姿勢を確保する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79" y="1417320"/>
            <a:ext cx="3566160" cy="1600200"/>
          </a:xfrm>
          <a:prstGeom prst="rect">
            <a:avLst/>
          </a:prstGeom>
          <a:solidFill>
            <a:srgbClr val="F8FAFF"/>
          </a:solidFill>
          <a:ln w="2540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60519" y="1527048"/>
            <a:ext cx="502920" cy="502920"/>
          </a:xfrm>
          <a:prstGeom prst="ellipse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152704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829C"/>
                </a:solidFill>
              </a:rPr>
              <a:t>② 重心を低くする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1984248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膝を曲げて腰を落とし、重心を下げる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154680"/>
            <a:ext cx="3566160" cy="1600200"/>
          </a:xfrm>
          <a:prstGeom prst="rect">
            <a:avLst/>
          </a:prstGeom>
          <a:solidFill>
            <a:srgbClr val="F8FA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1480" y="3264408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6440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③ 重心を近づける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21608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患者との距離を縮め、密着して介助する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79" y="3154680"/>
            <a:ext cx="3566160" cy="1600200"/>
          </a:xfrm>
          <a:prstGeom prst="rect">
            <a:avLst/>
          </a:prstGeom>
          <a:solidFill>
            <a:srgbClr val="F8FA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60519" y="3264408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26440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④ 大きな筋群を使う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3721608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腰だけでなく脚・体幹の大きな筋肉を使う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92040"/>
            <a:ext cx="3566160" cy="1600200"/>
          </a:xfrm>
          <a:prstGeom prst="rect">
            <a:avLst/>
          </a:prstGeom>
          <a:solidFill>
            <a:srgbClr val="F8FA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1480" y="5001768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0176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⑤ 身体をひとつにまとめる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58968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患者の手足を体に引き付けてから動かす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79" y="4892040"/>
            <a:ext cx="3566160" cy="1600200"/>
          </a:xfrm>
          <a:prstGeom prst="rect">
            <a:avLst/>
          </a:prstGeom>
          <a:solidFill>
            <a:srgbClr val="F8FAFF"/>
          </a:solidFill>
          <a:ln w="25400">
            <a:solidFill>
              <a:srgbClr val="761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60519" y="5001768"/>
            <a:ext cx="502920" cy="502920"/>
          </a:xfrm>
          <a:prstGeom prst="ellipse">
            <a:avLst/>
          </a:prstGeom>
          <a:solidFill>
            <a:srgbClr val="761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500176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1DA1"/>
                </a:solidFill>
              </a:rPr>
              <a:t>⑥ ねじり動作を避ける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5458968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足を向けてから体を回旋させる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417320"/>
            <a:ext cx="4114800" cy="52120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74904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【画像①】ボディメカニクス6原則
イラスト（姿勢比較図）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400800"/>
            <a:ext cx="11457432" cy="347472"/>
          </a:xfrm>
          <a:prstGeom prst="rect">
            <a:avLst/>
          </a:prstGeom>
          <a:solidFill>
            <a:srgbClr val="FFF3C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11228832" cy="2103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▲  腰痛は職業病ではありません。正しい姿勢で自分の体も守りましょう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介助前の確認事項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リスクアセスメントと環境整備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486400" cy="4663440"/>
          </a:xfrm>
          <a:prstGeom prst="rect">
            <a:avLst/>
          </a:prstGeom>
          <a:solidFill>
            <a:srgbClr val="ECFDF5"/>
          </a:solidFill>
          <a:ln w="2540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52578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829C"/>
                </a:solidFill>
              </a:rPr>
              <a:t>患者確認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47672"/>
            <a:ext cx="525780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● 患者の理解・同意を得る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● バイタルサイン・体調確認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● 点滴・ドレーン・カテーテル確認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● 麻痺・疼痛・可動域の確認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● 患者の体重・介助レベル確認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5888736" cy="4663440"/>
          </a:xfrm>
          <a:prstGeom prst="rect">
            <a:avLst/>
          </a:prstGeom>
          <a:solidFill>
            <a:srgbClr val="EBF5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27048"/>
            <a:ext cx="5660136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環境整備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47672"/>
            <a:ext cx="5660136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● ベッドの高さ調整（介助しやすい高さ）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● ブレーキ・ストッパーの確認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● 床の濡れ・障害物の除去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● スリッパ→滑り止め靴に変更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● プライバシーカーテンを閉める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172200"/>
            <a:ext cx="11548872" cy="566928"/>
          </a:xfrm>
          <a:prstGeom prst="rect">
            <a:avLst/>
          </a:prstGeom>
          <a:solidFill>
            <a:srgbClr val="FDE8E8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1320272" cy="4297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!  2人介助基準：全介助・体重60kg以上・不安定な患者は必ず2名で対応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立ち上がり介助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ベッド端座位から立位へ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43200" cy="4754880"/>
          </a:xfrm>
          <a:prstGeom prst="rect">
            <a:avLst/>
          </a:prstGeom>
          <a:solidFill>
            <a:srgbClr val="F8FA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1600200"/>
            <a:ext cx="731520" cy="7315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146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4ED8"/>
                </a:solidFill>
              </a:rPr>
              <a:t>端座位を確保する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2468880" cy="2834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ベッド端に座り、足底を床につける
（足が浮く場合はフットレストを使用）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417320"/>
            <a:ext cx="2743200" cy="4754880"/>
          </a:xfrm>
          <a:prstGeom prst="rect">
            <a:avLst/>
          </a:prstGeom>
          <a:solidFill>
            <a:srgbClr val="F8FAFF"/>
          </a:solidFill>
          <a:ln w="2540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60" y="1600200"/>
            <a:ext cx="731520" cy="731520"/>
          </a:xfrm>
          <a:prstGeom prst="ellipse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5146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829C"/>
                </a:solidFill>
              </a:rPr>
              <a:t>前傾姿勢をとる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108960"/>
            <a:ext cx="2468880" cy="2834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体を前に傾け重心を前方に移動
介助者は腰部を支持する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2743200" cy="4754880"/>
          </a:xfrm>
          <a:prstGeom prst="rect">
            <a:avLst/>
          </a:prstGeom>
          <a:solidFill>
            <a:srgbClr val="F8FA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78040" y="1600200"/>
            <a:ext cx="731520" cy="7315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5146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</a:rPr>
              <a:t>立ち上がりを誘導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08960"/>
            <a:ext cx="2468880" cy="2834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「せーの」の声かけで一緒に立ち上がる
脇・腰を支えながら立位へ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417320"/>
            <a:ext cx="2743200" cy="4754880"/>
          </a:xfrm>
          <a:prstGeom prst="rect">
            <a:avLst/>
          </a:prstGeom>
          <a:solidFill>
            <a:srgbClr val="F8FA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04120" y="1600200"/>
            <a:ext cx="731520" cy="7315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5146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</a:rPr>
              <a:t>立位の安定確認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08960"/>
            <a:ext cx="2468880" cy="2834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めまい・ふらつきを確認
必要なら手すり・歩行器を使用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FFF3C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382512"/>
            <a:ext cx="1132027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▲  ポイント：患者に合わせた速度で！急かすと転倒リスクが急増します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ベッド → 車椅子 移乗手順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片麻痺患者（健側を活用した移乗）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011680" cy="2194560"/>
          </a:xfrm>
          <a:prstGeom prst="rect">
            <a:avLst/>
          </a:prstGeom>
          <a:solidFill>
            <a:srgbClr val="F8FA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508760"/>
            <a:ext cx="594360" cy="59436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1828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車椅子をベッドに対して約30°の角度で設置（健側に置く）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417320"/>
            <a:ext cx="2011680" cy="2194560"/>
          </a:xfrm>
          <a:prstGeom prst="rect">
            <a:avLst/>
          </a:prstGeom>
          <a:solidFill>
            <a:srgbClr val="F8FA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54680" y="1508760"/>
            <a:ext cx="594360" cy="59436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94560"/>
            <a:ext cx="1828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車椅子のブレーキをかけ、フットレストを上げる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417320"/>
            <a:ext cx="2011680" cy="2194560"/>
          </a:xfrm>
          <a:prstGeom prst="rect">
            <a:avLst/>
          </a:prstGeom>
          <a:solidFill>
            <a:srgbClr val="F8FAFF"/>
          </a:solidFill>
          <a:ln w="1905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03520" y="1508760"/>
            <a:ext cx="594360" cy="594360"/>
          </a:xfrm>
          <a:prstGeom prst="ellipse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194560"/>
            <a:ext cx="1828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患者を端座位にし、足底を床につける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417320"/>
            <a:ext cx="2011680" cy="2194560"/>
          </a:xfrm>
          <a:prstGeom prst="rect">
            <a:avLst/>
          </a:prstGeom>
          <a:solidFill>
            <a:srgbClr val="F8FAFF"/>
          </a:solidFill>
          <a:ln w="1905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52360" y="1508760"/>
            <a:ext cx="594360" cy="594360"/>
          </a:xfrm>
          <a:prstGeom prst="ellipse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94560"/>
            <a:ext cx="1828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患者に前傾姿勢をとってもらい、健側の手で介助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94760"/>
            <a:ext cx="2011680" cy="2194560"/>
          </a:xfrm>
          <a:prstGeom prst="rect">
            <a:avLst/>
          </a:prstGeom>
          <a:solidFill>
            <a:srgbClr val="F8FA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886200"/>
            <a:ext cx="594360" cy="5943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572000"/>
            <a:ext cx="1828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介助者は患側腰部〜臀部を支え、一緒に立ち上がる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794760"/>
            <a:ext cx="2011680" cy="2194560"/>
          </a:xfrm>
          <a:prstGeom prst="rect">
            <a:avLst/>
          </a:prstGeom>
          <a:solidFill>
            <a:srgbClr val="F8FA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54680" y="3886200"/>
            <a:ext cx="594360" cy="5943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572000"/>
            <a:ext cx="1828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ゆっくり方向転換し、車椅子に向かって後ろに下がる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3794760"/>
            <a:ext cx="2011680" cy="2194560"/>
          </a:xfrm>
          <a:prstGeom prst="rect">
            <a:avLst/>
          </a:prstGeom>
          <a:solidFill>
            <a:srgbClr val="F8FA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03520" y="3886200"/>
            <a:ext cx="594360" cy="5943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572000"/>
            <a:ext cx="1828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臀部をシートに誘導しながらゆっくり着座させる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794760"/>
            <a:ext cx="2011680" cy="2194560"/>
          </a:xfrm>
          <a:prstGeom prst="rect">
            <a:avLst/>
          </a:prstGeom>
          <a:solidFill>
            <a:srgbClr val="F8FA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52360" y="3886200"/>
            <a:ext cx="594360" cy="5943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572000"/>
            <a:ext cx="1828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フットレストを下げ、足を乗せて姿勢を整える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1417320"/>
            <a:ext cx="3200400" cy="22402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22631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【画像②】ベッド→車椅子
手順イラスト(STEP1〜4)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3794760"/>
            <a:ext cx="3200400" cy="22402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464058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【画像③】車椅子の配置
角度図（30°配置）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車椅子 → ベッド 移乗手順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基本の流れと注意点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車椅子→ベッドは逆の手順で行います。ポイントを確認しましょう。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2148840" cy="4389120"/>
          </a:xfrm>
          <a:prstGeom prst="rect">
            <a:avLst/>
          </a:prstGeom>
          <a:solidFill>
            <a:srgbClr val="EBF5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214884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3794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車椅子の配置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423160"/>
            <a:ext cx="1920240" cy="3566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ベッドに対して健側に30°で設置。
ブレーキ・フットレスト確認を先に行う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783080"/>
            <a:ext cx="2148840" cy="4389120"/>
          </a:xfrm>
          <a:prstGeom prst="rect">
            <a:avLst/>
          </a:prstGeom>
          <a:solidFill>
            <a:srgbClr val="ECFDF5"/>
          </a:solidFill>
          <a:ln w="2540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783080"/>
            <a:ext cx="2148840" cy="502920"/>
          </a:xfrm>
          <a:prstGeom prst="rect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83794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体重移動の誘導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2423160"/>
            <a:ext cx="1920240" cy="3566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「前に体を倒して」と声かけ。
前傾姿勢から立ち上がりを誘導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783080"/>
            <a:ext cx="2148840" cy="4389120"/>
          </a:xfrm>
          <a:prstGeom prst="rect">
            <a:avLst/>
          </a:prstGeom>
          <a:solidFill>
            <a:srgbClr val="FFF3C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1783080"/>
            <a:ext cx="214884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83794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方向転換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423160"/>
            <a:ext cx="1920240" cy="3566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介助者は患者の患側に位置。
転倒防止のため体を密着させる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783080"/>
            <a:ext cx="2148840" cy="438912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78040" y="1783080"/>
            <a:ext cx="214884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183794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着座誘導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2423160"/>
            <a:ext cx="1920240" cy="3566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ベッドに手をつかせてから、
ゆっくり膝を曲げて座らせる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4040" y="1783080"/>
            <a:ext cx="2148840" cy="4389120"/>
          </a:xfrm>
          <a:prstGeom prst="rect">
            <a:avLst/>
          </a:prstGeom>
          <a:solidFill>
            <a:srgbClr val="F3E8FF"/>
          </a:solidFill>
          <a:ln w="25400">
            <a:solidFill>
              <a:srgbClr val="761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64040" y="1783080"/>
            <a:ext cx="2148840" cy="502920"/>
          </a:xfrm>
          <a:prstGeom prst="rect">
            <a:avLst/>
          </a:prstGeom>
          <a:solidFill>
            <a:srgbClr val="761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183794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体位の整え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8" y="2423160"/>
            <a:ext cx="1920240" cy="3566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座位バランス確認後、
ベッド上での体位を整える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FFF3C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382512"/>
            <a:ext cx="1132027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▲  両移乗共通：患者の「できること」を最大限活かす介助を心がけましょう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移乗補助用具の活用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スライディングボード・移乗ベルト・リフト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9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256032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423160"/>
            <a:ext cx="3566159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【画像④】スライディングボードの使用イラスト ]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069080"/>
            <a:ext cx="3749039" cy="2514600"/>
          </a:xfrm>
          <a:prstGeom prst="rect">
            <a:avLst/>
          </a:prstGeom>
          <a:solidFill>
            <a:srgbClr val="F8FA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11480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スライディングボード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7200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・座位移乗に使用</a:t>
            </a:r>
          </a:p>
          <a:p>
            <a:r>
              <a:rPr sz="1100">
                <a:solidFill>
                  <a:srgbClr val="1F2937"/>
                </a:solidFill>
              </a:rPr>
              <a:t>・車椅子⇔ベッド・シャワーチェア</a:t>
            </a:r>
          </a:p>
          <a:p>
            <a:r>
              <a:rPr sz="1100">
                <a:solidFill>
                  <a:srgbClr val="1F2937"/>
                </a:solidFill>
              </a:rPr>
              <a:t>・麻痺・筋力低下患者に有効</a:t>
            </a:r>
          </a:p>
          <a:p>
            <a:r>
              <a:rPr sz="1100">
                <a:solidFill>
                  <a:srgbClr val="1F2937"/>
                </a:solidFill>
              </a:rPr>
              <a:t>・使用時は必ず2名で確認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417320"/>
            <a:ext cx="3749039" cy="256032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2423160"/>
            <a:ext cx="3566159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【画像⑤】移乗ベルト装着・使用方法イラスト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4069080"/>
            <a:ext cx="3749039" cy="2514600"/>
          </a:xfrm>
          <a:prstGeom prst="rect">
            <a:avLst/>
          </a:prstGeom>
          <a:solidFill>
            <a:srgbClr val="F8FAFF"/>
          </a:solidFill>
          <a:ln w="1905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411480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829C"/>
                </a:solidFill>
              </a:rPr>
              <a:t>移乗ベルト（トランスファーベルト）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457200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・患者の腰に装着</a:t>
            </a:r>
          </a:p>
          <a:p>
            <a:r>
              <a:rPr sz="1100">
                <a:solidFill>
                  <a:srgbClr val="1F2937"/>
                </a:solidFill>
              </a:rPr>
              <a:t>・介助者がベルトを握って誘導</a:t>
            </a:r>
          </a:p>
          <a:p>
            <a:r>
              <a:rPr sz="1100">
                <a:solidFill>
                  <a:srgbClr val="1F2937"/>
                </a:solidFill>
              </a:rPr>
              <a:t>・急な体重移動に対応しやすい</a:t>
            </a:r>
          </a:p>
          <a:p>
            <a:r>
              <a:rPr sz="1100">
                <a:solidFill>
                  <a:srgbClr val="1F2937"/>
                </a:solidFill>
              </a:rPr>
              <a:t>・患者の転倒防止に有効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3749039" cy="256032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423160"/>
            <a:ext cx="3566159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【画像⑥】介護リフト操作イラスト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4069080"/>
            <a:ext cx="3749039" cy="2514600"/>
          </a:xfrm>
          <a:prstGeom prst="rect">
            <a:avLst/>
          </a:prstGeom>
          <a:solidFill>
            <a:srgbClr val="F8FAFF"/>
          </a:solidFill>
          <a:ln w="19050">
            <a:solidFill>
              <a:srgbClr val="761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411480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1DA1"/>
                </a:solidFill>
              </a:rPr>
              <a:t>介護リフト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457200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・全介助・重度障害患者に使用</a:t>
            </a:r>
          </a:p>
          <a:p>
            <a:r>
              <a:rPr sz="1100">
                <a:solidFill>
                  <a:srgbClr val="1F2937"/>
                </a:solidFill>
              </a:rPr>
              <a:t>・スリングシートを正しく装着</a:t>
            </a:r>
          </a:p>
          <a:p>
            <a:r>
              <a:rPr sz="1100">
                <a:solidFill>
                  <a:srgbClr val="1F2937"/>
                </a:solidFill>
              </a:rPr>
              <a:t>・事前にスリング選択が重要</a:t>
            </a:r>
          </a:p>
          <a:p>
            <a:r>
              <a:rPr sz="1100">
                <a:solidFill>
                  <a:srgbClr val="1F2937"/>
                </a:solidFill>
              </a:rPr>
              <a:t>・操作は必ず研修後に実施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583680"/>
            <a:ext cx="11548872" cy="228600"/>
          </a:xfrm>
          <a:prstGeom prst="rect">
            <a:avLst/>
          </a:prstGeom>
          <a:solidFill>
            <a:srgbClr val="FFF3C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75120"/>
            <a:ext cx="11320272" cy="914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▲  用具の使用前は必ず破損・劣化チェックを行うこと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歩行介助の基本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安全な歩行介助の位置と手順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154887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介助者の位置：患側（麻痺のある側）の斜め後方 ／ 片手：患者の腰または移乗ベルト ／ 歩幅・速度は患者に合わせる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10512"/>
            <a:ext cx="2084831" cy="3474720"/>
          </a:xfrm>
          <a:prstGeom prst="rect">
            <a:avLst/>
          </a:prstGeom>
          <a:solidFill>
            <a:srgbClr val="F8FA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10512"/>
            <a:ext cx="2084831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847088"/>
            <a:ext cx="1956816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開始前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95728"/>
            <a:ext cx="1901952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• 靴・履物確認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• バイタル確認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• 歩行補助具の用意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32888" y="1810512"/>
            <a:ext cx="2084831" cy="3474720"/>
          </a:xfrm>
          <a:prstGeom prst="rect">
            <a:avLst/>
          </a:prstGeom>
          <a:solidFill>
            <a:srgbClr val="F8FA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32888" y="1810512"/>
            <a:ext cx="2084831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1847088"/>
            <a:ext cx="1956816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出発時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395728"/>
            <a:ext cx="1901952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• ベッドサイドで立位保持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• しばらく安静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• めまい確認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5736" y="1810512"/>
            <a:ext cx="2084831" cy="3474720"/>
          </a:xfrm>
          <a:prstGeom prst="rect">
            <a:avLst/>
          </a:prstGeom>
          <a:solidFill>
            <a:srgbClr val="F8FAFF"/>
          </a:solidFill>
          <a:ln w="2540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45736" y="1810512"/>
            <a:ext cx="2084831" cy="502920"/>
          </a:xfrm>
          <a:prstGeom prst="rect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9744" y="1847088"/>
            <a:ext cx="1956816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歩行中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2395728"/>
            <a:ext cx="1901952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• 声かけしながら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• 一定ペースで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• 障害物に注意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58583" y="1810512"/>
            <a:ext cx="2084831" cy="3474720"/>
          </a:xfrm>
          <a:prstGeom prst="rect">
            <a:avLst/>
          </a:prstGeom>
          <a:solidFill>
            <a:srgbClr val="F8FA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58583" y="1810512"/>
            <a:ext cx="2084831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2591" y="1847088"/>
            <a:ext cx="1956816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方向転換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0023" y="2395728"/>
            <a:ext cx="1901952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• 健側に向かって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• ゆっくり回転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• 急な向き変え禁止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71432" y="1810512"/>
            <a:ext cx="2084831" cy="3474720"/>
          </a:xfrm>
          <a:prstGeom prst="rect">
            <a:avLst/>
          </a:prstGeom>
          <a:solidFill>
            <a:srgbClr val="F8FA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71432" y="1810512"/>
            <a:ext cx="2084831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847088"/>
            <a:ext cx="1956816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着座時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2395728"/>
            <a:ext cx="1901952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• 椅子/ベッドに触れてから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• ゆっくり膝を曲げる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• 確実に着座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76672"/>
            <a:ext cx="5303520" cy="123444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719572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【画像⑦】歩行介助の位置・手の添え方イラスト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5376672"/>
            <a:ext cx="5833872" cy="123444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5719572"/>
            <a:ext cx="5650992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【画像⑧】歩行補助具（T字杖・歩行器・ロフストランドクラッチ）の写真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歩行補助具の種類と特徴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患者の状態に合った補助具を選択する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11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43200" cy="228600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【写真】T字杖 ]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749039"/>
            <a:ext cx="2743200" cy="2834640"/>
          </a:xfrm>
          <a:prstGeom prst="rect">
            <a:avLst/>
          </a:prstGeom>
          <a:solidFill>
            <a:srgbClr val="F8FA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7947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T字杖（ステッキ）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315968"/>
            <a:ext cx="2560320" cy="2103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・軽度の歩行障害に適応</a:t>
            </a:r>
          </a:p>
          <a:p>
            <a:r>
              <a:rPr sz="1100">
                <a:solidFill>
                  <a:srgbClr val="1F2937"/>
                </a:solidFill>
              </a:rPr>
              <a:t>・健側で使用する</a:t>
            </a:r>
          </a:p>
          <a:p>
            <a:r>
              <a:rPr sz="1100">
                <a:solidFill>
                  <a:srgbClr val="1F2937"/>
                </a:solidFill>
              </a:rPr>
              <a:t>・4点杖より安定性は低い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743200" cy="228600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2860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【写真】4点杖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3749039"/>
            <a:ext cx="2743200" cy="2834640"/>
          </a:xfrm>
          <a:prstGeom prst="rect">
            <a:avLst/>
          </a:prstGeom>
          <a:solidFill>
            <a:srgbClr val="F8FAFF"/>
          </a:solidFill>
          <a:ln w="1905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37947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829C"/>
                </a:solidFill>
              </a:rPr>
              <a:t>4点杖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4315968"/>
            <a:ext cx="2560320" cy="2103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・接地面が広く安定</a:t>
            </a:r>
          </a:p>
          <a:p>
            <a:r>
              <a:rPr sz="1100">
                <a:solidFill>
                  <a:srgbClr val="1F2937"/>
                </a:solidFill>
              </a:rPr>
              <a:t>・片麻痺・バランス障害に有効</a:t>
            </a:r>
          </a:p>
          <a:p>
            <a:r>
              <a:rPr sz="1100">
                <a:solidFill>
                  <a:srgbClr val="1F2937"/>
                </a:solidFill>
              </a:rPr>
              <a:t>・室内使用が主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2743200" cy="228600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2860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【写真】歩行器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749039"/>
            <a:ext cx="2743200" cy="2834640"/>
          </a:xfrm>
          <a:prstGeom prst="rect">
            <a:avLst/>
          </a:prstGeom>
          <a:solidFill>
            <a:srgbClr val="F8FA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7947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歩行器（固定型）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315968"/>
            <a:ext cx="2560320" cy="2103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・前方支持で安定</a:t>
            </a:r>
          </a:p>
          <a:p>
            <a:r>
              <a:rPr sz="1100">
                <a:solidFill>
                  <a:srgbClr val="1F2937"/>
                </a:solidFill>
              </a:rPr>
              <a:t>・両上肢に体重をかけられる</a:t>
            </a:r>
          </a:p>
          <a:p>
            <a:r>
              <a:rPr sz="1100">
                <a:solidFill>
                  <a:srgbClr val="1F2937"/>
                </a:solidFill>
              </a:rPr>
              <a:t>・段差・屋外には不向き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417320"/>
            <a:ext cx="2743200" cy="228600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22860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【写真】ロールウォーカー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3749039"/>
            <a:ext cx="2743200" cy="2834640"/>
          </a:xfrm>
          <a:prstGeom prst="rect">
            <a:avLst/>
          </a:prstGeom>
          <a:solidFill>
            <a:srgbClr val="F8FA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7947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ロールウォーカー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15968"/>
            <a:ext cx="2560320" cy="2103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・車輪付きで歩きやすい</a:t>
            </a:r>
          </a:p>
          <a:p>
            <a:r>
              <a:rPr sz="1100">
                <a:solidFill>
                  <a:srgbClr val="1F2937"/>
                </a:solidFill>
              </a:rPr>
              <a:t>・屋内外兼用可</a:t>
            </a:r>
          </a:p>
          <a:p>
            <a:r>
              <a:rPr sz="1100">
                <a:solidFill>
                  <a:srgbClr val="1F2937"/>
                </a:solidFill>
              </a:rPr>
              <a:t>・ブレーキ操作を確認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583680"/>
            <a:ext cx="11548872" cy="246888"/>
          </a:xfrm>
          <a:prstGeom prst="rect">
            <a:avLst/>
          </a:prstGeom>
          <a:solidFill>
            <a:srgbClr val="FFF3C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75120"/>
            <a:ext cx="11320272" cy="1097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▲  補助具の選択は理学療法士・主治医と連携して決定すること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全介助の移乗（2名介助）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意識障害・全身脱力・重度障害患者への対応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1548872" cy="502920"/>
          </a:xfrm>
          <a:prstGeom prst="rect">
            <a:avLst/>
          </a:prstGeom>
          <a:solidFill>
            <a:srgbClr val="FDE8E8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32027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!  2名介助の適応：全介助患者 ／ 体重60kg以上 ／ 不安定な患者 ／ 初回移乗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5394960" cy="4526280"/>
          </a:xfrm>
          <a:prstGeom prst="rect">
            <a:avLst/>
          </a:prstGeom>
          <a:solidFill>
            <a:srgbClr val="EBF5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75688"/>
            <a:ext cx="51663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リーダー役（頭側）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96312"/>
            <a:ext cx="5166360" cy="3931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✓  患者の上半身・頭頸部を支持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✓  声かけ・タイミングの指示を出す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✓  「いちにのさん」で全員同時に動く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✓  気道・カテーテル類の安全を確認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965960"/>
            <a:ext cx="5394960" cy="4526280"/>
          </a:xfrm>
          <a:prstGeom prst="rect">
            <a:avLst/>
          </a:prstGeom>
          <a:solidFill>
            <a:srgbClr val="ECFDF5"/>
          </a:solidFill>
          <a:ln w="2540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075688"/>
            <a:ext cx="51663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829C"/>
                </a:solidFill>
              </a:rPr>
              <a:t>サポート役（足側）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496312"/>
            <a:ext cx="5166360" cy="3931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✓  患者の下肢・臀部を支持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✓  リーダーの指示に従う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✓  足先から骨盤まで確実に保持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✓  移動方向を確認してから動く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6565392"/>
            <a:ext cx="11548872" cy="22860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405372"/>
            <a:ext cx="11365992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【画像⑨】2名介助でのベッド上移動・移乗イラスト（頭側・足側の持ち方）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体位変換（臥位での移動）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褥瘡予防と安楽な体位管理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1154887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体位変換は原則2時間ごと。骨突出部（仙骨・踵・大転子等）への圧迫を避けること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37360"/>
            <a:ext cx="2743200" cy="20116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【画像⑩-1】仰臥位 ]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794760"/>
            <a:ext cx="2743200" cy="2377440"/>
          </a:xfrm>
          <a:prstGeom prst="rect">
            <a:avLst/>
          </a:prstGeom>
          <a:solidFill>
            <a:srgbClr val="F8FA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8404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仰臥位  （あお向け）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370832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最も基本の体位
踵・仙骨の圧迫に注意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737360"/>
            <a:ext cx="2743200" cy="20116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468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【画像⑩-2】側臥位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3794760"/>
            <a:ext cx="2743200" cy="2377440"/>
          </a:xfrm>
          <a:prstGeom prst="rect">
            <a:avLst/>
          </a:prstGeom>
          <a:solidFill>
            <a:srgbClr val="F8FAFF"/>
          </a:solidFill>
          <a:ln w="1905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38404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829C"/>
                </a:solidFill>
              </a:rPr>
              <a:t>側臥位  （横向き）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370832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30°傾けが理想
クッションで保持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737360"/>
            <a:ext cx="2743200" cy="20116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468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【画像⑩-3】ファウラー位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794760"/>
            <a:ext cx="2743200" cy="2377440"/>
          </a:xfrm>
          <a:prstGeom prst="rect">
            <a:avLst/>
          </a:prstGeom>
          <a:solidFill>
            <a:srgbClr val="F8FA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8404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半座位  （ファウラー位）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370832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床頭台15〜45°
誤嚥予防に有効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737360"/>
            <a:ext cx="2743200" cy="20116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468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[ 【画像⑩-4】腹臥位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794760"/>
            <a:ext cx="2743200" cy="2377440"/>
          </a:xfrm>
          <a:prstGeom prst="rect">
            <a:avLst/>
          </a:prstGeom>
          <a:solidFill>
            <a:srgbClr val="F8FA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8404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腹臥位  （うつぶせ）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370832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呼吸改善に有効
顔・腹部の圧迫注意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263640"/>
            <a:ext cx="11548872" cy="530352"/>
          </a:xfrm>
          <a:prstGeom prst="rect">
            <a:avLst/>
          </a:prstGeom>
          <a:solidFill>
            <a:srgbClr val="FFF3C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355080"/>
            <a:ext cx="11320272" cy="3931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▲  体位変換のたびに皮膚状態・褥瘡チェックを必ず実施！ポジショニングクッションで圧迫を分散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転倒・転落予防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リスク評価と予防策の徹底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14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474720" cy="4572000"/>
          </a:xfrm>
          <a:prstGeom prst="rect">
            <a:avLst/>
          </a:prstGeom>
          <a:solidFill>
            <a:srgbClr val="FDE8E8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患者側リスク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47672"/>
            <a:ext cx="3246120" cy="3977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▸ 筋力低下・バランス障害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▸ 認知症・見当識障害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▸ 薬剤影響（睡眠薬・降圧薬等）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▸ 起立性低血圧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▸ 排泄に関する切迫感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1417320"/>
            <a:ext cx="3474720" cy="4572000"/>
          </a:xfrm>
          <a:prstGeom prst="rect">
            <a:avLst/>
          </a:prstGeom>
          <a:solidFill>
            <a:srgbClr val="FFF3C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9" y="1527048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環境側リスク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9" y="1947672"/>
            <a:ext cx="3246120" cy="3977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▸ 床の濡れ・障害物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▸ 不適切な照明（暗すぎ）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▸ ベッド高さ不適切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▸ ナースコール未設置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▸ スリッパなど滑りやすい履物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417320"/>
            <a:ext cx="4233672" cy="457200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527048"/>
            <a:ext cx="400507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予防策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947672"/>
            <a:ext cx="4005072" cy="3977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/>
            </a:r>
            <a:r>
              <a:rPr sz="1100">
                <a:solidFill>
                  <a:srgbClr val="1F2937"/>
                </a:solidFill>
              </a:rPr>
              <a:t>▸ 転倒リスクスコア評価（毎日）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▸ 離床センサー・ベッドアラーム設置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▸ 低床ベッドの使用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▸ ナースコール手の届く位置へ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F2937"/>
                </a:solidFill>
              </a:rPr>
              <a:t>▸ ラウンド強化（排泄パターン把握）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6080760"/>
            <a:ext cx="11548872" cy="704088"/>
          </a:xfrm>
          <a:prstGeom prst="rect">
            <a:avLst/>
          </a:prstGeom>
          <a:solidFill>
            <a:srgbClr val="FDE8E8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11320272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!  転倒・転落発生時：患者の安全確保 → ナースコール → 状態確認 → 報告 → 記録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よくあるミスとその対策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新人職員が陥りやすいポイント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15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4320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よくあるミス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417320"/>
            <a:ext cx="384048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146304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起こりうる問題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417320"/>
            <a:ext cx="493776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76872" y="146304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対策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2743200" cy="713232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956816"/>
            <a:ext cx="263347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91C1C"/>
                </a:solidFill>
              </a:rPr>
              <a:t>✗ 声かけを忘れる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920240"/>
            <a:ext cx="3840480" cy="713232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1956816"/>
            <a:ext cx="373075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患者の心理的不安・筋緊張が増す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920240"/>
            <a:ext cx="4937760" cy="713232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1956816"/>
            <a:ext cx="48280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9172D"/>
                </a:solidFill>
              </a:rPr>
              <a:t>✓ 必ず「〇〇しますね」と伝えてから開始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79192"/>
            <a:ext cx="2743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715768"/>
            <a:ext cx="263347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91C1C"/>
                </a:solidFill>
              </a:rPr>
              <a:t>✗ ブレーキを忘れる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2679192"/>
            <a:ext cx="3840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36392" y="2715768"/>
            <a:ext cx="373075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移乗中に車椅子が動いて転落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2679192"/>
            <a:ext cx="4937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2715768"/>
            <a:ext cx="48280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9172D"/>
                </a:solidFill>
              </a:rPr>
              <a:t>✓ 移乗前の確認を手順書通りに実施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438144"/>
            <a:ext cx="2743200" cy="713232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474720"/>
            <a:ext cx="263347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91C1C"/>
                </a:solidFill>
              </a:rPr>
              <a:t>✗ 腰だけで持ち上げる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3438144"/>
            <a:ext cx="3840480" cy="713232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36392" y="3474720"/>
            <a:ext cx="373075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介助者の腰痛・ぎっくり腰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3438144"/>
            <a:ext cx="4937760" cy="713232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72" y="3474720"/>
            <a:ext cx="48280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9172D"/>
                </a:solidFill>
              </a:rPr>
              <a:t>✓ ボディメカニクスを意識。足・体幹を使う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97096"/>
            <a:ext cx="2743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4233672"/>
            <a:ext cx="263347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91C1C"/>
                </a:solidFill>
              </a:rPr>
              <a:t>✗ 急ぎすぎる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4197096"/>
            <a:ext cx="3840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36392" y="4233672"/>
            <a:ext cx="373075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患者が不安・バランス崩す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3720" y="4197096"/>
            <a:ext cx="4937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76872" y="4233672"/>
            <a:ext cx="48280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9172D"/>
                </a:solidFill>
              </a:rPr>
              <a:t>✓ 患者のペースに合わせ、ゆっくり確実に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956048"/>
            <a:ext cx="2743200" cy="713232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4992624"/>
            <a:ext cx="263347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91C1C"/>
                </a:solidFill>
              </a:rPr>
              <a:t>✗ 1人で無理をする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4956048"/>
            <a:ext cx="3840480" cy="713232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36392" y="4992624"/>
            <a:ext cx="373075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患者・介助者ともに受傷リスク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4956048"/>
            <a:ext cx="4937760" cy="713232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76872" y="4992624"/>
            <a:ext cx="48280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9172D"/>
                </a:solidFill>
              </a:rPr>
              <a:t>✓ 迷ったら必ず同僚に声をかける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715000"/>
            <a:ext cx="2743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" y="5751576"/>
            <a:ext cx="263347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91C1C"/>
                </a:solidFill>
              </a:rPr>
              <a:t>✗ カテーテルを忘れる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5715000"/>
            <a:ext cx="3840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36392" y="5751576"/>
            <a:ext cx="373075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ドレーン抜去・皮膚損傷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03720" y="5715000"/>
            <a:ext cx="4937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76872" y="5751576"/>
            <a:ext cx="48280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9172D"/>
                </a:solidFill>
              </a:rPr>
              <a:t>✓ 移乗前にルート類の長さ・固定を確認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473952"/>
            <a:ext cx="11548872" cy="320040"/>
          </a:xfrm>
          <a:prstGeom prst="rect">
            <a:avLst/>
          </a:prstGeom>
          <a:solidFill>
            <a:srgbClr val="FFF3C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65392"/>
            <a:ext cx="11320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▲  わからないことは必ず先輩に確認！報告・連絡・相談を徹底しましょう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記録・報告のポイント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介助後の観察と情報共有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16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566160" cy="1280160"/>
          </a:xfrm>
          <a:prstGeom prst="rect">
            <a:avLst/>
          </a:prstGeom>
          <a:solidFill>
            <a:srgbClr val="F8FA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9768" y="1527048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いつ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527048"/>
            <a:ext cx="2798064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移乗・移動の実施日時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79" y="1417320"/>
            <a:ext cx="3566160" cy="1280160"/>
          </a:xfrm>
          <a:prstGeom prst="rect">
            <a:avLst/>
          </a:prstGeom>
          <a:solidFill>
            <a:srgbClr val="F8FA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78807" y="1527048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どこで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7" y="1527048"/>
            <a:ext cx="2798064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場所（病室・廊下・リハビリ室など）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19" y="1417320"/>
            <a:ext cx="3566160" cy="1280160"/>
          </a:xfrm>
          <a:prstGeom prst="rect">
            <a:avLst/>
          </a:prstGeom>
          <a:solidFill>
            <a:srgbClr val="F8FAFF"/>
          </a:solidFill>
          <a:ln w="1905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7847" y="1527048"/>
            <a:ext cx="457200" cy="457200"/>
          </a:xfrm>
          <a:prstGeom prst="ellipse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何を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7" y="1527048"/>
            <a:ext cx="2798064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実施した介助内容（車椅子移乗・歩行介助など）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34640"/>
            <a:ext cx="3566160" cy="1280160"/>
          </a:xfrm>
          <a:prstGeom prst="rect">
            <a:avLst/>
          </a:prstGeom>
          <a:solidFill>
            <a:srgbClr val="F8FA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9768" y="2944368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誰が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2944368"/>
            <a:ext cx="2798064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実施者（1名・2名介助など）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79" y="2834640"/>
            <a:ext cx="3566160" cy="1280160"/>
          </a:xfrm>
          <a:prstGeom prst="rect">
            <a:avLst/>
          </a:prstGeom>
          <a:solidFill>
            <a:srgbClr val="F8FA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78807" y="2944368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どのように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7" y="2944368"/>
            <a:ext cx="2798064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使用した補助具・患者の協力度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19" y="2834640"/>
            <a:ext cx="3566160" cy="1280160"/>
          </a:xfrm>
          <a:prstGeom prst="rect">
            <a:avLst/>
          </a:prstGeom>
          <a:solidFill>
            <a:srgbClr val="F8FAFF"/>
          </a:solidFill>
          <a:ln w="19050">
            <a:solidFill>
              <a:srgbClr val="761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27847" y="2944368"/>
            <a:ext cx="457200" cy="457200"/>
          </a:xfrm>
          <a:prstGeom prst="ellipse">
            <a:avLst/>
          </a:prstGeom>
          <a:solidFill>
            <a:srgbClr val="761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患者の状態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7" y="2944368"/>
            <a:ext cx="2798064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バイタル変化・表情・疼痛・ふらつきの有無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343400"/>
            <a:ext cx="11548872" cy="2331720"/>
          </a:xfrm>
          <a:prstGeom prst="rect">
            <a:avLst/>
          </a:prstGeom>
          <a:solidFill>
            <a:srgbClr val="FDE8E8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07408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報告が必要な場合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⚠  転倒・転落発生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89204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⚠  ヒヤリハット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89204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⚠  患者が痛みを訴えた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89204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⚠  バイタルが基準値を逸脱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321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⚠  皮膚の発赤・損傷発見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5321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⚠  ドレーン・カテーテルが抜けた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5321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⚠  患者が介助を拒否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492240"/>
            <a:ext cx="11548872" cy="301752"/>
          </a:xfrm>
          <a:prstGeom prst="rect">
            <a:avLst/>
          </a:prstGeom>
          <a:solidFill>
            <a:srgbClr val="FFF3C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83680"/>
            <a:ext cx="11320272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▲  記録は「事実」を具体的・客観的に。主観的な表現は避ける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確認テスト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本日の研修内容を振り返りましょう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3C5FD"/>
                </a:solidFill>
              </a:rPr>
              <a:t>17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2148840"/>
          </a:xfrm>
          <a:prstGeom prst="rect">
            <a:avLst/>
          </a:prstGeom>
          <a:solidFill>
            <a:srgbClr val="F8FAFF"/>
          </a:solidFill>
          <a:ln w="2540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1508760"/>
            <a:ext cx="548640" cy="548640"/>
          </a:xfrm>
          <a:prstGeom prst="ellipse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167128"/>
            <a:ext cx="3529584" cy="1280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ボディメカニクスの目的は何ですか？
①患者の安楽  ②介助者の腰痛予防  ③両方  ④どちらでもない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417320"/>
            <a:ext cx="3749039" cy="2148840"/>
          </a:xfrm>
          <a:prstGeom prst="rect">
            <a:avLst/>
          </a:prstGeom>
          <a:solidFill>
            <a:srgbClr val="F8FAFF"/>
          </a:solidFill>
          <a:ln w="2540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79" y="1508760"/>
            <a:ext cx="548640" cy="548640"/>
          </a:xfrm>
          <a:prstGeom prst="ellipse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7" y="2167128"/>
            <a:ext cx="3529584" cy="1280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片麻痺患者への車椅子移乗で、車椅子を置く位置はどちら側ですか？
①患側（麻痺側）  ②健側（麻痺のない側）  ③どちらでも同じ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417320"/>
            <a:ext cx="3749039" cy="2148840"/>
          </a:xfrm>
          <a:prstGeom prst="rect">
            <a:avLst/>
          </a:prstGeom>
          <a:solidFill>
            <a:srgbClr val="F8FAFF"/>
          </a:solidFill>
          <a:ln w="2540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199" y="1508760"/>
            <a:ext cx="548640" cy="548640"/>
          </a:xfrm>
          <a:prstGeom prst="ellipse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7" y="2167128"/>
            <a:ext cx="3529584" cy="1280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2名介助が必要な条件を1つ答えてください。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03320"/>
            <a:ext cx="3749039" cy="2331720"/>
          </a:xfrm>
          <a:prstGeom prst="rect">
            <a:avLst/>
          </a:prstGeom>
          <a:solidFill>
            <a:srgbClr val="F8FAFF"/>
          </a:solidFill>
          <a:ln w="2540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37360" y="3794760"/>
            <a:ext cx="548640" cy="548640"/>
          </a:xfrm>
          <a:prstGeom prst="ellipse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4453128"/>
            <a:ext cx="3529584" cy="1463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移乗介助前に必ず確認すべき3つのことを答えてください。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3703320"/>
            <a:ext cx="3749039" cy="2331720"/>
          </a:xfrm>
          <a:prstGeom prst="rect">
            <a:avLst/>
          </a:prstGeom>
          <a:solidFill>
            <a:srgbClr val="F8FAFF"/>
          </a:solidFill>
          <a:ln w="2540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79" y="3794760"/>
            <a:ext cx="548640" cy="548640"/>
          </a:xfrm>
          <a:prstGeom prst="ellipse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7" y="4453128"/>
            <a:ext cx="3529584" cy="1463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転倒が発生した際の対応の優先順位を答えてください。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492240"/>
            <a:ext cx="11548872" cy="320040"/>
          </a:xfrm>
          <a:prstGeom prst="rect">
            <a:avLst/>
          </a:prstGeom>
          <a:solidFill>
            <a:srgbClr val="FFF3C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11320272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▲  答え合わせは研修担当者と一緒に行いましょう！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本日のまとめ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移乗・移動介助のポイントを復習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06040" cy="1920240"/>
          </a:xfrm>
          <a:prstGeom prst="rect">
            <a:avLst/>
          </a:prstGeom>
          <a:solidFill>
            <a:srgbClr val="1E40A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1463040"/>
            <a:ext cx="566928" cy="566928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3C5FD"/>
                </a:solidFill>
              </a:rPr>
              <a:t>介助の3原則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安全・安楽・自立支援を常に意識する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2606040" cy="1920240"/>
          </a:xfrm>
          <a:prstGeom prst="rect">
            <a:avLst/>
          </a:prstGeom>
          <a:solidFill>
            <a:srgbClr val="1E40AF"/>
          </a:solidFill>
          <a:ln w="25400">
            <a:solidFill>
              <a:srgbClr val="068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463040"/>
            <a:ext cx="566928" cy="566928"/>
          </a:xfrm>
          <a:prstGeom prst="ellipse">
            <a:avLst/>
          </a:prstGeom>
          <a:solidFill>
            <a:srgbClr val="068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4884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829C"/>
                </a:solidFill>
              </a:rPr>
              <a:t>ボディメカニクス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33472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正しい姿勢で患者も介助者も守る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71600"/>
            <a:ext cx="2606040" cy="1920240"/>
          </a:xfrm>
          <a:prstGeom prst="rect">
            <a:avLst/>
          </a:prstGeom>
          <a:solidFill>
            <a:srgbClr val="1E40A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9440" y="1463040"/>
            <a:ext cx="566928" cy="5669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4884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</a:rPr>
              <a:t>確認・声かけ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633472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介助前の確認と患者への声かけを徹底する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2606040" cy="1920240"/>
          </a:xfrm>
          <a:prstGeom prst="rect">
            <a:avLst/>
          </a:prstGeom>
          <a:solidFill>
            <a:srgbClr val="1E40A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63040" y="3566160"/>
            <a:ext cx="566928" cy="5669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</a:rPr>
              <a:t>移乗手順の遵守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36592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車椅子の角度・ブレーキ・フットレストを確認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474720"/>
            <a:ext cx="2606040" cy="1920240"/>
          </a:xfrm>
          <a:prstGeom prst="rect">
            <a:avLst/>
          </a:prstGeom>
          <a:solidFill>
            <a:srgbClr val="1E40A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06240" y="3566160"/>
            <a:ext cx="566928" cy="5669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2519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</a:rPr>
              <a:t>2名介助の判断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736592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一人で無理せず、迷ったら必ず声をかける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474720"/>
            <a:ext cx="2606040" cy="1920240"/>
          </a:xfrm>
          <a:prstGeom prst="rect">
            <a:avLst/>
          </a:prstGeom>
          <a:solidFill>
            <a:srgbClr val="1E40AF"/>
          </a:solidFill>
          <a:ln w="25400">
            <a:solidFill>
              <a:srgbClr val="761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49440" y="3566160"/>
            <a:ext cx="566928" cy="566928"/>
          </a:xfrm>
          <a:prstGeom prst="ellipse">
            <a:avLst/>
          </a:prstGeom>
          <a:solidFill>
            <a:srgbClr val="761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2519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61DA1"/>
                </a:solidFill>
              </a:rPr>
              <a:t>記録・報告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736592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F"/>
                </a:solidFill>
              </a:rPr>
              <a:t>気づいたことはすぐに記録・報告・連絡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DBFF"/>
                </a:solidFill>
              </a:rPr>
              <a:t>患者の「安全・安楽・自立支援」のために、今日から実践しましょう！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
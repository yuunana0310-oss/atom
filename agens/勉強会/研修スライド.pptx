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0"/>
            <a:ext cx="3657600" cy="365760"/>
          </a:xfrm>
          <a:prstGeom prst="rect">
            <a:avLst/>
          </a:prstGeom>
          <a:noFill/>
        </p:spPr>
        <p:txBody>
          <a:bodyPr wrap="square">
            <a:spAutoFit/>
          </a:bodyPr>
          <a:lstStyle/>
          <a:p>
            <a:pPr algn="l"/>
            <a:r>
              <a:rPr xmlns:ns0="http://schemas.openxmlformats.org/wordprocessingml/2006/main" sz="1100" b="0" ns0:eastAsia="Meiryo">
                <a:solidFill>
                  <a:srgbClr val="BBBBBB"/>
                </a:solidFill>
                <a:latin typeface="Meiryo"/>
              </a:rPr>
              <a:t>2026年度　院内必修研修</a:t>
            </a:r>
          </a:p>
        </p:txBody>
      </p:sp>
      <p:sp>
        <p:nvSpPr>
          <p:cNvPr id="4" name="TextBox 3"/>
          <p:cNvSpPr txBox="1"/>
          <p:nvPr/>
        </p:nvSpPr>
        <p:spPr>
          <a:xfrm>
            <a:off x="365760" y="1554480"/>
            <a:ext cx="3840480" cy="868680"/>
          </a:xfrm>
          <a:prstGeom prst="rect">
            <a:avLst/>
          </a:prstGeom>
          <a:noFill/>
        </p:spPr>
        <p:txBody>
          <a:bodyPr wrap="square">
            <a:spAutoFit/>
          </a:bodyPr>
          <a:lstStyle/>
          <a:p>
            <a:pPr algn="l"/>
            <a:r>
              <a:rPr xmlns:ns1="http://schemas.openxmlformats.org/wordprocessingml/2006/main" sz="3200" b="1" ns1:eastAsia="Meiryo">
                <a:solidFill>
                  <a:srgbClr val="FFFFFF"/>
                </a:solidFill>
                <a:latin typeface="Meiryo"/>
              </a:rPr>
              <a:t>個人情報保護</a:t>
            </a:r>
          </a:p>
        </p:txBody>
      </p:sp>
      <p:sp>
        <p:nvSpPr>
          <p:cNvPr id="5" name="TextBox 4"/>
          <p:cNvSpPr txBox="1"/>
          <p:nvPr/>
        </p:nvSpPr>
        <p:spPr>
          <a:xfrm>
            <a:off x="365760" y="2514600"/>
            <a:ext cx="3840480" cy="868680"/>
          </a:xfrm>
          <a:prstGeom prst="rect">
            <a:avLst/>
          </a:prstGeom>
          <a:noFill/>
        </p:spPr>
        <p:txBody>
          <a:bodyPr wrap="square">
            <a:spAutoFit/>
          </a:bodyPr>
          <a:lstStyle/>
          <a:p>
            <a:pPr algn="l"/>
            <a:r>
              <a:rPr xmlns:ns2="http://schemas.openxmlformats.org/wordprocessingml/2006/main" sz="3200" b="1" ns2:eastAsia="Meiryo">
                <a:solidFill>
                  <a:srgbClr val="FFFFFF"/>
                </a:solidFill>
                <a:latin typeface="Meiryo"/>
              </a:rPr>
              <a:t>ハラスメント予防</a:t>
            </a:r>
          </a:p>
        </p:txBody>
      </p:sp>
      <p:sp>
        <p:nvSpPr>
          <p:cNvPr id="6" name="TextBox 5"/>
          <p:cNvSpPr txBox="1"/>
          <p:nvPr/>
        </p:nvSpPr>
        <p:spPr>
          <a:xfrm>
            <a:off x="365760" y="3474720"/>
            <a:ext cx="3840480" cy="868680"/>
          </a:xfrm>
          <a:prstGeom prst="rect">
            <a:avLst/>
          </a:prstGeom>
          <a:noFill/>
        </p:spPr>
        <p:txBody>
          <a:bodyPr wrap="square">
            <a:spAutoFit/>
          </a:bodyPr>
          <a:lstStyle/>
          <a:p>
            <a:pPr algn="l"/>
            <a:r>
              <a:rPr xmlns:ns3="http://schemas.openxmlformats.org/wordprocessingml/2006/main" sz="3200" b="1" ns3:eastAsia="Meiryo">
                <a:solidFill>
                  <a:srgbClr val="FFFFFF"/>
                </a:solidFill>
                <a:latin typeface="Meiryo"/>
              </a:rPr>
              <a:t>法令遵守</a:t>
            </a:r>
          </a:p>
        </p:txBody>
      </p:sp>
      <p:sp>
        <p:nvSpPr>
          <p:cNvPr id="7" name="Rectangle 6"/>
          <p:cNvSpPr/>
          <p:nvPr/>
        </p:nvSpPr>
        <p:spPr>
          <a:xfrm>
            <a:off x="365760" y="4572000"/>
            <a:ext cx="13716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4754880"/>
            <a:ext cx="3657600" cy="365760"/>
          </a:xfrm>
          <a:prstGeom prst="rect">
            <a:avLst/>
          </a:prstGeom>
          <a:noFill/>
        </p:spPr>
        <p:txBody>
          <a:bodyPr wrap="square">
            <a:spAutoFit/>
          </a:bodyPr>
          <a:lstStyle/>
          <a:p>
            <a:pPr algn="l"/>
            <a:r>
              <a:rPr xmlns:ns4="http://schemas.openxmlformats.org/wordprocessingml/2006/main" sz="1200" b="0" ns4:eastAsia="Meiryo">
                <a:solidFill>
                  <a:srgbClr val="BBBBBB"/>
                </a:solidFill>
                <a:latin typeface="Meiryo"/>
              </a:rPr>
              <a:t>すべての病院スタッフへ</a:t>
            </a:r>
          </a:p>
        </p:txBody>
      </p:sp>
      <p:sp>
        <p:nvSpPr>
          <p:cNvPr id="9" name="TextBox 8"/>
          <p:cNvSpPr txBox="1"/>
          <p:nvPr/>
        </p:nvSpPr>
        <p:spPr>
          <a:xfrm>
            <a:off x="365760" y="5212080"/>
            <a:ext cx="3657600" cy="320040"/>
          </a:xfrm>
          <a:prstGeom prst="rect">
            <a:avLst/>
          </a:prstGeom>
          <a:noFill/>
        </p:spPr>
        <p:txBody>
          <a:bodyPr wrap="square">
            <a:spAutoFit/>
          </a:bodyPr>
          <a:lstStyle/>
          <a:p>
            <a:pPr algn="l"/>
            <a:r>
              <a:rPr xmlns:ns5="http://schemas.openxmlformats.org/wordprocessingml/2006/main" sz="1000" b="0" ns5:eastAsia="Meiryo">
                <a:solidFill>
                  <a:srgbClr val="555555"/>
                </a:solidFill>
                <a:latin typeface="Meiryo"/>
              </a:rPr>
              <a:t>研修時間：約30分　／　対象：全職員</a:t>
            </a:r>
          </a:p>
        </p:txBody>
      </p:sp>
      <p:sp>
        <p:nvSpPr>
          <p:cNvPr id="10" name="Rectangle 9"/>
          <p:cNvSpPr/>
          <p:nvPr/>
        </p:nvSpPr>
        <p:spPr>
          <a:xfrm>
            <a:off x="4846320" y="2011680"/>
            <a:ext cx="6675120" cy="777240"/>
          </a:xfrm>
          <a:prstGeom prst="rect">
            <a:avLst/>
          </a:prstGeom>
          <a:noFill/>
          <a:ln w="190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76272"/>
            <a:ext cx="6217920" cy="457200"/>
          </a:xfrm>
          <a:prstGeom prst="rect">
            <a:avLst/>
          </a:prstGeom>
          <a:noFill/>
        </p:spPr>
        <p:txBody>
          <a:bodyPr wrap="square">
            <a:spAutoFit/>
          </a:bodyPr>
          <a:lstStyle/>
          <a:p>
            <a:pPr algn="l"/>
            <a:r>
              <a:rPr xmlns:ns6="http://schemas.openxmlformats.org/wordprocessingml/2006/main" sz="1800" b="1" ns6:eastAsia="Meiryo">
                <a:solidFill>
                  <a:srgbClr val="111111"/>
                </a:solidFill>
                <a:latin typeface="Meiryo"/>
              </a:rPr>
              <a:t>📋  個人情報保護</a:t>
            </a:r>
          </a:p>
        </p:txBody>
      </p:sp>
      <p:sp>
        <p:nvSpPr>
          <p:cNvPr id="12" name="Rectangle 11"/>
          <p:cNvSpPr/>
          <p:nvPr/>
        </p:nvSpPr>
        <p:spPr>
          <a:xfrm>
            <a:off x="4846320" y="3108960"/>
            <a:ext cx="6675120" cy="777240"/>
          </a:xfrm>
          <a:prstGeom prst="rect">
            <a:avLst/>
          </a:prstGeom>
          <a:noFill/>
          <a:ln w="190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3273552"/>
            <a:ext cx="6217920" cy="457200"/>
          </a:xfrm>
          <a:prstGeom prst="rect">
            <a:avLst/>
          </a:prstGeom>
          <a:noFill/>
        </p:spPr>
        <p:txBody>
          <a:bodyPr wrap="square">
            <a:spAutoFit/>
          </a:bodyPr>
          <a:lstStyle/>
          <a:p>
            <a:pPr algn="l"/>
            <a:r>
              <a:rPr xmlns:ns7="http://schemas.openxmlformats.org/wordprocessingml/2006/main" sz="1800" b="1" ns7:eastAsia="Meiryo">
                <a:solidFill>
                  <a:srgbClr val="111111"/>
                </a:solidFill>
                <a:latin typeface="Meiryo"/>
              </a:rPr>
              <a:t>🛡  ハラスメント予防</a:t>
            </a:r>
          </a:p>
        </p:txBody>
      </p:sp>
      <p:sp>
        <p:nvSpPr>
          <p:cNvPr id="14" name="Rectangle 13"/>
          <p:cNvSpPr/>
          <p:nvPr/>
        </p:nvSpPr>
        <p:spPr>
          <a:xfrm>
            <a:off x="4846320" y="4206240"/>
            <a:ext cx="6675120" cy="777240"/>
          </a:xfrm>
          <a:prstGeom prst="rect">
            <a:avLst/>
          </a:prstGeom>
          <a:noFill/>
          <a:ln w="190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0" y="4370832"/>
            <a:ext cx="6217920" cy="457200"/>
          </a:xfrm>
          <a:prstGeom prst="rect">
            <a:avLst/>
          </a:prstGeom>
          <a:noFill/>
        </p:spPr>
        <p:txBody>
          <a:bodyPr wrap="square">
            <a:spAutoFit/>
          </a:bodyPr>
          <a:lstStyle/>
          <a:p>
            <a:pPr algn="l"/>
            <a:r>
              <a:rPr xmlns:ns8="http://schemas.openxmlformats.org/wordprocessingml/2006/main" sz="1800" b="1" ns8:eastAsia="Meiryo">
                <a:solidFill>
                  <a:srgbClr val="111111"/>
                </a:solidFill>
                <a:latin typeface="Meiryo"/>
              </a:rPr>
              <a:t>⚖  法令遵守</a:t>
            </a:r>
          </a:p>
        </p:txBody>
      </p:sp>
      <p:sp>
        <p:nvSpPr>
          <p:cNvPr id="16" name="Rectangle 15"/>
          <p:cNvSpPr/>
          <p:nvPr/>
        </p:nvSpPr>
        <p:spPr>
          <a:xfrm>
            <a:off x="4846320" y="457200"/>
            <a:ext cx="6675120" cy="1371600"/>
          </a:xfrm>
          <a:prstGeom prst="rect">
            <a:avLst/>
          </a:prstGeom>
          <a:solidFill>
            <a:srgbClr val="EEEEEE"/>
          </a:solidFill>
          <a:ln w="1270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777240"/>
            <a:ext cx="6400800" cy="457200"/>
          </a:xfrm>
          <a:prstGeom prst="rect">
            <a:avLst/>
          </a:prstGeom>
          <a:noFill/>
        </p:spPr>
        <p:txBody>
          <a:bodyPr wrap="square">
            <a:spAutoFit/>
          </a:bodyPr>
          <a:lstStyle/>
          <a:p>
            <a:pPr algn="ctr"/>
            <a:r>
              <a:rPr xmlns:ns9="http://schemas.openxmlformats.org/wordprocessingml/2006/main" sz="1000" b="0" ns9:eastAsia="Meiryo">
                <a:solidFill>
                  <a:srgbClr val="555555"/>
                </a:solidFill>
                <a:latin typeface="Meiryo"/>
              </a:rPr>
              <a:t>★ナノバナナ：cover_illust.png を挿入</a:t>
            </a:r>
          </a:p>
        </p:txBody>
      </p:sp>
      <p:sp>
        <p:nvSpPr>
          <p:cNvPr id="18" name="TextBox 17"/>
          <p:cNvSpPr txBox="1"/>
          <p:nvPr/>
        </p:nvSpPr>
        <p:spPr>
          <a:xfrm>
            <a:off x="11640312" y="6492240"/>
            <a:ext cx="457200" cy="320040"/>
          </a:xfrm>
          <a:prstGeom prst="rect">
            <a:avLst/>
          </a:prstGeom>
          <a:noFill/>
        </p:spPr>
        <p:txBody>
          <a:bodyPr wrap="square">
            <a:spAutoFit/>
          </a:bodyPr>
          <a:lstStyle/>
          <a:p>
            <a:pPr algn="r"/>
            <a:r>
              <a:rPr xmlns:ns10="http://schemas.openxmlformats.org/wordprocessingml/2006/main" sz="1000" b="0" ns10:eastAsia="Meiryo">
                <a:solidFill>
                  <a:srgbClr val="BBBBBB"/>
                </a:solidFill>
                <a:latin typeface="Meiryo"/>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548640"/>
          </a:xfrm>
          <a:prstGeom prst="rect">
            <a:avLst/>
          </a:prstGeom>
          <a:noFill/>
        </p:spPr>
        <p:txBody>
          <a:bodyPr wrap="square">
            <a:spAutoFit/>
          </a:bodyPr>
          <a:lstStyle/>
          <a:p>
            <a:pPr algn="l"/>
            <a:r>
              <a:rPr xmlns:ns0="http://schemas.openxmlformats.org/wordprocessingml/2006/main" sz="2600" b="1" ns0:eastAsia="Meiryo">
                <a:solidFill>
                  <a:srgbClr val="111111"/>
                </a:solidFill>
                <a:latin typeface="Meiryo"/>
              </a:rPr>
              <a:t>本日のアジェンダ</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AGENDA</a:t>
            </a:r>
          </a:p>
        </p:txBody>
      </p:sp>
      <p:sp>
        <p:nvSpPr>
          <p:cNvPr id="5" name="Rectangle 4"/>
          <p:cNvSpPr/>
          <p:nvPr/>
        </p:nvSpPr>
        <p:spPr>
          <a:xfrm>
            <a:off x="457200" y="1097280"/>
            <a:ext cx="5486400" cy="22860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73152" cy="2286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2286000" cy="320040"/>
          </a:xfrm>
          <a:prstGeom prst="rect">
            <a:avLst/>
          </a:prstGeom>
          <a:noFill/>
        </p:spPr>
        <p:txBody>
          <a:bodyPr wrap="square">
            <a:spAutoFit/>
          </a:bodyPr>
          <a:lstStyle/>
          <a:p>
            <a:pPr algn="l"/>
            <a:r>
              <a:rPr xmlns:ns2="http://schemas.openxmlformats.org/wordprocessingml/2006/main" sz="900" b="1" ns2:eastAsia="Meiryo">
                <a:solidFill>
                  <a:srgbClr val="555555"/>
                </a:solidFill>
                <a:latin typeface="Meiryo"/>
              </a:rPr>
              <a:t>PART 01</a:t>
            </a:r>
          </a:p>
        </p:txBody>
      </p:sp>
      <p:sp>
        <p:nvSpPr>
          <p:cNvPr id="8" name="TextBox 7"/>
          <p:cNvSpPr txBox="1"/>
          <p:nvPr/>
        </p:nvSpPr>
        <p:spPr>
          <a:xfrm>
            <a:off x="640080" y="1554480"/>
            <a:ext cx="5029200" cy="640080"/>
          </a:xfrm>
          <a:prstGeom prst="rect">
            <a:avLst/>
          </a:prstGeom>
          <a:noFill/>
        </p:spPr>
        <p:txBody>
          <a:bodyPr wrap="square">
            <a:spAutoFit/>
          </a:bodyPr>
          <a:lstStyle/>
          <a:p>
            <a:pPr algn="l"/>
            <a:r>
              <a:rPr xmlns:ns3="http://schemas.openxmlformats.org/wordprocessingml/2006/main" sz="2200" b="1" ns3:eastAsia="Meiryo">
                <a:solidFill>
                  <a:srgbClr val="111111"/>
                </a:solidFill>
                <a:latin typeface="Meiryo"/>
              </a:rPr>
              <a:t>個人情報保護</a:t>
            </a:r>
          </a:p>
        </p:txBody>
      </p:sp>
      <p:sp>
        <p:nvSpPr>
          <p:cNvPr id="9" name="TextBox 8"/>
          <p:cNvSpPr txBox="1"/>
          <p:nvPr/>
        </p:nvSpPr>
        <p:spPr>
          <a:xfrm>
            <a:off x="640080" y="2286000"/>
            <a:ext cx="5029200" cy="365760"/>
          </a:xfrm>
          <a:prstGeom prst="rect">
            <a:avLst/>
          </a:prstGeom>
          <a:noFill/>
        </p:spPr>
        <p:txBody>
          <a:bodyPr wrap="square">
            <a:spAutoFit/>
          </a:bodyPr>
          <a:lstStyle/>
          <a:p>
            <a:pPr algn="l"/>
            <a:r>
              <a:rPr xmlns:ns4="http://schemas.openxmlformats.org/wordprocessingml/2006/main" sz="1200" b="0" ns4:eastAsia="Meiryo">
                <a:solidFill>
                  <a:srgbClr val="555555"/>
                </a:solidFill>
                <a:latin typeface="Meiryo"/>
              </a:rPr>
              <a:t>患者情報の正しい扱い方・漏洩防止</a:t>
            </a:r>
          </a:p>
        </p:txBody>
      </p:sp>
      <p:sp>
        <p:nvSpPr>
          <p:cNvPr id="10" name="Rectangle 9"/>
          <p:cNvSpPr/>
          <p:nvPr/>
        </p:nvSpPr>
        <p:spPr>
          <a:xfrm>
            <a:off x="6309360" y="1097280"/>
            <a:ext cx="5486400" cy="22860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097280"/>
            <a:ext cx="73152" cy="2286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234440"/>
            <a:ext cx="2286000" cy="320040"/>
          </a:xfrm>
          <a:prstGeom prst="rect">
            <a:avLst/>
          </a:prstGeom>
          <a:noFill/>
        </p:spPr>
        <p:txBody>
          <a:bodyPr wrap="square">
            <a:spAutoFit/>
          </a:bodyPr>
          <a:lstStyle/>
          <a:p>
            <a:pPr algn="l"/>
            <a:r>
              <a:rPr xmlns:ns5="http://schemas.openxmlformats.org/wordprocessingml/2006/main" sz="900" b="1" ns5:eastAsia="Meiryo">
                <a:solidFill>
                  <a:srgbClr val="555555"/>
                </a:solidFill>
                <a:latin typeface="Meiryo"/>
              </a:rPr>
              <a:t>PART 02</a:t>
            </a:r>
          </a:p>
        </p:txBody>
      </p:sp>
      <p:sp>
        <p:nvSpPr>
          <p:cNvPr id="13" name="TextBox 12"/>
          <p:cNvSpPr txBox="1"/>
          <p:nvPr/>
        </p:nvSpPr>
        <p:spPr>
          <a:xfrm>
            <a:off x="6492240" y="1554480"/>
            <a:ext cx="5029200" cy="640080"/>
          </a:xfrm>
          <a:prstGeom prst="rect">
            <a:avLst/>
          </a:prstGeom>
          <a:noFill/>
        </p:spPr>
        <p:txBody>
          <a:bodyPr wrap="square">
            <a:spAutoFit/>
          </a:bodyPr>
          <a:lstStyle/>
          <a:p>
            <a:pPr algn="l"/>
            <a:r>
              <a:rPr xmlns:ns6="http://schemas.openxmlformats.org/wordprocessingml/2006/main" sz="2200" b="1" ns6:eastAsia="Meiryo">
                <a:solidFill>
                  <a:srgbClr val="111111"/>
                </a:solidFill>
                <a:latin typeface="Meiryo"/>
              </a:rPr>
              <a:t>ハラスメント予防</a:t>
            </a:r>
          </a:p>
        </p:txBody>
      </p:sp>
      <p:sp>
        <p:nvSpPr>
          <p:cNvPr id="14" name="TextBox 13"/>
          <p:cNvSpPr txBox="1"/>
          <p:nvPr/>
        </p:nvSpPr>
        <p:spPr>
          <a:xfrm>
            <a:off x="6492240" y="2286000"/>
            <a:ext cx="5029200" cy="365760"/>
          </a:xfrm>
          <a:prstGeom prst="rect">
            <a:avLst/>
          </a:prstGeom>
          <a:noFill/>
        </p:spPr>
        <p:txBody>
          <a:bodyPr wrap="square">
            <a:spAutoFit/>
          </a:bodyPr>
          <a:lstStyle/>
          <a:p>
            <a:pPr algn="l"/>
            <a:r>
              <a:rPr xmlns:ns7="http://schemas.openxmlformats.org/wordprocessingml/2006/main" sz="1200" b="0" ns7:eastAsia="Meiryo">
                <a:solidFill>
                  <a:srgbClr val="555555"/>
                </a:solidFill>
                <a:latin typeface="Meiryo"/>
              </a:rPr>
              <a:t>職場・対患者 ／ カスハラ重点解説</a:t>
            </a:r>
          </a:p>
        </p:txBody>
      </p:sp>
      <p:sp>
        <p:nvSpPr>
          <p:cNvPr id="15" name="Rectangle 14"/>
          <p:cNvSpPr/>
          <p:nvPr/>
        </p:nvSpPr>
        <p:spPr>
          <a:xfrm>
            <a:off x="457200" y="3749039"/>
            <a:ext cx="5486400" cy="22860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49039"/>
            <a:ext cx="73152" cy="2286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886199"/>
            <a:ext cx="2286000" cy="320040"/>
          </a:xfrm>
          <a:prstGeom prst="rect">
            <a:avLst/>
          </a:prstGeom>
          <a:noFill/>
        </p:spPr>
        <p:txBody>
          <a:bodyPr wrap="square">
            <a:spAutoFit/>
          </a:bodyPr>
          <a:lstStyle/>
          <a:p>
            <a:pPr algn="l"/>
            <a:r>
              <a:rPr xmlns:ns8="http://schemas.openxmlformats.org/wordprocessingml/2006/main" sz="900" b="1" ns8:eastAsia="Meiryo">
                <a:solidFill>
                  <a:srgbClr val="555555"/>
                </a:solidFill>
                <a:latin typeface="Meiryo"/>
              </a:rPr>
              <a:t>PART 03</a:t>
            </a:r>
          </a:p>
        </p:txBody>
      </p:sp>
      <p:sp>
        <p:nvSpPr>
          <p:cNvPr id="18" name="TextBox 17"/>
          <p:cNvSpPr txBox="1"/>
          <p:nvPr/>
        </p:nvSpPr>
        <p:spPr>
          <a:xfrm>
            <a:off x="640080" y="4206239"/>
            <a:ext cx="5029200" cy="640080"/>
          </a:xfrm>
          <a:prstGeom prst="rect">
            <a:avLst/>
          </a:prstGeom>
          <a:noFill/>
        </p:spPr>
        <p:txBody>
          <a:bodyPr wrap="square">
            <a:spAutoFit/>
          </a:bodyPr>
          <a:lstStyle/>
          <a:p>
            <a:pPr algn="l"/>
            <a:r>
              <a:rPr xmlns:ns9="http://schemas.openxmlformats.org/wordprocessingml/2006/main" sz="2200" b="1" ns9:eastAsia="Meiryo">
                <a:solidFill>
                  <a:srgbClr val="111111"/>
                </a:solidFill>
                <a:latin typeface="Meiryo"/>
              </a:rPr>
              <a:t>法令遵守</a:t>
            </a:r>
          </a:p>
        </p:txBody>
      </p:sp>
      <p:sp>
        <p:nvSpPr>
          <p:cNvPr id="19" name="TextBox 18"/>
          <p:cNvSpPr txBox="1"/>
          <p:nvPr/>
        </p:nvSpPr>
        <p:spPr>
          <a:xfrm>
            <a:off x="640080" y="4937759"/>
            <a:ext cx="5029200" cy="365760"/>
          </a:xfrm>
          <a:prstGeom prst="rect">
            <a:avLst/>
          </a:prstGeom>
          <a:noFill/>
        </p:spPr>
        <p:txBody>
          <a:bodyPr wrap="square">
            <a:spAutoFit/>
          </a:bodyPr>
          <a:lstStyle/>
          <a:p>
            <a:pPr algn="l"/>
            <a:r>
              <a:rPr xmlns:ns10="http://schemas.openxmlformats.org/wordprocessingml/2006/main" sz="1200" b="0" ns10:eastAsia="Meiryo">
                <a:solidFill>
                  <a:srgbClr val="555555"/>
                </a:solidFill>
                <a:latin typeface="Meiryo"/>
              </a:rPr>
              <a:t>医療現場に関わる主要法令と義務</a:t>
            </a:r>
          </a:p>
        </p:txBody>
      </p:sp>
      <p:sp>
        <p:nvSpPr>
          <p:cNvPr id="20" name="Rectangle 19"/>
          <p:cNvSpPr/>
          <p:nvPr/>
        </p:nvSpPr>
        <p:spPr>
          <a:xfrm>
            <a:off x="6309360" y="3749039"/>
            <a:ext cx="5486400" cy="22860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3749039"/>
            <a:ext cx="73152" cy="2286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3886199"/>
            <a:ext cx="2286000" cy="320040"/>
          </a:xfrm>
          <a:prstGeom prst="rect">
            <a:avLst/>
          </a:prstGeom>
          <a:noFill/>
        </p:spPr>
        <p:txBody>
          <a:bodyPr wrap="square">
            <a:spAutoFit/>
          </a:bodyPr>
          <a:lstStyle/>
          <a:p>
            <a:pPr algn="l"/>
            <a:r>
              <a:rPr xmlns:ns11="http://schemas.openxmlformats.org/wordprocessingml/2006/main" sz="900" b="1" ns11:eastAsia="Meiryo">
                <a:solidFill>
                  <a:srgbClr val="555555"/>
                </a:solidFill>
                <a:latin typeface="Meiryo"/>
              </a:rPr>
              <a:t>WRAP UP</a:t>
            </a:r>
          </a:p>
        </p:txBody>
      </p:sp>
      <p:sp>
        <p:nvSpPr>
          <p:cNvPr id="23" name="TextBox 22"/>
          <p:cNvSpPr txBox="1"/>
          <p:nvPr/>
        </p:nvSpPr>
        <p:spPr>
          <a:xfrm>
            <a:off x="6492240" y="4206239"/>
            <a:ext cx="5029200" cy="640080"/>
          </a:xfrm>
          <a:prstGeom prst="rect">
            <a:avLst/>
          </a:prstGeom>
          <a:noFill/>
        </p:spPr>
        <p:txBody>
          <a:bodyPr wrap="square">
            <a:spAutoFit/>
          </a:bodyPr>
          <a:lstStyle/>
          <a:p>
            <a:pPr algn="l"/>
            <a:r>
              <a:rPr xmlns:ns12="http://schemas.openxmlformats.org/wordprocessingml/2006/main" sz="2200" b="1" ns12:eastAsia="Meiryo">
                <a:solidFill>
                  <a:srgbClr val="111111"/>
                </a:solidFill>
                <a:latin typeface="Meiryo"/>
              </a:rPr>
              <a:t>セルフチェック</a:t>
            </a:r>
          </a:p>
        </p:txBody>
      </p:sp>
      <p:sp>
        <p:nvSpPr>
          <p:cNvPr id="24" name="TextBox 23"/>
          <p:cNvSpPr txBox="1"/>
          <p:nvPr/>
        </p:nvSpPr>
        <p:spPr>
          <a:xfrm>
            <a:off x="6492240" y="4937759"/>
            <a:ext cx="5029200" cy="365760"/>
          </a:xfrm>
          <a:prstGeom prst="rect">
            <a:avLst/>
          </a:prstGeom>
          <a:noFill/>
        </p:spPr>
        <p:txBody>
          <a:bodyPr wrap="square">
            <a:spAutoFit/>
          </a:bodyPr>
          <a:lstStyle/>
          <a:p>
            <a:pPr algn="l"/>
            <a:r>
              <a:rPr xmlns:ns13="http://schemas.openxmlformats.org/wordprocessingml/2006/main" sz="1200" b="0" ns13:eastAsia="Meiryo">
                <a:solidFill>
                  <a:srgbClr val="555555"/>
                </a:solidFill>
                <a:latin typeface="Meiryo"/>
              </a:rPr>
              <a:t>自己確認チェックリスト</a:t>
            </a:r>
          </a:p>
        </p:txBody>
      </p:sp>
      <p:sp>
        <p:nvSpPr>
          <p:cNvPr id="25" name="TextBox 24"/>
          <p:cNvSpPr txBox="1"/>
          <p:nvPr/>
        </p:nvSpPr>
        <p:spPr>
          <a:xfrm>
            <a:off x="11640312" y="6492240"/>
            <a:ext cx="457200" cy="320040"/>
          </a:xfrm>
          <a:prstGeom prst="rect">
            <a:avLst/>
          </a:prstGeom>
          <a:noFill/>
        </p:spPr>
        <p:txBody>
          <a:bodyPr wrap="square">
            <a:spAutoFit/>
          </a:bodyPr>
          <a:lstStyle/>
          <a:p>
            <a:pPr algn="r"/>
            <a:r>
              <a:rPr xmlns:ns14="http://schemas.openxmlformats.org/wordprocessingml/2006/main" sz="1000" b="0" ns14:eastAsia="Meiryo">
                <a:solidFill>
                  <a:srgbClr val="BBBBBB"/>
                </a:solidFill>
                <a:latin typeface="Meiry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r>
              <a:rPr xmlns:ns0="http://schemas.openxmlformats.org/wordprocessingml/2006/main" sz="2600" b="1" ns0:eastAsia="Meiryo">
                <a:solidFill>
                  <a:srgbClr val="111111"/>
                </a:solidFill>
                <a:latin typeface="Meiryo"/>
              </a:rPr>
              <a:t>01　個人情報保護</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PERSONAL INFORMATION</a:t>
            </a:r>
          </a:p>
        </p:txBody>
      </p:sp>
      <p:sp>
        <p:nvSpPr>
          <p:cNvPr id="5" name="TextBox 4"/>
          <p:cNvSpPr txBox="1"/>
          <p:nvPr/>
        </p:nvSpPr>
        <p:spPr>
          <a:xfrm>
            <a:off x="457200" y="1005840"/>
            <a:ext cx="7315200" cy="411480"/>
          </a:xfrm>
          <a:prstGeom prst="rect">
            <a:avLst/>
          </a:prstGeom>
          <a:noFill/>
        </p:spPr>
        <p:txBody>
          <a:bodyPr wrap="square">
            <a:spAutoFit/>
          </a:bodyPr>
          <a:lstStyle/>
          <a:p>
            <a:pPr algn="l"/>
            <a:r>
              <a:rPr xmlns:ns2="http://schemas.openxmlformats.org/wordprocessingml/2006/main" sz="1600" b="1" ns2:eastAsia="Meiryo">
                <a:solidFill>
                  <a:srgbClr val="111111"/>
                </a:solidFill>
                <a:latin typeface="Meiryo"/>
              </a:rPr>
              <a:t>「個人情報」とは何か？</a:t>
            </a:r>
          </a:p>
        </p:txBody>
      </p:sp>
      <p:sp>
        <p:nvSpPr>
          <p:cNvPr id="6" name="Rectangle 5"/>
          <p:cNvSpPr/>
          <p:nvPr/>
        </p:nvSpPr>
        <p:spPr>
          <a:xfrm>
            <a:off x="457200" y="1417320"/>
            <a:ext cx="3200400"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00200"/>
            <a:ext cx="5394960" cy="4663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37360"/>
            <a:ext cx="5029200" cy="411480"/>
          </a:xfrm>
          <a:prstGeom prst="rect">
            <a:avLst/>
          </a:prstGeom>
          <a:noFill/>
        </p:spPr>
        <p:txBody>
          <a:bodyPr wrap="square">
            <a:spAutoFit/>
          </a:bodyPr>
          <a:lstStyle/>
          <a:p>
            <a:pPr algn="l"/>
            <a:r>
              <a:rPr xmlns:ns3="http://schemas.openxmlformats.org/wordprocessingml/2006/main" sz="1300" b="1" ns3:eastAsia="Meiryo">
                <a:solidFill>
                  <a:srgbClr val="111111"/>
                </a:solidFill>
                <a:latin typeface="Meiryo"/>
              </a:rPr>
              <a:t>個人情報の定義</a:t>
            </a:r>
          </a:p>
        </p:txBody>
      </p:sp>
      <p:sp>
        <p:nvSpPr>
          <p:cNvPr id="9" name="TextBox 8"/>
          <p:cNvSpPr txBox="1"/>
          <p:nvPr/>
        </p:nvSpPr>
        <p:spPr>
          <a:xfrm>
            <a:off x="640080" y="2286000"/>
            <a:ext cx="5029200" cy="502920"/>
          </a:xfrm>
          <a:prstGeom prst="rect">
            <a:avLst/>
          </a:prstGeom>
          <a:noFill/>
        </p:spPr>
        <p:txBody>
          <a:bodyPr wrap="square">
            <a:spAutoFit/>
          </a:bodyPr>
          <a:lstStyle/>
          <a:p>
            <a:pPr algn="l"/>
            <a:r>
              <a:rPr xmlns:ns4="http://schemas.openxmlformats.org/wordprocessingml/2006/main" sz="1300" b="0" ns4:eastAsia="Meiryo">
                <a:solidFill>
                  <a:srgbClr val="111111"/>
                </a:solidFill>
                <a:latin typeface="Meiryo"/>
              </a:rPr>
              <a:t>▶  氏名・生年月日・住所・電話番号</a:t>
            </a:r>
          </a:p>
        </p:txBody>
      </p:sp>
      <p:sp>
        <p:nvSpPr>
          <p:cNvPr id="10" name="TextBox 9"/>
          <p:cNvSpPr txBox="1"/>
          <p:nvPr/>
        </p:nvSpPr>
        <p:spPr>
          <a:xfrm>
            <a:off x="640080" y="2880360"/>
            <a:ext cx="5029200" cy="502920"/>
          </a:xfrm>
          <a:prstGeom prst="rect">
            <a:avLst/>
          </a:prstGeom>
          <a:noFill/>
        </p:spPr>
        <p:txBody>
          <a:bodyPr wrap="square">
            <a:spAutoFit/>
          </a:bodyPr>
          <a:lstStyle/>
          <a:p>
            <a:pPr algn="l"/>
            <a:r>
              <a:rPr xmlns:ns5="http://schemas.openxmlformats.org/wordprocessingml/2006/main" sz="1300" b="0" ns5:eastAsia="Meiryo">
                <a:solidFill>
                  <a:srgbClr val="111111"/>
                </a:solidFill>
                <a:latin typeface="Meiryo"/>
              </a:rPr>
              <a:t>▶  診断名・病歴・検査結果・投薬内容</a:t>
            </a:r>
          </a:p>
        </p:txBody>
      </p:sp>
      <p:sp>
        <p:nvSpPr>
          <p:cNvPr id="11" name="TextBox 10"/>
          <p:cNvSpPr txBox="1"/>
          <p:nvPr/>
        </p:nvSpPr>
        <p:spPr>
          <a:xfrm>
            <a:off x="640080" y="3474720"/>
            <a:ext cx="5029200" cy="502920"/>
          </a:xfrm>
          <a:prstGeom prst="rect">
            <a:avLst/>
          </a:prstGeom>
          <a:noFill/>
        </p:spPr>
        <p:txBody>
          <a:bodyPr wrap="square">
            <a:spAutoFit/>
          </a:bodyPr>
          <a:lstStyle/>
          <a:p>
            <a:pPr algn="l"/>
            <a:r>
              <a:rPr xmlns:ns6="http://schemas.openxmlformats.org/wordprocessingml/2006/main" sz="1300" b="0" ns6:eastAsia="Meiryo">
                <a:solidFill>
                  <a:srgbClr val="111111"/>
                </a:solidFill>
                <a:latin typeface="Meiryo"/>
              </a:rPr>
              <a:t>▶  顔写真・音声・映像</a:t>
            </a:r>
          </a:p>
        </p:txBody>
      </p:sp>
      <p:sp>
        <p:nvSpPr>
          <p:cNvPr id="12" name="TextBox 11"/>
          <p:cNvSpPr txBox="1"/>
          <p:nvPr/>
        </p:nvSpPr>
        <p:spPr>
          <a:xfrm>
            <a:off x="640080" y="4069080"/>
            <a:ext cx="5029200" cy="502920"/>
          </a:xfrm>
          <a:prstGeom prst="rect">
            <a:avLst/>
          </a:prstGeom>
          <a:noFill/>
        </p:spPr>
        <p:txBody>
          <a:bodyPr wrap="square">
            <a:spAutoFit/>
          </a:bodyPr>
          <a:lstStyle/>
          <a:p>
            <a:pPr algn="l"/>
            <a:r>
              <a:rPr xmlns:ns7="http://schemas.openxmlformats.org/wordprocessingml/2006/main" sz="1300" b="0" ns7:eastAsia="Meiryo">
                <a:solidFill>
                  <a:srgbClr val="111111"/>
                </a:solidFill>
                <a:latin typeface="Meiryo"/>
              </a:rPr>
              <a:t>▶  マイナンバー・保険証番号</a:t>
            </a:r>
          </a:p>
        </p:txBody>
      </p:sp>
      <p:sp>
        <p:nvSpPr>
          <p:cNvPr id="13" name="Rectangle 12"/>
          <p:cNvSpPr/>
          <p:nvPr/>
        </p:nvSpPr>
        <p:spPr>
          <a:xfrm>
            <a:off x="6309360" y="1600200"/>
            <a:ext cx="5394960" cy="46634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737360"/>
            <a:ext cx="5029200" cy="411480"/>
          </a:xfrm>
          <a:prstGeom prst="rect">
            <a:avLst/>
          </a:prstGeom>
          <a:noFill/>
        </p:spPr>
        <p:txBody>
          <a:bodyPr wrap="square">
            <a:spAutoFit/>
          </a:bodyPr>
          <a:lstStyle/>
          <a:p>
            <a:pPr algn="l"/>
            <a:r>
              <a:rPr xmlns:ns8="http://schemas.openxmlformats.org/wordprocessingml/2006/main" sz="1300" b="1" ns8:eastAsia="Meiryo">
                <a:solidFill>
                  <a:srgbClr val="FFFFFF"/>
                </a:solidFill>
                <a:latin typeface="Meiryo"/>
              </a:rPr>
              <a:t>「要配慮個人情報」</a:t>
            </a:r>
          </a:p>
        </p:txBody>
      </p:sp>
      <p:sp>
        <p:nvSpPr>
          <p:cNvPr id="15" name="TextBox 14"/>
          <p:cNvSpPr txBox="1"/>
          <p:nvPr/>
        </p:nvSpPr>
        <p:spPr>
          <a:xfrm>
            <a:off x="6492240" y="2148840"/>
            <a:ext cx="5029200" cy="365760"/>
          </a:xfrm>
          <a:prstGeom prst="rect">
            <a:avLst/>
          </a:prstGeom>
          <a:noFill/>
        </p:spPr>
        <p:txBody>
          <a:bodyPr wrap="square">
            <a:spAutoFit/>
          </a:bodyPr>
          <a:lstStyle/>
          <a:p>
            <a:pPr algn="l"/>
            <a:r>
              <a:rPr xmlns:ns9="http://schemas.openxmlformats.org/wordprocessingml/2006/main" sz="1100" b="0" ns9:eastAsia="Meiryo">
                <a:solidFill>
                  <a:srgbClr val="BBBBBB"/>
                </a:solidFill>
                <a:latin typeface="Meiryo"/>
              </a:rPr>
              <a:t>（特に厳格な取り扱いが必要）</a:t>
            </a:r>
          </a:p>
        </p:txBody>
      </p:sp>
      <p:sp>
        <p:nvSpPr>
          <p:cNvPr id="16" name="TextBox 15"/>
          <p:cNvSpPr txBox="1"/>
          <p:nvPr/>
        </p:nvSpPr>
        <p:spPr>
          <a:xfrm>
            <a:off x="6492240" y="2651760"/>
            <a:ext cx="5029200" cy="502920"/>
          </a:xfrm>
          <a:prstGeom prst="rect">
            <a:avLst/>
          </a:prstGeom>
          <a:noFill/>
        </p:spPr>
        <p:txBody>
          <a:bodyPr wrap="square">
            <a:spAutoFit/>
          </a:bodyPr>
          <a:lstStyle/>
          <a:p>
            <a:pPr algn="l"/>
            <a:r>
              <a:rPr xmlns:ns10="http://schemas.openxmlformats.org/wordprocessingml/2006/main" sz="1300" b="0" ns10:eastAsia="Meiryo">
                <a:solidFill>
                  <a:srgbClr val="FFFFFF"/>
                </a:solidFill>
                <a:latin typeface="Meiryo"/>
              </a:rPr>
              <a:t>▶  傷病・障害・健康診断結果</a:t>
            </a:r>
          </a:p>
        </p:txBody>
      </p:sp>
      <p:sp>
        <p:nvSpPr>
          <p:cNvPr id="17" name="TextBox 16"/>
          <p:cNvSpPr txBox="1"/>
          <p:nvPr/>
        </p:nvSpPr>
        <p:spPr>
          <a:xfrm>
            <a:off x="6492240" y="3246120"/>
            <a:ext cx="5029200" cy="502920"/>
          </a:xfrm>
          <a:prstGeom prst="rect">
            <a:avLst/>
          </a:prstGeom>
          <a:noFill/>
        </p:spPr>
        <p:txBody>
          <a:bodyPr wrap="square">
            <a:spAutoFit/>
          </a:bodyPr>
          <a:lstStyle/>
          <a:p>
            <a:pPr algn="l"/>
            <a:r>
              <a:rPr xmlns:ns11="http://schemas.openxmlformats.org/wordprocessingml/2006/main" sz="1300" b="0" ns11:eastAsia="Meiryo">
                <a:solidFill>
                  <a:srgbClr val="FFFFFF"/>
                </a:solidFill>
                <a:latin typeface="Meiryo"/>
              </a:rPr>
              <a:t>▶  精神疾患・感染症の罹患情報</a:t>
            </a:r>
          </a:p>
        </p:txBody>
      </p:sp>
      <p:sp>
        <p:nvSpPr>
          <p:cNvPr id="18" name="TextBox 17"/>
          <p:cNvSpPr txBox="1"/>
          <p:nvPr/>
        </p:nvSpPr>
        <p:spPr>
          <a:xfrm>
            <a:off x="6492240" y="3840480"/>
            <a:ext cx="5029200" cy="502920"/>
          </a:xfrm>
          <a:prstGeom prst="rect">
            <a:avLst/>
          </a:prstGeom>
          <a:noFill/>
        </p:spPr>
        <p:txBody>
          <a:bodyPr wrap="square">
            <a:spAutoFit/>
          </a:bodyPr>
          <a:lstStyle/>
          <a:p>
            <a:pPr algn="l"/>
            <a:r>
              <a:rPr xmlns:ns12="http://schemas.openxmlformats.org/wordprocessingml/2006/main" sz="1300" b="0" ns12:eastAsia="Meiryo">
                <a:solidFill>
                  <a:srgbClr val="FFFFFF"/>
                </a:solidFill>
                <a:latin typeface="Meiryo"/>
              </a:rPr>
              <a:t>▶  手術・検査・処方の記録</a:t>
            </a:r>
          </a:p>
        </p:txBody>
      </p:sp>
      <p:sp>
        <p:nvSpPr>
          <p:cNvPr id="19" name="TextBox 18"/>
          <p:cNvSpPr txBox="1"/>
          <p:nvPr/>
        </p:nvSpPr>
        <p:spPr>
          <a:xfrm>
            <a:off x="11640312" y="6492240"/>
            <a:ext cx="457200" cy="320040"/>
          </a:xfrm>
          <a:prstGeom prst="rect">
            <a:avLst/>
          </a:prstGeom>
          <a:noFill/>
        </p:spPr>
        <p:txBody>
          <a:bodyPr wrap="square">
            <a:spAutoFit/>
          </a:bodyPr>
          <a:lstStyle/>
          <a:p>
            <a:pPr algn="r"/>
            <a:r>
              <a:rPr xmlns:ns13="http://schemas.openxmlformats.org/wordprocessingml/2006/main" sz="1000" b="0" ns13:eastAsia="Meiryo">
                <a:solidFill>
                  <a:srgbClr val="BBBBBB"/>
                </a:solidFill>
                <a:latin typeface="Meiry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r>
              <a:rPr xmlns:ns0="http://schemas.openxmlformats.org/wordprocessingml/2006/main" sz="2600" b="1" ns0:eastAsia="Meiryo">
                <a:solidFill>
                  <a:srgbClr val="111111"/>
                </a:solidFill>
                <a:latin typeface="Meiryo"/>
              </a:rPr>
              <a:t>01　個人情報保護</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PERSONAL INFORMATION</a:t>
            </a:r>
          </a:p>
        </p:txBody>
      </p:sp>
      <p:sp>
        <p:nvSpPr>
          <p:cNvPr id="5" name="TextBox 4"/>
          <p:cNvSpPr txBox="1"/>
          <p:nvPr/>
        </p:nvSpPr>
        <p:spPr>
          <a:xfrm>
            <a:off x="457200" y="1005840"/>
            <a:ext cx="9144000" cy="411480"/>
          </a:xfrm>
          <a:prstGeom prst="rect">
            <a:avLst/>
          </a:prstGeom>
          <a:noFill/>
        </p:spPr>
        <p:txBody>
          <a:bodyPr wrap="square">
            <a:spAutoFit/>
          </a:bodyPr>
          <a:lstStyle/>
          <a:p>
            <a:pPr algn="l"/>
            <a:r>
              <a:rPr xmlns:ns2="http://schemas.openxmlformats.org/wordprocessingml/2006/main" sz="1600" b="1" ns2:eastAsia="Meiryo">
                <a:solidFill>
                  <a:srgbClr val="111111"/>
                </a:solidFill>
                <a:latin typeface="Meiryo"/>
              </a:rPr>
              <a:t>患者情報取り扱い　5原則</a:t>
            </a:r>
          </a:p>
        </p:txBody>
      </p:sp>
      <p:sp>
        <p:nvSpPr>
          <p:cNvPr id="6" name="Rectangle 5"/>
          <p:cNvSpPr/>
          <p:nvPr/>
        </p:nvSpPr>
        <p:spPr>
          <a:xfrm>
            <a:off x="457200" y="1417320"/>
            <a:ext cx="3657600"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2194560" cy="11887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91640"/>
            <a:ext cx="2194560" cy="1097280"/>
          </a:xfrm>
          <a:prstGeom prst="rect">
            <a:avLst/>
          </a:prstGeom>
          <a:noFill/>
        </p:spPr>
        <p:txBody>
          <a:bodyPr wrap="square">
            <a:spAutoFit/>
          </a:bodyPr>
          <a:lstStyle/>
          <a:p>
            <a:pPr algn="ctr"/>
            <a:r>
              <a:rPr xmlns:ns3="http://schemas.openxmlformats.org/wordprocessingml/2006/main" sz="4000" b="1" ns3:eastAsia="Meiryo">
                <a:solidFill>
                  <a:srgbClr val="FFFFFF"/>
                </a:solidFill>
                <a:latin typeface="Meiryo"/>
              </a:rPr>
              <a:t>1</a:t>
            </a:r>
          </a:p>
        </p:txBody>
      </p:sp>
      <p:sp>
        <p:nvSpPr>
          <p:cNvPr id="9" name="Rectangle 8"/>
          <p:cNvSpPr/>
          <p:nvPr/>
        </p:nvSpPr>
        <p:spPr>
          <a:xfrm>
            <a:off x="457200" y="2834640"/>
            <a:ext cx="2194560" cy="1188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2194560" cy="1005840"/>
          </a:xfrm>
          <a:prstGeom prst="rect">
            <a:avLst/>
          </a:prstGeom>
          <a:noFill/>
        </p:spPr>
        <p:txBody>
          <a:bodyPr wrap="square">
            <a:spAutoFit/>
          </a:bodyPr>
          <a:lstStyle/>
          <a:p>
            <a:pPr algn="ctr"/>
            <a:r>
              <a:rPr xmlns:ns4="http://schemas.openxmlformats.org/wordprocessingml/2006/main" sz="1400" b="1" ns4:eastAsia="Meiryo">
                <a:solidFill>
                  <a:srgbClr val="111111"/>
                </a:solidFill>
                <a:latin typeface="Meiryo"/>
              </a:rPr>
              <a:t>目的外
使用禁止</a:t>
            </a:r>
          </a:p>
        </p:txBody>
      </p:sp>
      <p:sp>
        <p:nvSpPr>
          <p:cNvPr id="11" name="Rectangle 10"/>
          <p:cNvSpPr/>
          <p:nvPr/>
        </p:nvSpPr>
        <p:spPr>
          <a:xfrm>
            <a:off x="2798064" y="1645920"/>
            <a:ext cx="2194560" cy="11887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98064" y="1691640"/>
            <a:ext cx="2194560" cy="1097280"/>
          </a:xfrm>
          <a:prstGeom prst="rect">
            <a:avLst/>
          </a:prstGeom>
          <a:noFill/>
        </p:spPr>
        <p:txBody>
          <a:bodyPr wrap="square">
            <a:spAutoFit/>
          </a:bodyPr>
          <a:lstStyle/>
          <a:p>
            <a:pPr algn="ctr"/>
            <a:r>
              <a:rPr xmlns:ns5="http://schemas.openxmlformats.org/wordprocessingml/2006/main" sz="4000" b="1" ns5:eastAsia="Meiryo">
                <a:solidFill>
                  <a:srgbClr val="FFFFFF"/>
                </a:solidFill>
                <a:latin typeface="Meiryo"/>
              </a:rPr>
              <a:t>2</a:t>
            </a:r>
          </a:p>
        </p:txBody>
      </p:sp>
      <p:sp>
        <p:nvSpPr>
          <p:cNvPr id="13" name="Rectangle 12"/>
          <p:cNvSpPr/>
          <p:nvPr/>
        </p:nvSpPr>
        <p:spPr>
          <a:xfrm>
            <a:off x="2798064" y="2834640"/>
            <a:ext cx="2194560" cy="1188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98064" y="2926080"/>
            <a:ext cx="2194560" cy="1005840"/>
          </a:xfrm>
          <a:prstGeom prst="rect">
            <a:avLst/>
          </a:prstGeom>
          <a:noFill/>
        </p:spPr>
        <p:txBody>
          <a:bodyPr wrap="square">
            <a:spAutoFit/>
          </a:bodyPr>
          <a:lstStyle/>
          <a:p>
            <a:pPr algn="ctr"/>
            <a:r>
              <a:rPr xmlns:ns6="http://schemas.openxmlformats.org/wordprocessingml/2006/main" sz="1400" b="1" ns6:eastAsia="Meiryo">
                <a:solidFill>
                  <a:srgbClr val="111111"/>
                </a:solidFill>
                <a:latin typeface="Meiryo"/>
              </a:rPr>
              <a:t>最小限の
アクセス</a:t>
            </a:r>
          </a:p>
        </p:txBody>
      </p:sp>
      <p:sp>
        <p:nvSpPr>
          <p:cNvPr id="15" name="Rectangle 14"/>
          <p:cNvSpPr/>
          <p:nvPr/>
        </p:nvSpPr>
        <p:spPr>
          <a:xfrm>
            <a:off x="5138928" y="1645920"/>
            <a:ext cx="2194560" cy="11887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38928" y="1691640"/>
            <a:ext cx="2194560" cy="1097280"/>
          </a:xfrm>
          <a:prstGeom prst="rect">
            <a:avLst/>
          </a:prstGeom>
          <a:noFill/>
        </p:spPr>
        <p:txBody>
          <a:bodyPr wrap="square">
            <a:spAutoFit/>
          </a:bodyPr>
          <a:lstStyle/>
          <a:p>
            <a:pPr algn="ctr"/>
            <a:r>
              <a:rPr xmlns:ns7="http://schemas.openxmlformats.org/wordprocessingml/2006/main" sz="4000" b="1" ns7:eastAsia="Meiryo">
                <a:solidFill>
                  <a:srgbClr val="FFFFFF"/>
                </a:solidFill>
                <a:latin typeface="Meiryo"/>
              </a:rPr>
              <a:t>3</a:t>
            </a:r>
          </a:p>
        </p:txBody>
      </p:sp>
      <p:sp>
        <p:nvSpPr>
          <p:cNvPr id="17" name="Rectangle 16"/>
          <p:cNvSpPr/>
          <p:nvPr/>
        </p:nvSpPr>
        <p:spPr>
          <a:xfrm>
            <a:off x="5138928" y="2834640"/>
            <a:ext cx="2194560" cy="1188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8" y="2926080"/>
            <a:ext cx="2194560" cy="1005840"/>
          </a:xfrm>
          <a:prstGeom prst="rect">
            <a:avLst/>
          </a:prstGeom>
          <a:noFill/>
        </p:spPr>
        <p:txBody>
          <a:bodyPr wrap="square">
            <a:spAutoFit/>
          </a:bodyPr>
          <a:lstStyle/>
          <a:p>
            <a:pPr algn="ctr"/>
            <a:r>
              <a:rPr xmlns:ns8="http://schemas.openxmlformats.org/wordprocessingml/2006/main" sz="1400" b="1" ns8:eastAsia="Meiryo">
                <a:solidFill>
                  <a:srgbClr val="111111"/>
                </a:solidFill>
                <a:latin typeface="Meiryo"/>
              </a:rPr>
              <a:t>第三者提供
の制限</a:t>
            </a:r>
          </a:p>
        </p:txBody>
      </p:sp>
      <p:sp>
        <p:nvSpPr>
          <p:cNvPr id="19" name="Rectangle 18"/>
          <p:cNvSpPr/>
          <p:nvPr/>
        </p:nvSpPr>
        <p:spPr>
          <a:xfrm>
            <a:off x="7479792" y="1645920"/>
            <a:ext cx="2194560" cy="11887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79792" y="1691640"/>
            <a:ext cx="2194560" cy="1097280"/>
          </a:xfrm>
          <a:prstGeom prst="rect">
            <a:avLst/>
          </a:prstGeom>
          <a:noFill/>
        </p:spPr>
        <p:txBody>
          <a:bodyPr wrap="square">
            <a:spAutoFit/>
          </a:bodyPr>
          <a:lstStyle/>
          <a:p>
            <a:pPr algn="ctr"/>
            <a:r>
              <a:rPr xmlns:ns9="http://schemas.openxmlformats.org/wordprocessingml/2006/main" sz="4000" b="1" ns9:eastAsia="Meiryo">
                <a:solidFill>
                  <a:srgbClr val="FFFFFF"/>
                </a:solidFill>
                <a:latin typeface="Meiryo"/>
              </a:rPr>
              <a:t>4</a:t>
            </a:r>
          </a:p>
        </p:txBody>
      </p:sp>
      <p:sp>
        <p:nvSpPr>
          <p:cNvPr id="21" name="Rectangle 20"/>
          <p:cNvSpPr/>
          <p:nvPr/>
        </p:nvSpPr>
        <p:spPr>
          <a:xfrm>
            <a:off x="7479792" y="2834640"/>
            <a:ext cx="2194560" cy="1188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79792" y="2926080"/>
            <a:ext cx="2194560" cy="1005840"/>
          </a:xfrm>
          <a:prstGeom prst="rect">
            <a:avLst/>
          </a:prstGeom>
          <a:noFill/>
        </p:spPr>
        <p:txBody>
          <a:bodyPr wrap="square">
            <a:spAutoFit/>
          </a:bodyPr>
          <a:lstStyle/>
          <a:p>
            <a:pPr algn="ctr"/>
            <a:r>
              <a:rPr xmlns:ns10="http://schemas.openxmlformats.org/wordprocessingml/2006/main" sz="1400" b="1" ns10:eastAsia="Meiryo">
                <a:solidFill>
                  <a:srgbClr val="111111"/>
                </a:solidFill>
                <a:latin typeface="Meiryo"/>
              </a:rPr>
              <a:t>安全管理
措置</a:t>
            </a:r>
          </a:p>
        </p:txBody>
      </p:sp>
      <p:sp>
        <p:nvSpPr>
          <p:cNvPr id="23" name="Rectangle 22"/>
          <p:cNvSpPr/>
          <p:nvPr/>
        </p:nvSpPr>
        <p:spPr>
          <a:xfrm>
            <a:off x="9820656" y="1645920"/>
            <a:ext cx="2194560" cy="11887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20656" y="1691640"/>
            <a:ext cx="2194560" cy="1097280"/>
          </a:xfrm>
          <a:prstGeom prst="rect">
            <a:avLst/>
          </a:prstGeom>
          <a:noFill/>
        </p:spPr>
        <p:txBody>
          <a:bodyPr wrap="square">
            <a:spAutoFit/>
          </a:bodyPr>
          <a:lstStyle/>
          <a:p>
            <a:pPr algn="ctr"/>
            <a:r>
              <a:rPr xmlns:ns11="http://schemas.openxmlformats.org/wordprocessingml/2006/main" sz="4000" b="1" ns11:eastAsia="Meiryo">
                <a:solidFill>
                  <a:srgbClr val="FFFFFF"/>
                </a:solidFill>
                <a:latin typeface="Meiryo"/>
              </a:rPr>
              <a:t>5</a:t>
            </a:r>
          </a:p>
        </p:txBody>
      </p:sp>
      <p:sp>
        <p:nvSpPr>
          <p:cNvPr id="25" name="Rectangle 24"/>
          <p:cNvSpPr/>
          <p:nvPr/>
        </p:nvSpPr>
        <p:spPr>
          <a:xfrm>
            <a:off x="9820656" y="2834640"/>
            <a:ext cx="2194560" cy="1188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20656" y="2926080"/>
            <a:ext cx="2194560" cy="1005840"/>
          </a:xfrm>
          <a:prstGeom prst="rect">
            <a:avLst/>
          </a:prstGeom>
          <a:noFill/>
        </p:spPr>
        <p:txBody>
          <a:bodyPr wrap="square">
            <a:spAutoFit/>
          </a:bodyPr>
          <a:lstStyle/>
          <a:p>
            <a:pPr algn="ctr"/>
            <a:r>
              <a:rPr xmlns:ns12="http://schemas.openxmlformats.org/wordprocessingml/2006/main" sz="1400" b="1" ns12:eastAsia="Meiryo">
                <a:solidFill>
                  <a:srgbClr val="111111"/>
                </a:solidFill>
                <a:latin typeface="Meiryo"/>
              </a:rPr>
              <a:t>漏洩時の
即時報告</a:t>
            </a:r>
          </a:p>
        </p:txBody>
      </p:sp>
      <p:sp>
        <p:nvSpPr>
          <p:cNvPr id="27" name="TextBox 26"/>
          <p:cNvSpPr txBox="1"/>
          <p:nvPr/>
        </p:nvSpPr>
        <p:spPr>
          <a:xfrm>
            <a:off x="457200" y="4206240"/>
            <a:ext cx="11247120" cy="457200"/>
          </a:xfrm>
          <a:prstGeom prst="rect">
            <a:avLst/>
          </a:prstGeom>
          <a:noFill/>
        </p:spPr>
        <p:txBody>
          <a:bodyPr wrap="square">
            <a:spAutoFit/>
          </a:bodyPr>
          <a:lstStyle/>
          <a:p>
            <a:pPr algn="l"/>
            <a:r>
              <a:rPr xmlns:ns13="http://schemas.openxmlformats.org/wordprocessingml/2006/main" sz="1300" b="0" ns13:eastAsia="Meiryo">
                <a:solidFill>
                  <a:srgbClr val="111111"/>
                </a:solidFill>
                <a:latin typeface="Meiryo"/>
              </a:rPr>
              <a:t>① 患者情報は診療目的のみに使用する</a:t>
            </a:r>
          </a:p>
        </p:txBody>
      </p:sp>
      <p:sp>
        <p:nvSpPr>
          <p:cNvPr id="28" name="TextBox 27"/>
          <p:cNvSpPr txBox="1"/>
          <p:nvPr/>
        </p:nvSpPr>
        <p:spPr>
          <a:xfrm>
            <a:off x="457200" y="4709159"/>
            <a:ext cx="11247120" cy="457200"/>
          </a:xfrm>
          <a:prstGeom prst="rect">
            <a:avLst/>
          </a:prstGeom>
          <a:noFill/>
        </p:spPr>
        <p:txBody>
          <a:bodyPr wrap="square">
            <a:spAutoFit/>
          </a:bodyPr>
          <a:lstStyle/>
          <a:p>
            <a:pPr algn="l"/>
            <a:r>
              <a:rPr xmlns:ns14="http://schemas.openxmlformats.org/wordprocessingml/2006/main" sz="1300" b="0" ns14:eastAsia="Meiryo">
                <a:solidFill>
                  <a:srgbClr val="111111"/>
                </a:solidFill>
                <a:latin typeface="Meiryo"/>
              </a:rPr>
              <a:t>② 担当外の患者カルテを閲覧しない</a:t>
            </a:r>
          </a:p>
        </p:txBody>
      </p:sp>
      <p:sp>
        <p:nvSpPr>
          <p:cNvPr id="29" name="TextBox 28"/>
          <p:cNvSpPr txBox="1"/>
          <p:nvPr/>
        </p:nvSpPr>
        <p:spPr>
          <a:xfrm>
            <a:off x="457200" y="5212079"/>
            <a:ext cx="11247120" cy="457200"/>
          </a:xfrm>
          <a:prstGeom prst="rect">
            <a:avLst/>
          </a:prstGeom>
          <a:noFill/>
        </p:spPr>
        <p:txBody>
          <a:bodyPr wrap="square">
            <a:spAutoFit/>
          </a:bodyPr>
          <a:lstStyle/>
          <a:p>
            <a:pPr algn="l"/>
            <a:r>
              <a:rPr xmlns:ns15="http://schemas.openxmlformats.org/wordprocessingml/2006/main" sz="1300" b="0" ns15:eastAsia="Meiryo">
                <a:solidFill>
                  <a:srgbClr val="111111"/>
                </a:solidFill>
                <a:latin typeface="Meiryo"/>
              </a:rPr>
              <a:t>③ 本人同意なく家族にも情報を渡さない</a:t>
            </a:r>
          </a:p>
        </p:txBody>
      </p:sp>
      <p:sp>
        <p:nvSpPr>
          <p:cNvPr id="30" name="TextBox 29"/>
          <p:cNvSpPr txBox="1"/>
          <p:nvPr/>
        </p:nvSpPr>
        <p:spPr>
          <a:xfrm>
            <a:off x="457200" y="5715000"/>
            <a:ext cx="11247120" cy="457200"/>
          </a:xfrm>
          <a:prstGeom prst="rect">
            <a:avLst/>
          </a:prstGeom>
          <a:noFill/>
        </p:spPr>
        <p:txBody>
          <a:bodyPr wrap="square">
            <a:spAutoFit/>
          </a:bodyPr>
          <a:lstStyle/>
          <a:p>
            <a:pPr algn="l"/>
            <a:r>
              <a:rPr xmlns:ns16="http://schemas.openxmlformats.org/wordprocessingml/2006/main" sz="1300" b="0" ns16:eastAsia="Meiryo">
                <a:solidFill>
                  <a:srgbClr val="111111"/>
                </a:solidFill>
                <a:latin typeface="Meiryo"/>
              </a:rPr>
              <a:t>④ 書類施錠・PC ロックを徹底する</a:t>
            </a:r>
          </a:p>
        </p:txBody>
      </p:sp>
      <p:sp>
        <p:nvSpPr>
          <p:cNvPr id="31" name="TextBox 30"/>
          <p:cNvSpPr txBox="1"/>
          <p:nvPr/>
        </p:nvSpPr>
        <p:spPr>
          <a:xfrm>
            <a:off x="457200" y="6217920"/>
            <a:ext cx="11247120" cy="457200"/>
          </a:xfrm>
          <a:prstGeom prst="rect">
            <a:avLst/>
          </a:prstGeom>
          <a:noFill/>
        </p:spPr>
        <p:txBody>
          <a:bodyPr wrap="square">
            <a:spAutoFit/>
          </a:bodyPr>
          <a:lstStyle/>
          <a:p>
            <a:pPr algn="l"/>
            <a:r>
              <a:rPr xmlns:ns17="http://schemas.openxmlformats.org/wordprocessingml/2006/main" sz="1300" b="0" ns17:eastAsia="Meiryo">
                <a:solidFill>
                  <a:srgbClr val="111111"/>
                </a:solidFill>
                <a:latin typeface="Meiryo"/>
              </a:rPr>
              <a:t>⑤ 問題発生時は即座に上長へ報告する</a:t>
            </a:r>
          </a:p>
        </p:txBody>
      </p:sp>
      <p:sp>
        <p:nvSpPr>
          <p:cNvPr id="32" name="TextBox 31"/>
          <p:cNvSpPr txBox="1"/>
          <p:nvPr/>
        </p:nvSpPr>
        <p:spPr>
          <a:xfrm>
            <a:off x="11640312" y="6492240"/>
            <a:ext cx="457200" cy="320040"/>
          </a:xfrm>
          <a:prstGeom prst="rect">
            <a:avLst/>
          </a:prstGeom>
          <a:noFill/>
        </p:spPr>
        <p:txBody>
          <a:bodyPr wrap="square">
            <a:spAutoFit/>
          </a:bodyPr>
          <a:lstStyle/>
          <a:p>
            <a:pPr algn="r"/>
            <a:r>
              <a:rPr xmlns:ns18="http://schemas.openxmlformats.org/wordprocessingml/2006/main" sz="1000" b="0" ns18:eastAsia="Meiryo">
                <a:solidFill>
                  <a:srgbClr val="BBBBBB"/>
                </a:solidFill>
                <a:latin typeface="Meiry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r>
              <a:rPr xmlns:ns0="http://schemas.openxmlformats.org/wordprocessingml/2006/main" sz="2600" b="1" ns0:eastAsia="Meiryo">
                <a:solidFill>
                  <a:srgbClr val="111111"/>
                </a:solidFill>
                <a:latin typeface="Meiryo"/>
              </a:rPr>
              <a:t>01　個人情報保護</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PERSONAL INFORMATION</a:t>
            </a:r>
          </a:p>
        </p:txBody>
      </p:sp>
      <p:sp>
        <p:nvSpPr>
          <p:cNvPr id="5" name="TextBox 4"/>
          <p:cNvSpPr txBox="1"/>
          <p:nvPr/>
        </p:nvSpPr>
        <p:spPr>
          <a:xfrm>
            <a:off x="457200" y="1005840"/>
            <a:ext cx="9144000" cy="411480"/>
          </a:xfrm>
          <a:prstGeom prst="rect">
            <a:avLst/>
          </a:prstGeom>
          <a:noFill/>
        </p:spPr>
        <p:txBody>
          <a:bodyPr wrap="square">
            <a:spAutoFit/>
          </a:bodyPr>
          <a:lstStyle/>
          <a:p>
            <a:pPr algn="l"/>
            <a:r>
              <a:rPr xmlns:ns2="http://schemas.openxmlformats.org/wordprocessingml/2006/main" sz="1600" b="1" ns2:eastAsia="Meiryo">
                <a:solidFill>
                  <a:srgbClr val="111111"/>
                </a:solidFill>
                <a:latin typeface="Meiryo"/>
              </a:rPr>
              <a:t>やってはいけないこと　NG 10</a:t>
            </a:r>
          </a:p>
        </p:txBody>
      </p:sp>
      <p:sp>
        <p:nvSpPr>
          <p:cNvPr id="6" name="Rectangle 5"/>
          <p:cNvSpPr/>
          <p:nvPr/>
        </p:nvSpPr>
        <p:spPr>
          <a:xfrm>
            <a:off x="457200" y="1417320"/>
            <a:ext cx="3657600"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5029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73352"/>
            <a:ext cx="502920" cy="548640"/>
          </a:xfrm>
          <a:prstGeom prst="rect">
            <a:avLst/>
          </a:prstGeom>
          <a:noFill/>
        </p:spPr>
        <p:txBody>
          <a:bodyPr wrap="square">
            <a:spAutoFit/>
          </a:bodyPr>
          <a:lstStyle/>
          <a:p>
            <a:pPr algn="ctr"/>
            <a:r>
              <a:rPr xmlns:ns3="http://schemas.openxmlformats.org/wordprocessingml/2006/main" sz="1400" b="1" ns3:eastAsia="Meiryo">
                <a:solidFill>
                  <a:srgbClr val="FFFFFF"/>
                </a:solidFill>
                <a:latin typeface="Meiryo"/>
              </a:rPr>
              <a:t>✕</a:t>
            </a:r>
          </a:p>
        </p:txBody>
      </p:sp>
      <p:sp>
        <p:nvSpPr>
          <p:cNvPr id="9" name="TextBox 8"/>
          <p:cNvSpPr txBox="1"/>
          <p:nvPr/>
        </p:nvSpPr>
        <p:spPr>
          <a:xfrm>
            <a:off x="1051560" y="1719072"/>
            <a:ext cx="5029200" cy="502920"/>
          </a:xfrm>
          <a:prstGeom prst="rect">
            <a:avLst/>
          </a:prstGeom>
          <a:noFill/>
        </p:spPr>
        <p:txBody>
          <a:bodyPr wrap="square">
            <a:spAutoFit/>
          </a:bodyPr>
          <a:lstStyle/>
          <a:p>
            <a:pPr algn="l"/>
            <a:r>
              <a:rPr xmlns:ns4="http://schemas.openxmlformats.org/wordprocessingml/2006/main" sz="1250" b="0" ns4:eastAsia="Meiryo">
                <a:solidFill>
                  <a:srgbClr val="111111"/>
                </a:solidFill>
                <a:latin typeface="Meiryo"/>
              </a:rPr>
              <a:t>院外でのカルテ・書類の閲覧・持ち出し</a:t>
            </a:r>
          </a:p>
        </p:txBody>
      </p:sp>
      <p:sp>
        <p:nvSpPr>
          <p:cNvPr id="10" name="Rectangle 9"/>
          <p:cNvSpPr/>
          <p:nvPr/>
        </p:nvSpPr>
        <p:spPr>
          <a:xfrm>
            <a:off x="457200" y="2514600"/>
            <a:ext cx="5029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542032"/>
            <a:ext cx="502920" cy="548640"/>
          </a:xfrm>
          <a:prstGeom prst="rect">
            <a:avLst/>
          </a:prstGeom>
          <a:noFill/>
        </p:spPr>
        <p:txBody>
          <a:bodyPr wrap="square">
            <a:spAutoFit/>
          </a:bodyPr>
          <a:lstStyle/>
          <a:p>
            <a:pPr algn="ctr"/>
            <a:r>
              <a:rPr xmlns:ns5="http://schemas.openxmlformats.org/wordprocessingml/2006/main" sz="1400" b="1" ns5:eastAsia="Meiryo">
                <a:solidFill>
                  <a:srgbClr val="FFFFFF"/>
                </a:solidFill>
                <a:latin typeface="Meiryo"/>
              </a:rPr>
              <a:t>✕</a:t>
            </a:r>
          </a:p>
        </p:txBody>
      </p:sp>
      <p:sp>
        <p:nvSpPr>
          <p:cNvPr id="12" name="TextBox 11"/>
          <p:cNvSpPr txBox="1"/>
          <p:nvPr/>
        </p:nvSpPr>
        <p:spPr>
          <a:xfrm>
            <a:off x="1051560" y="2587752"/>
            <a:ext cx="5029200" cy="502920"/>
          </a:xfrm>
          <a:prstGeom prst="rect">
            <a:avLst/>
          </a:prstGeom>
          <a:noFill/>
        </p:spPr>
        <p:txBody>
          <a:bodyPr wrap="square">
            <a:spAutoFit/>
          </a:bodyPr>
          <a:lstStyle/>
          <a:p>
            <a:pPr algn="l"/>
            <a:r>
              <a:rPr xmlns:ns6="http://schemas.openxmlformats.org/wordprocessingml/2006/main" sz="1250" b="0" ns6:eastAsia="Meiryo">
                <a:solidFill>
                  <a:srgbClr val="111111"/>
                </a:solidFill>
                <a:latin typeface="Meiryo"/>
              </a:rPr>
              <a:t>私用スマホで患者情報を撮影・保存</a:t>
            </a:r>
          </a:p>
        </p:txBody>
      </p:sp>
      <p:sp>
        <p:nvSpPr>
          <p:cNvPr id="13" name="Rectangle 12"/>
          <p:cNvSpPr/>
          <p:nvPr/>
        </p:nvSpPr>
        <p:spPr>
          <a:xfrm>
            <a:off x="457200" y="3383280"/>
            <a:ext cx="5029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410712"/>
            <a:ext cx="502920" cy="548640"/>
          </a:xfrm>
          <a:prstGeom prst="rect">
            <a:avLst/>
          </a:prstGeom>
          <a:noFill/>
        </p:spPr>
        <p:txBody>
          <a:bodyPr wrap="square">
            <a:spAutoFit/>
          </a:bodyPr>
          <a:lstStyle/>
          <a:p>
            <a:pPr algn="ctr"/>
            <a:r>
              <a:rPr xmlns:ns7="http://schemas.openxmlformats.org/wordprocessingml/2006/main" sz="1400" b="1" ns7:eastAsia="Meiryo">
                <a:solidFill>
                  <a:srgbClr val="FFFFFF"/>
                </a:solidFill>
                <a:latin typeface="Meiryo"/>
              </a:rPr>
              <a:t>✕</a:t>
            </a:r>
          </a:p>
        </p:txBody>
      </p:sp>
      <p:sp>
        <p:nvSpPr>
          <p:cNvPr id="15" name="TextBox 14"/>
          <p:cNvSpPr txBox="1"/>
          <p:nvPr/>
        </p:nvSpPr>
        <p:spPr>
          <a:xfrm>
            <a:off x="1051560" y="3456432"/>
            <a:ext cx="5029200" cy="502920"/>
          </a:xfrm>
          <a:prstGeom prst="rect">
            <a:avLst/>
          </a:prstGeom>
          <a:noFill/>
        </p:spPr>
        <p:txBody>
          <a:bodyPr wrap="square">
            <a:spAutoFit/>
          </a:bodyPr>
          <a:lstStyle/>
          <a:p>
            <a:pPr algn="l"/>
            <a:r>
              <a:rPr xmlns:ns8="http://schemas.openxmlformats.org/wordprocessingml/2006/main" sz="1250" b="0" ns8:eastAsia="Meiryo">
                <a:solidFill>
                  <a:srgbClr val="111111"/>
                </a:solidFill>
                <a:latin typeface="Meiryo"/>
              </a:rPr>
              <a:t>SNS への患者関連投稿（特定不能でも不可）</a:t>
            </a:r>
          </a:p>
        </p:txBody>
      </p:sp>
      <p:sp>
        <p:nvSpPr>
          <p:cNvPr id="16" name="Rectangle 15"/>
          <p:cNvSpPr/>
          <p:nvPr/>
        </p:nvSpPr>
        <p:spPr>
          <a:xfrm>
            <a:off x="457200" y="4251959"/>
            <a:ext cx="5029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279392"/>
            <a:ext cx="502920" cy="548640"/>
          </a:xfrm>
          <a:prstGeom prst="rect">
            <a:avLst/>
          </a:prstGeom>
          <a:noFill/>
        </p:spPr>
        <p:txBody>
          <a:bodyPr wrap="square">
            <a:spAutoFit/>
          </a:bodyPr>
          <a:lstStyle/>
          <a:p>
            <a:pPr algn="ctr"/>
            <a:r>
              <a:rPr xmlns:ns9="http://schemas.openxmlformats.org/wordprocessingml/2006/main" sz="1400" b="1" ns9:eastAsia="Meiryo">
                <a:solidFill>
                  <a:srgbClr val="FFFFFF"/>
                </a:solidFill>
                <a:latin typeface="Meiryo"/>
              </a:rPr>
              <a:t>✕</a:t>
            </a:r>
          </a:p>
        </p:txBody>
      </p:sp>
      <p:sp>
        <p:nvSpPr>
          <p:cNvPr id="18" name="TextBox 17"/>
          <p:cNvSpPr txBox="1"/>
          <p:nvPr/>
        </p:nvSpPr>
        <p:spPr>
          <a:xfrm>
            <a:off x="1051560" y="4325112"/>
            <a:ext cx="5029200" cy="502920"/>
          </a:xfrm>
          <a:prstGeom prst="rect">
            <a:avLst/>
          </a:prstGeom>
          <a:noFill/>
        </p:spPr>
        <p:txBody>
          <a:bodyPr wrap="square">
            <a:spAutoFit/>
          </a:bodyPr>
          <a:lstStyle/>
          <a:p>
            <a:pPr algn="l"/>
            <a:r>
              <a:rPr xmlns:ns10="http://schemas.openxmlformats.org/wordprocessingml/2006/main" sz="1250" b="0" ns10:eastAsia="Meiryo">
                <a:solidFill>
                  <a:srgbClr val="111111"/>
                </a:solidFill>
                <a:latin typeface="Meiryo"/>
              </a:rPr>
              <a:t>廊下・エレベーターでの患者情報の会話</a:t>
            </a:r>
          </a:p>
        </p:txBody>
      </p:sp>
      <p:sp>
        <p:nvSpPr>
          <p:cNvPr id="19" name="Rectangle 18"/>
          <p:cNvSpPr/>
          <p:nvPr/>
        </p:nvSpPr>
        <p:spPr>
          <a:xfrm>
            <a:off x="457200" y="5120640"/>
            <a:ext cx="5029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148072"/>
            <a:ext cx="502920" cy="548640"/>
          </a:xfrm>
          <a:prstGeom prst="rect">
            <a:avLst/>
          </a:prstGeom>
          <a:noFill/>
        </p:spPr>
        <p:txBody>
          <a:bodyPr wrap="square">
            <a:spAutoFit/>
          </a:bodyPr>
          <a:lstStyle/>
          <a:p>
            <a:pPr algn="ctr"/>
            <a:r>
              <a:rPr xmlns:ns11="http://schemas.openxmlformats.org/wordprocessingml/2006/main" sz="1400" b="1" ns11:eastAsia="Meiryo">
                <a:solidFill>
                  <a:srgbClr val="FFFFFF"/>
                </a:solidFill>
                <a:latin typeface="Meiryo"/>
              </a:rPr>
              <a:t>✕</a:t>
            </a:r>
          </a:p>
        </p:txBody>
      </p:sp>
      <p:sp>
        <p:nvSpPr>
          <p:cNvPr id="21" name="TextBox 20"/>
          <p:cNvSpPr txBox="1"/>
          <p:nvPr/>
        </p:nvSpPr>
        <p:spPr>
          <a:xfrm>
            <a:off x="1051560" y="5193792"/>
            <a:ext cx="5029200" cy="502920"/>
          </a:xfrm>
          <a:prstGeom prst="rect">
            <a:avLst/>
          </a:prstGeom>
          <a:noFill/>
        </p:spPr>
        <p:txBody>
          <a:bodyPr wrap="square">
            <a:spAutoFit/>
          </a:bodyPr>
          <a:lstStyle/>
          <a:p>
            <a:pPr algn="l"/>
            <a:r>
              <a:rPr xmlns:ns12="http://schemas.openxmlformats.org/wordprocessingml/2006/main" sz="1250" b="0" ns12:eastAsia="Meiryo">
                <a:solidFill>
                  <a:srgbClr val="111111"/>
                </a:solidFill>
                <a:latin typeface="Meiryo"/>
              </a:rPr>
              <a:t>無関係な患者のカルテを閲覧する</a:t>
            </a:r>
          </a:p>
        </p:txBody>
      </p:sp>
      <p:sp>
        <p:nvSpPr>
          <p:cNvPr id="22" name="Rectangle 21"/>
          <p:cNvSpPr/>
          <p:nvPr/>
        </p:nvSpPr>
        <p:spPr>
          <a:xfrm>
            <a:off x="6400800" y="1645920"/>
            <a:ext cx="5029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1673352"/>
            <a:ext cx="502920" cy="548640"/>
          </a:xfrm>
          <a:prstGeom prst="rect">
            <a:avLst/>
          </a:prstGeom>
          <a:noFill/>
        </p:spPr>
        <p:txBody>
          <a:bodyPr wrap="square">
            <a:spAutoFit/>
          </a:bodyPr>
          <a:lstStyle/>
          <a:p>
            <a:pPr algn="ctr"/>
            <a:r>
              <a:rPr xmlns:ns13="http://schemas.openxmlformats.org/wordprocessingml/2006/main" sz="1400" b="1" ns13:eastAsia="Meiryo">
                <a:solidFill>
                  <a:srgbClr val="FFFFFF"/>
                </a:solidFill>
                <a:latin typeface="Meiryo"/>
              </a:rPr>
              <a:t>✕</a:t>
            </a:r>
          </a:p>
        </p:txBody>
      </p:sp>
      <p:sp>
        <p:nvSpPr>
          <p:cNvPr id="24" name="TextBox 23"/>
          <p:cNvSpPr txBox="1"/>
          <p:nvPr/>
        </p:nvSpPr>
        <p:spPr>
          <a:xfrm>
            <a:off x="6995160" y="1719072"/>
            <a:ext cx="4754880" cy="502920"/>
          </a:xfrm>
          <a:prstGeom prst="rect">
            <a:avLst/>
          </a:prstGeom>
          <a:noFill/>
        </p:spPr>
        <p:txBody>
          <a:bodyPr wrap="square">
            <a:spAutoFit/>
          </a:bodyPr>
          <a:lstStyle/>
          <a:p>
            <a:pPr algn="l"/>
            <a:r>
              <a:rPr xmlns:ns14="http://schemas.openxmlformats.org/wordprocessingml/2006/main" sz="1250" b="0" ns14:eastAsia="Meiryo">
                <a:solidFill>
                  <a:srgbClr val="111111"/>
                </a:solidFill>
                <a:latin typeface="Meiryo"/>
              </a:rPr>
              <a:t>書類の放置・施錠忘れ</a:t>
            </a:r>
          </a:p>
        </p:txBody>
      </p:sp>
      <p:sp>
        <p:nvSpPr>
          <p:cNvPr id="25" name="Rectangle 24"/>
          <p:cNvSpPr/>
          <p:nvPr/>
        </p:nvSpPr>
        <p:spPr>
          <a:xfrm>
            <a:off x="6400800" y="2514600"/>
            <a:ext cx="5029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2542032"/>
            <a:ext cx="502920" cy="548640"/>
          </a:xfrm>
          <a:prstGeom prst="rect">
            <a:avLst/>
          </a:prstGeom>
          <a:noFill/>
        </p:spPr>
        <p:txBody>
          <a:bodyPr wrap="square">
            <a:spAutoFit/>
          </a:bodyPr>
          <a:lstStyle/>
          <a:p>
            <a:pPr algn="ctr"/>
            <a:r>
              <a:rPr xmlns:ns15="http://schemas.openxmlformats.org/wordprocessingml/2006/main" sz="1400" b="1" ns15:eastAsia="Meiryo">
                <a:solidFill>
                  <a:srgbClr val="FFFFFF"/>
                </a:solidFill>
                <a:latin typeface="Meiryo"/>
              </a:rPr>
              <a:t>✕</a:t>
            </a:r>
          </a:p>
        </p:txBody>
      </p:sp>
      <p:sp>
        <p:nvSpPr>
          <p:cNvPr id="27" name="TextBox 26"/>
          <p:cNvSpPr txBox="1"/>
          <p:nvPr/>
        </p:nvSpPr>
        <p:spPr>
          <a:xfrm>
            <a:off x="6995160" y="2587752"/>
            <a:ext cx="4754880" cy="502920"/>
          </a:xfrm>
          <a:prstGeom prst="rect">
            <a:avLst/>
          </a:prstGeom>
          <a:noFill/>
        </p:spPr>
        <p:txBody>
          <a:bodyPr wrap="square">
            <a:spAutoFit/>
          </a:bodyPr>
          <a:lstStyle/>
          <a:p>
            <a:pPr algn="l"/>
            <a:r>
              <a:rPr xmlns:ns16="http://schemas.openxmlformats.org/wordprocessingml/2006/main" sz="1250" b="0" ns16:eastAsia="Meiryo">
                <a:solidFill>
                  <a:srgbClr val="111111"/>
                </a:solidFill>
                <a:latin typeface="Meiryo"/>
              </a:rPr>
              <a:t>患者情報を含むメールを誤送信</a:t>
            </a:r>
          </a:p>
        </p:txBody>
      </p:sp>
      <p:sp>
        <p:nvSpPr>
          <p:cNvPr id="28" name="Rectangle 27"/>
          <p:cNvSpPr/>
          <p:nvPr/>
        </p:nvSpPr>
        <p:spPr>
          <a:xfrm>
            <a:off x="6400800" y="3383280"/>
            <a:ext cx="5029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410712"/>
            <a:ext cx="502920" cy="548640"/>
          </a:xfrm>
          <a:prstGeom prst="rect">
            <a:avLst/>
          </a:prstGeom>
          <a:noFill/>
        </p:spPr>
        <p:txBody>
          <a:bodyPr wrap="square">
            <a:spAutoFit/>
          </a:bodyPr>
          <a:lstStyle/>
          <a:p>
            <a:pPr algn="ctr"/>
            <a:r>
              <a:rPr xmlns:ns17="http://schemas.openxmlformats.org/wordprocessingml/2006/main" sz="1400" b="1" ns17:eastAsia="Meiryo">
                <a:solidFill>
                  <a:srgbClr val="FFFFFF"/>
                </a:solidFill>
                <a:latin typeface="Meiryo"/>
              </a:rPr>
              <a:t>✕</a:t>
            </a:r>
          </a:p>
        </p:txBody>
      </p:sp>
      <p:sp>
        <p:nvSpPr>
          <p:cNvPr id="30" name="TextBox 29"/>
          <p:cNvSpPr txBox="1"/>
          <p:nvPr/>
        </p:nvSpPr>
        <p:spPr>
          <a:xfrm>
            <a:off x="6995160" y="3456432"/>
            <a:ext cx="4754880" cy="502920"/>
          </a:xfrm>
          <a:prstGeom prst="rect">
            <a:avLst/>
          </a:prstGeom>
          <a:noFill/>
        </p:spPr>
        <p:txBody>
          <a:bodyPr wrap="square">
            <a:spAutoFit/>
          </a:bodyPr>
          <a:lstStyle/>
          <a:p>
            <a:pPr algn="l"/>
            <a:r>
              <a:rPr xmlns:ns18="http://schemas.openxmlformats.org/wordprocessingml/2006/main" sz="1250" b="0" ns18:eastAsia="Meiryo">
                <a:solidFill>
                  <a:srgbClr val="111111"/>
                </a:solidFill>
                <a:latin typeface="Meiryo"/>
              </a:rPr>
              <a:t>家族・知人への患者情報の口頭伝達</a:t>
            </a:r>
          </a:p>
        </p:txBody>
      </p:sp>
      <p:sp>
        <p:nvSpPr>
          <p:cNvPr id="31" name="Rectangle 30"/>
          <p:cNvSpPr/>
          <p:nvPr/>
        </p:nvSpPr>
        <p:spPr>
          <a:xfrm>
            <a:off x="6400800" y="4251959"/>
            <a:ext cx="5029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4279392"/>
            <a:ext cx="502920" cy="548640"/>
          </a:xfrm>
          <a:prstGeom prst="rect">
            <a:avLst/>
          </a:prstGeom>
          <a:noFill/>
        </p:spPr>
        <p:txBody>
          <a:bodyPr wrap="square">
            <a:spAutoFit/>
          </a:bodyPr>
          <a:lstStyle/>
          <a:p>
            <a:pPr algn="ctr"/>
            <a:r>
              <a:rPr xmlns:ns19="http://schemas.openxmlformats.org/wordprocessingml/2006/main" sz="1400" b="1" ns19:eastAsia="Meiryo">
                <a:solidFill>
                  <a:srgbClr val="FFFFFF"/>
                </a:solidFill>
                <a:latin typeface="Meiryo"/>
              </a:rPr>
              <a:t>✕</a:t>
            </a:r>
          </a:p>
        </p:txBody>
      </p:sp>
      <p:sp>
        <p:nvSpPr>
          <p:cNvPr id="33" name="TextBox 32"/>
          <p:cNvSpPr txBox="1"/>
          <p:nvPr/>
        </p:nvSpPr>
        <p:spPr>
          <a:xfrm>
            <a:off x="6995160" y="4325112"/>
            <a:ext cx="4754880" cy="502920"/>
          </a:xfrm>
          <a:prstGeom prst="rect">
            <a:avLst/>
          </a:prstGeom>
          <a:noFill/>
        </p:spPr>
        <p:txBody>
          <a:bodyPr wrap="square">
            <a:spAutoFit/>
          </a:bodyPr>
          <a:lstStyle/>
          <a:p>
            <a:pPr algn="l"/>
            <a:r>
              <a:rPr xmlns:ns20="http://schemas.openxmlformats.org/wordprocessingml/2006/main" sz="1250" b="0" ns20:eastAsia="Meiryo">
                <a:solidFill>
                  <a:srgbClr val="111111"/>
                </a:solidFill>
                <a:latin typeface="Meiryo"/>
              </a:rPr>
              <a:t>退職後の情報の持ち出し・利用</a:t>
            </a:r>
          </a:p>
        </p:txBody>
      </p:sp>
      <p:sp>
        <p:nvSpPr>
          <p:cNvPr id="34" name="Rectangle 33"/>
          <p:cNvSpPr/>
          <p:nvPr/>
        </p:nvSpPr>
        <p:spPr>
          <a:xfrm>
            <a:off x="6400800" y="5120640"/>
            <a:ext cx="5029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5148072"/>
            <a:ext cx="502920" cy="548640"/>
          </a:xfrm>
          <a:prstGeom prst="rect">
            <a:avLst/>
          </a:prstGeom>
          <a:noFill/>
        </p:spPr>
        <p:txBody>
          <a:bodyPr wrap="square">
            <a:spAutoFit/>
          </a:bodyPr>
          <a:lstStyle/>
          <a:p>
            <a:pPr algn="ctr"/>
            <a:r>
              <a:rPr xmlns:ns21="http://schemas.openxmlformats.org/wordprocessingml/2006/main" sz="1400" b="1" ns21:eastAsia="Meiryo">
                <a:solidFill>
                  <a:srgbClr val="FFFFFF"/>
                </a:solidFill>
                <a:latin typeface="Meiryo"/>
              </a:rPr>
              <a:t>✕</a:t>
            </a:r>
          </a:p>
        </p:txBody>
      </p:sp>
      <p:sp>
        <p:nvSpPr>
          <p:cNvPr id="36" name="TextBox 35"/>
          <p:cNvSpPr txBox="1"/>
          <p:nvPr/>
        </p:nvSpPr>
        <p:spPr>
          <a:xfrm>
            <a:off x="6995160" y="5193792"/>
            <a:ext cx="4754880" cy="502920"/>
          </a:xfrm>
          <a:prstGeom prst="rect">
            <a:avLst/>
          </a:prstGeom>
          <a:noFill/>
        </p:spPr>
        <p:txBody>
          <a:bodyPr wrap="square">
            <a:spAutoFit/>
          </a:bodyPr>
          <a:lstStyle/>
          <a:p>
            <a:pPr algn="l"/>
            <a:r>
              <a:rPr xmlns:ns22="http://schemas.openxmlformats.org/wordprocessingml/2006/main" sz="1250" b="0" ns22:eastAsia="Meiryo">
                <a:solidFill>
                  <a:srgbClr val="111111"/>
                </a:solidFill>
                <a:latin typeface="Meiryo"/>
              </a:rPr>
              <a:t>業務用 PC の共有パスワード使用</a:t>
            </a:r>
          </a:p>
        </p:txBody>
      </p:sp>
      <p:sp>
        <p:nvSpPr>
          <p:cNvPr id="37" name="Rectangle 36"/>
          <p:cNvSpPr/>
          <p:nvPr/>
        </p:nvSpPr>
        <p:spPr>
          <a:xfrm>
            <a:off x="457200" y="6035040"/>
            <a:ext cx="1124712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6108192"/>
            <a:ext cx="10972800" cy="502920"/>
          </a:xfrm>
          <a:prstGeom prst="rect">
            <a:avLst/>
          </a:prstGeom>
          <a:noFill/>
        </p:spPr>
        <p:txBody>
          <a:bodyPr wrap="square">
            <a:spAutoFit/>
          </a:bodyPr>
          <a:lstStyle/>
          <a:p>
            <a:pPr algn="l"/>
            <a:r>
              <a:rPr xmlns:ns23="http://schemas.openxmlformats.org/wordprocessingml/2006/main" sz="1200" b="1" ns23:eastAsia="Meiryo">
                <a:solidFill>
                  <a:srgbClr val="FFFFFF"/>
                </a:solidFill>
                <a:latin typeface="Meiryo"/>
              </a:rPr>
              <a:t>違反した場合 → 刑事罰（1年以下懲役・50万円以下罰金）・行政指導・民事賠償・社会的信用失墜</a:t>
            </a:r>
          </a:p>
        </p:txBody>
      </p:sp>
      <p:sp>
        <p:nvSpPr>
          <p:cNvPr id="39" name="TextBox 38"/>
          <p:cNvSpPr txBox="1"/>
          <p:nvPr/>
        </p:nvSpPr>
        <p:spPr>
          <a:xfrm>
            <a:off x="11640312" y="6492240"/>
            <a:ext cx="457200" cy="320040"/>
          </a:xfrm>
          <a:prstGeom prst="rect">
            <a:avLst/>
          </a:prstGeom>
          <a:noFill/>
        </p:spPr>
        <p:txBody>
          <a:bodyPr wrap="square">
            <a:spAutoFit/>
          </a:bodyPr>
          <a:lstStyle/>
          <a:p>
            <a:pPr algn="r"/>
            <a:r>
              <a:rPr xmlns:ns24="http://schemas.openxmlformats.org/wordprocessingml/2006/main" sz="1000" b="0" ns24:eastAsia="Meiryo">
                <a:solidFill>
                  <a:srgbClr val="BBBBBB"/>
                </a:solidFill>
                <a:latin typeface="Meiry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9144000" cy="548640"/>
          </a:xfrm>
          <a:prstGeom prst="rect">
            <a:avLst/>
          </a:prstGeom>
          <a:noFill/>
        </p:spPr>
        <p:txBody>
          <a:bodyPr wrap="square">
            <a:spAutoFit/>
          </a:bodyPr>
          <a:lstStyle/>
          <a:p>
            <a:pPr algn="l"/>
            <a:r>
              <a:rPr xmlns:ns0="http://schemas.openxmlformats.org/wordprocessingml/2006/main" sz="2600" b="1" ns0:eastAsia="Meiryo">
                <a:solidFill>
                  <a:srgbClr val="111111"/>
                </a:solidFill>
                <a:latin typeface="Meiryo"/>
              </a:rPr>
              <a:t>02　ハラスメント予防</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HARASSMENT PREVENTION</a:t>
            </a:r>
          </a:p>
        </p:txBody>
      </p:sp>
      <p:sp>
        <p:nvSpPr>
          <p:cNvPr id="5" name="TextBox 4"/>
          <p:cNvSpPr txBox="1"/>
          <p:nvPr/>
        </p:nvSpPr>
        <p:spPr>
          <a:xfrm>
            <a:off x="457200" y="1005840"/>
            <a:ext cx="9144000" cy="411480"/>
          </a:xfrm>
          <a:prstGeom prst="rect">
            <a:avLst/>
          </a:prstGeom>
          <a:noFill/>
        </p:spPr>
        <p:txBody>
          <a:bodyPr wrap="square">
            <a:spAutoFit/>
          </a:bodyPr>
          <a:lstStyle/>
          <a:p>
            <a:pPr algn="l"/>
            <a:r>
              <a:rPr xmlns:ns2="http://schemas.openxmlformats.org/wordprocessingml/2006/main" sz="1600" b="1" ns2:eastAsia="Meiryo">
                <a:solidFill>
                  <a:srgbClr val="111111"/>
                </a:solidFill>
                <a:latin typeface="Meiryo"/>
              </a:rPr>
              <a:t>ハラスメントの主な種類</a:t>
            </a:r>
          </a:p>
        </p:txBody>
      </p:sp>
      <p:sp>
        <p:nvSpPr>
          <p:cNvPr id="6" name="Rectangle 5"/>
          <p:cNvSpPr/>
          <p:nvPr/>
        </p:nvSpPr>
        <p:spPr>
          <a:xfrm>
            <a:off x="457200" y="1417320"/>
            <a:ext cx="3657600"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45920"/>
            <a:ext cx="2011680" cy="1005840"/>
          </a:xfrm>
          <a:prstGeom prst="rect">
            <a:avLst/>
          </a:prstGeom>
          <a:solidFill>
            <a:srgbClr val="EEEEEE"/>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74520"/>
            <a:ext cx="2011680" cy="548640"/>
          </a:xfrm>
          <a:prstGeom prst="rect">
            <a:avLst/>
          </a:prstGeom>
          <a:noFill/>
        </p:spPr>
        <p:txBody>
          <a:bodyPr wrap="square">
            <a:spAutoFit/>
          </a:bodyPr>
          <a:lstStyle/>
          <a:p>
            <a:pPr algn="ctr"/>
            <a:r>
              <a:rPr xmlns:ns3="http://schemas.openxmlformats.org/wordprocessingml/2006/main" sz="1600" b="1" ns3:eastAsia="Meiryo">
                <a:solidFill>
                  <a:srgbClr val="111111"/>
                </a:solidFill>
                <a:latin typeface="Meiryo"/>
              </a:rPr>
              <a:t>パワハラ</a:t>
            </a:r>
          </a:p>
        </p:txBody>
      </p:sp>
      <p:sp>
        <p:nvSpPr>
          <p:cNvPr id="9" name="TextBox 8"/>
          <p:cNvSpPr txBox="1"/>
          <p:nvPr/>
        </p:nvSpPr>
        <p:spPr>
          <a:xfrm>
            <a:off x="2651760" y="1691640"/>
            <a:ext cx="4389120" cy="457200"/>
          </a:xfrm>
          <a:prstGeom prst="rect">
            <a:avLst/>
          </a:prstGeom>
          <a:noFill/>
        </p:spPr>
        <p:txBody>
          <a:bodyPr wrap="square">
            <a:spAutoFit/>
          </a:bodyPr>
          <a:lstStyle/>
          <a:p>
            <a:pPr algn="l"/>
            <a:r>
              <a:rPr xmlns:ns4="http://schemas.openxmlformats.org/wordprocessingml/2006/main" sz="1150" b="1" ns4:eastAsia="Meiryo">
                <a:solidFill>
                  <a:srgbClr val="111111"/>
                </a:solidFill>
                <a:latin typeface="Meiryo"/>
              </a:rPr>
              <a:t>優越的立場を利用した言動で就業環境を害する</a:t>
            </a:r>
          </a:p>
        </p:txBody>
      </p:sp>
      <p:sp>
        <p:nvSpPr>
          <p:cNvPr id="10" name="TextBox 9"/>
          <p:cNvSpPr txBox="1"/>
          <p:nvPr/>
        </p:nvSpPr>
        <p:spPr>
          <a:xfrm>
            <a:off x="2651760" y="2176272"/>
            <a:ext cx="8961120" cy="411480"/>
          </a:xfrm>
          <a:prstGeom prst="rect">
            <a:avLst/>
          </a:prstGeom>
          <a:noFill/>
        </p:spPr>
        <p:txBody>
          <a:bodyPr wrap="square">
            <a:spAutoFit/>
          </a:bodyPr>
          <a:lstStyle/>
          <a:p>
            <a:pPr algn="l"/>
            <a:r>
              <a:rPr xmlns:ns5="http://schemas.openxmlformats.org/wordprocessingml/2006/main" sz="1100" b="0" ns5:eastAsia="Meiryo">
                <a:solidFill>
                  <a:srgbClr val="555555"/>
                </a:solidFill>
                <a:latin typeface="Meiryo"/>
              </a:rPr>
              <a:t>例：「なんでこんなこともできないんだ」と怒鳴る</a:t>
            </a:r>
          </a:p>
        </p:txBody>
      </p:sp>
      <p:sp>
        <p:nvSpPr>
          <p:cNvPr id="11" name="Rectangle 10"/>
          <p:cNvSpPr/>
          <p:nvPr/>
        </p:nvSpPr>
        <p:spPr>
          <a:xfrm>
            <a:off x="457200" y="2834640"/>
            <a:ext cx="2011680" cy="1005840"/>
          </a:xfrm>
          <a:prstGeom prst="rect">
            <a:avLst/>
          </a:prstGeom>
          <a:solidFill>
            <a:srgbClr val="EEEEEE"/>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063240"/>
            <a:ext cx="2011680" cy="548640"/>
          </a:xfrm>
          <a:prstGeom prst="rect">
            <a:avLst/>
          </a:prstGeom>
          <a:noFill/>
        </p:spPr>
        <p:txBody>
          <a:bodyPr wrap="square">
            <a:spAutoFit/>
          </a:bodyPr>
          <a:lstStyle/>
          <a:p>
            <a:pPr algn="ctr"/>
            <a:r>
              <a:rPr xmlns:ns6="http://schemas.openxmlformats.org/wordprocessingml/2006/main" sz="1600" b="1" ns6:eastAsia="Meiryo">
                <a:solidFill>
                  <a:srgbClr val="111111"/>
                </a:solidFill>
                <a:latin typeface="Meiryo"/>
              </a:rPr>
              <a:t>セクハラ</a:t>
            </a:r>
          </a:p>
        </p:txBody>
      </p:sp>
      <p:sp>
        <p:nvSpPr>
          <p:cNvPr id="13" name="TextBox 12"/>
          <p:cNvSpPr txBox="1"/>
          <p:nvPr/>
        </p:nvSpPr>
        <p:spPr>
          <a:xfrm>
            <a:off x="2651760" y="2880360"/>
            <a:ext cx="4389120" cy="457200"/>
          </a:xfrm>
          <a:prstGeom prst="rect">
            <a:avLst/>
          </a:prstGeom>
          <a:noFill/>
        </p:spPr>
        <p:txBody>
          <a:bodyPr wrap="square">
            <a:spAutoFit/>
          </a:bodyPr>
          <a:lstStyle/>
          <a:p>
            <a:pPr algn="l"/>
            <a:r>
              <a:rPr xmlns:ns7="http://schemas.openxmlformats.org/wordprocessingml/2006/main" sz="1150" b="1" ns7:eastAsia="Meiryo">
                <a:solidFill>
                  <a:srgbClr val="111111"/>
                </a:solidFill>
                <a:latin typeface="Meiryo"/>
              </a:rPr>
              <a:t>性的言動により就業環境を害する</a:t>
            </a:r>
          </a:p>
        </p:txBody>
      </p:sp>
      <p:sp>
        <p:nvSpPr>
          <p:cNvPr id="14" name="TextBox 13"/>
          <p:cNvSpPr txBox="1"/>
          <p:nvPr/>
        </p:nvSpPr>
        <p:spPr>
          <a:xfrm>
            <a:off x="2651760" y="3364992"/>
            <a:ext cx="8961120" cy="411480"/>
          </a:xfrm>
          <a:prstGeom prst="rect">
            <a:avLst/>
          </a:prstGeom>
          <a:noFill/>
        </p:spPr>
        <p:txBody>
          <a:bodyPr wrap="square">
            <a:spAutoFit/>
          </a:bodyPr>
          <a:lstStyle/>
          <a:p>
            <a:pPr algn="l"/>
            <a:r>
              <a:rPr xmlns:ns8="http://schemas.openxmlformats.org/wordprocessingml/2006/main" sz="1100" b="0" ns8:eastAsia="Meiryo">
                <a:solidFill>
                  <a:srgbClr val="555555"/>
                </a:solidFill>
                <a:latin typeface="Meiryo"/>
              </a:rPr>
              <a:t>例：体型や外見についての不適切な発言</a:t>
            </a:r>
          </a:p>
        </p:txBody>
      </p:sp>
      <p:sp>
        <p:nvSpPr>
          <p:cNvPr id="15" name="Rectangle 14"/>
          <p:cNvSpPr/>
          <p:nvPr/>
        </p:nvSpPr>
        <p:spPr>
          <a:xfrm>
            <a:off x="457200" y="4023360"/>
            <a:ext cx="2011680" cy="1005840"/>
          </a:xfrm>
          <a:prstGeom prst="rect">
            <a:avLst/>
          </a:prstGeom>
          <a:solidFill>
            <a:srgbClr val="EEEEEE"/>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51960"/>
            <a:ext cx="2011680" cy="548640"/>
          </a:xfrm>
          <a:prstGeom prst="rect">
            <a:avLst/>
          </a:prstGeom>
          <a:noFill/>
        </p:spPr>
        <p:txBody>
          <a:bodyPr wrap="square">
            <a:spAutoFit/>
          </a:bodyPr>
          <a:lstStyle/>
          <a:p>
            <a:pPr algn="ctr"/>
            <a:r>
              <a:rPr xmlns:ns9="http://schemas.openxmlformats.org/wordprocessingml/2006/main" sz="1600" b="1" ns9:eastAsia="Meiryo">
                <a:solidFill>
                  <a:srgbClr val="111111"/>
                </a:solidFill>
                <a:latin typeface="Meiryo"/>
              </a:rPr>
              <a:t>マタハラ</a:t>
            </a:r>
          </a:p>
        </p:txBody>
      </p:sp>
      <p:sp>
        <p:nvSpPr>
          <p:cNvPr id="17" name="TextBox 16"/>
          <p:cNvSpPr txBox="1"/>
          <p:nvPr/>
        </p:nvSpPr>
        <p:spPr>
          <a:xfrm>
            <a:off x="2651760" y="4069080"/>
            <a:ext cx="4389120" cy="457200"/>
          </a:xfrm>
          <a:prstGeom prst="rect">
            <a:avLst/>
          </a:prstGeom>
          <a:noFill/>
        </p:spPr>
        <p:txBody>
          <a:bodyPr wrap="square">
            <a:spAutoFit/>
          </a:bodyPr>
          <a:lstStyle/>
          <a:p>
            <a:pPr algn="l"/>
            <a:r>
              <a:rPr xmlns:ns10="http://schemas.openxmlformats.org/wordprocessingml/2006/main" sz="1150" b="1" ns10:eastAsia="Meiryo">
                <a:solidFill>
                  <a:srgbClr val="111111"/>
                </a:solidFill>
                <a:latin typeface="Meiryo"/>
              </a:rPr>
              <a:t>妊娠・出産・育休に関する不利益な取り扱い</a:t>
            </a:r>
          </a:p>
        </p:txBody>
      </p:sp>
      <p:sp>
        <p:nvSpPr>
          <p:cNvPr id="18" name="TextBox 17"/>
          <p:cNvSpPr txBox="1"/>
          <p:nvPr/>
        </p:nvSpPr>
        <p:spPr>
          <a:xfrm>
            <a:off x="2651760" y="4553712"/>
            <a:ext cx="8961120" cy="411480"/>
          </a:xfrm>
          <a:prstGeom prst="rect">
            <a:avLst/>
          </a:prstGeom>
          <a:noFill/>
        </p:spPr>
        <p:txBody>
          <a:bodyPr wrap="square">
            <a:spAutoFit/>
          </a:bodyPr>
          <a:lstStyle/>
          <a:p>
            <a:pPr algn="l"/>
            <a:r>
              <a:rPr xmlns:ns11="http://schemas.openxmlformats.org/wordprocessingml/2006/main" sz="1100" b="0" ns11:eastAsia="Meiryo">
                <a:solidFill>
                  <a:srgbClr val="555555"/>
                </a:solidFill>
                <a:latin typeface="Meiryo"/>
              </a:rPr>
              <a:t>例：「妊娠するタイミングが悪い」などの発言</a:t>
            </a:r>
          </a:p>
        </p:txBody>
      </p:sp>
      <p:sp>
        <p:nvSpPr>
          <p:cNvPr id="19" name="Rectangle 18"/>
          <p:cNvSpPr/>
          <p:nvPr/>
        </p:nvSpPr>
        <p:spPr>
          <a:xfrm>
            <a:off x="457200" y="5212080"/>
            <a:ext cx="2011680" cy="10058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440680"/>
            <a:ext cx="2011680" cy="548640"/>
          </a:xfrm>
          <a:prstGeom prst="rect">
            <a:avLst/>
          </a:prstGeom>
          <a:noFill/>
        </p:spPr>
        <p:txBody>
          <a:bodyPr wrap="square">
            <a:spAutoFit/>
          </a:bodyPr>
          <a:lstStyle/>
          <a:p>
            <a:pPr algn="ctr"/>
            <a:r>
              <a:rPr xmlns:ns12="http://schemas.openxmlformats.org/wordprocessingml/2006/main" sz="1600" b="1" ns12:eastAsia="Meiryo">
                <a:solidFill>
                  <a:srgbClr val="FFFFFF"/>
                </a:solidFill>
                <a:latin typeface="Meiryo"/>
              </a:rPr>
              <a:t>カスハラ ★</a:t>
            </a:r>
          </a:p>
        </p:txBody>
      </p:sp>
      <p:sp>
        <p:nvSpPr>
          <p:cNvPr id="21" name="TextBox 20"/>
          <p:cNvSpPr txBox="1"/>
          <p:nvPr/>
        </p:nvSpPr>
        <p:spPr>
          <a:xfrm>
            <a:off x="2651760" y="5257800"/>
            <a:ext cx="4389120" cy="457200"/>
          </a:xfrm>
          <a:prstGeom prst="rect">
            <a:avLst/>
          </a:prstGeom>
          <a:noFill/>
        </p:spPr>
        <p:txBody>
          <a:bodyPr wrap="square">
            <a:spAutoFit/>
          </a:bodyPr>
          <a:lstStyle/>
          <a:p>
            <a:pPr algn="l"/>
            <a:r>
              <a:rPr xmlns:ns13="http://schemas.openxmlformats.org/wordprocessingml/2006/main" sz="1150" b="1" ns13:eastAsia="Meiryo">
                <a:solidFill>
                  <a:srgbClr val="111111"/>
                </a:solidFill>
                <a:latin typeface="Meiryo"/>
              </a:rPr>
              <a:t>患者・家族等による著しく不当な要求・言動</a:t>
            </a:r>
          </a:p>
        </p:txBody>
      </p:sp>
      <p:sp>
        <p:nvSpPr>
          <p:cNvPr id="22" name="TextBox 21"/>
          <p:cNvSpPr txBox="1"/>
          <p:nvPr/>
        </p:nvSpPr>
        <p:spPr>
          <a:xfrm>
            <a:off x="2651760" y="5742432"/>
            <a:ext cx="8961120" cy="411480"/>
          </a:xfrm>
          <a:prstGeom prst="rect">
            <a:avLst/>
          </a:prstGeom>
          <a:noFill/>
        </p:spPr>
        <p:txBody>
          <a:bodyPr wrap="square">
            <a:spAutoFit/>
          </a:bodyPr>
          <a:lstStyle/>
          <a:p>
            <a:pPr algn="l"/>
            <a:r>
              <a:rPr xmlns:ns14="http://schemas.openxmlformats.org/wordprocessingml/2006/main" sz="1100" b="0" ns14:eastAsia="Meiryo">
                <a:solidFill>
                  <a:srgbClr val="555555"/>
                </a:solidFill>
                <a:latin typeface="Meiryo"/>
              </a:rPr>
              <a:t>例：長時間怒鳴り・土下座要求・SNS脅迫  ← 次スライドで詳解</a:t>
            </a:r>
          </a:p>
        </p:txBody>
      </p:sp>
      <p:sp>
        <p:nvSpPr>
          <p:cNvPr id="23" name="TextBox 22"/>
          <p:cNvSpPr txBox="1"/>
          <p:nvPr/>
        </p:nvSpPr>
        <p:spPr>
          <a:xfrm>
            <a:off x="11640312" y="6492240"/>
            <a:ext cx="457200" cy="320040"/>
          </a:xfrm>
          <a:prstGeom prst="rect">
            <a:avLst/>
          </a:prstGeom>
          <a:noFill/>
        </p:spPr>
        <p:txBody>
          <a:bodyPr wrap="square">
            <a:spAutoFit/>
          </a:bodyPr>
          <a:lstStyle/>
          <a:p>
            <a:pPr algn="r"/>
            <a:r>
              <a:rPr xmlns:ns15="http://schemas.openxmlformats.org/wordprocessingml/2006/main" sz="1000" b="0" ns15:eastAsia="Meiryo">
                <a:solidFill>
                  <a:srgbClr val="BBBBBB"/>
                </a:solidFill>
                <a:latin typeface="Meiry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548640"/>
          </a:xfrm>
          <a:prstGeom prst="rect">
            <a:avLst/>
          </a:prstGeom>
          <a:noFill/>
        </p:spPr>
        <p:txBody>
          <a:bodyPr wrap="square">
            <a:spAutoFit/>
          </a:bodyPr>
          <a:lstStyle/>
          <a:p>
            <a:pPr algn="l"/>
            <a:r>
              <a:rPr xmlns:ns0="http://schemas.openxmlformats.org/wordprocessingml/2006/main" sz="2200" b="1" ns0:eastAsia="Meiryo">
                <a:solidFill>
                  <a:srgbClr val="111111"/>
                </a:solidFill>
                <a:latin typeface="Meiryo"/>
              </a:rPr>
              <a:t>02　カスタマーハラスメント（カスハラ）重点解説</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CUSTOMER HARASSMENT</a:t>
            </a:r>
          </a:p>
        </p:txBody>
      </p:sp>
      <p:sp>
        <p:nvSpPr>
          <p:cNvPr id="5" name="Rectangle 4"/>
          <p:cNvSpPr/>
          <p:nvPr/>
        </p:nvSpPr>
        <p:spPr>
          <a:xfrm>
            <a:off x="457200" y="1005840"/>
            <a:ext cx="11247120" cy="16459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51560"/>
            <a:ext cx="10972800" cy="365760"/>
          </a:xfrm>
          <a:prstGeom prst="rect">
            <a:avLst/>
          </a:prstGeom>
          <a:noFill/>
        </p:spPr>
        <p:txBody>
          <a:bodyPr wrap="square">
            <a:spAutoFit/>
          </a:bodyPr>
          <a:lstStyle/>
          <a:p>
            <a:pPr algn="l"/>
            <a:r>
              <a:rPr xmlns:ns2="http://schemas.openxmlformats.org/wordprocessingml/2006/main" sz="1000" b="0" ns2:eastAsia="Meiryo">
                <a:solidFill>
                  <a:srgbClr val="BBBBBB"/>
                </a:solidFill>
                <a:latin typeface="Meiryo"/>
              </a:rPr>
              <a:t>定義（厚生労働省 2024年指針）</a:t>
            </a:r>
          </a:p>
        </p:txBody>
      </p:sp>
      <p:sp>
        <p:nvSpPr>
          <p:cNvPr id="7" name="TextBox 6"/>
          <p:cNvSpPr txBox="1"/>
          <p:nvPr/>
        </p:nvSpPr>
        <p:spPr>
          <a:xfrm>
            <a:off x="640080" y="1417320"/>
            <a:ext cx="10972800" cy="1097280"/>
          </a:xfrm>
          <a:prstGeom prst="rect">
            <a:avLst/>
          </a:prstGeom>
          <a:noFill/>
        </p:spPr>
        <p:txBody>
          <a:bodyPr wrap="square">
            <a:spAutoFit/>
          </a:bodyPr>
          <a:lstStyle/>
          <a:p>
            <a:pPr algn="l"/>
            <a:r>
              <a:rPr xmlns:ns3="http://schemas.openxmlformats.org/wordprocessingml/2006/main" sz="1800" b="1" ns3:eastAsia="Meiryo">
                <a:solidFill>
                  <a:srgbClr val="FFFFFF"/>
                </a:solidFill>
                <a:latin typeface="Meiryo"/>
              </a:rPr>
              <a:t>顧客・患者・その家族等が行う、社会通念上不相当な言動で、
労働者の就業環境が害されるもの</a:t>
            </a:r>
          </a:p>
        </p:txBody>
      </p:sp>
      <p:sp>
        <p:nvSpPr>
          <p:cNvPr id="8" name="Rectangle 7"/>
          <p:cNvSpPr/>
          <p:nvPr/>
        </p:nvSpPr>
        <p:spPr>
          <a:xfrm>
            <a:off x="457200" y="2834640"/>
            <a:ext cx="3200400" cy="13716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08960"/>
            <a:ext cx="3017520" cy="822960"/>
          </a:xfrm>
          <a:prstGeom prst="rect">
            <a:avLst/>
          </a:prstGeom>
          <a:noFill/>
        </p:spPr>
        <p:txBody>
          <a:bodyPr wrap="square">
            <a:spAutoFit/>
          </a:bodyPr>
          <a:lstStyle/>
          <a:p>
            <a:pPr algn="ctr"/>
            <a:r>
              <a:rPr xmlns:ns4="http://schemas.openxmlformats.org/wordprocessingml/2006/main" sz="900" b="0" ns4:eastAsia="Meiryo">
                <a:solidFill>
                  <a:srgbClr val="555555"/>
                </a:solidFill>
                <a:latin typeface="Meiryo"/>
              </a:rPr>
              <a:t>★ ナノバナナ：illust_kushara.png を挿入
（怒る患者 vs 盾を持つスタッフ）</a:t>
            </a:r>
          </a:p>
        </p:txBody>
      </p:sp>
      <p:sp>
        <p:nvSpPr>
          <p:cNvPr id="10" name="Rectangle 9"/>
          <p:cNvSpPr/>
          <p:nvPr/>
        </p:nvSpPr>
        <p:spPr>
          <a:xfrm>
            <a:off x="3840480" y="2834640"/>
            <a:ext cx="3931920" cy="16916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40480" y="2834640"/>
            <a:ext cx="3931920" cy="4114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2880360"/>
            <a:ext cx="3657600" cy="320040"/>
          </a:xfrm>
          <a:prstGeom prst="rect">
            <a:avLst/>
          </a:prstGeom>
          <a:noFill/>
        </p:spPr>
        <p:txBody>
          <a:bodyPr wrap="square">
            <a:spAutoFit/>
          </a:bodyPr>
          <a:lstStyle/>
          <a:p>
            <a:pPr algn="l"/>
            <a:r>
              <a:rPr xmlns:ns5="http://schemas.openxmlformats.org/wordprocessingml/2006/main" sz="1100" b="1" ns5:eastAsia="Meiryo">
                <a:solidFill>
                  <a:srgbClr val="FFFFFF"/>
                </a:solidFill>
                <a:latin typeface="Meiryo"/>
              </a:rPr>
              <a:t>① 暴言・脅迫系</a:t>
            </a:r>
          </a:p>
        </p:txBody>
      </p:sp>
      <p:sp>
        <p:nvSpPr>
          <p:cNvPr id="13" name="TextBox 12"/>
          <p:cNvSpPr txBox="1"/>
          <p:nvPr/>
        </p:nvSpPr>
        <p:spPr>
          <a:xfrm>
            <a:off x="3931920" y="3337560"/>
            <a:ext cx="3657600" cy="1097280"/>
          </a:xfrm>
          <a:prstGeom prst="rect">
            <a:avLst/>
          </a:prstGeom>
          <a:noFill/>
        </p:spPr>
        <p:txBody>
          <a:bodyPr wrap="square">
            <a:spAutoFit/>
          </a:bodyPr>
          <a:lstStyle/>
          <a:p>
            <a:pPr algn="l"/>
            <a:r>
              <a:rPr xmlns:ns6="http://schemas.openxmlformats.org/wordprocessingml/2006/main" sz="1100" b="0" ns6:eastAsia="Meiryo">
                <a:solidFill>
                  <a:srgbClr val="111111"/>
                </a:solidFill>
                <a:latin typeface="Meiryo"/>
              </a:rPr>
              <a:t>「訴えるぞ」「SNSで晒す」脅し
大声での怒鳴り・罵倒
「上を呼べ」の連続</a:t>
            </a:r>
          </a:p>
        </p:txBody>
      </p:sp>
      <p:sp>
        <p:nvSpPr>
          <p:cNvPr id="14" name="Rectangle 13"/>
          <p:cNvSpPr/>
          <p:nvPr/>
        </p:nvSpPr>
        <p:spPr>
          <a:xfrm>
            <a:off x="8046720" y="2834640"/>
            <a:ext cx="3931920" cy="16916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2834640"/>
            <a:ext cx="3931920" cy="4114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2880360"/>
            <a:ext cx="3657600" cy="320040"/>
          </a:xfrm>
          <a:prstGeom prst="rect">
            <a:avLst/>
          </a:prstGeom>
          <a:noFill/>
        </p:spPr>
        <p:txBody>
          <a:bodyPr wrap="square">
            <a:spAutoFit/>
          </a:bodyPr>
          <a:lstStyle/>
          <a:p>
            <a:pPr algn="l"/>
            <a:r>
              <a:rPr xmlns:ns7="http://schemas.openxmlformats.org/wordprocessingml/2006/main" sz="1100" b="1" ns7:eastAsia="Meiryo">
                <a:solidFill>
                  <a:srgbClr val="FFFFFF"/>
                </a:solidFill>
                <a:latin typeface="Meiryo"/>
              </a:rPr>
              <a:t>② 不当要求系</a:t>
            </a:r>
          </a:p>
        </p:txBody>
      </p:sp>
      <p:sp>
        <p:nvSpPr>
          <p:cNvPr id="17" name="TextBox 16"/>
          <p:cNvSpPr txBox="1"/>
          <p:nvPr/>
        </p:nvSpPr>
        <p:spPr>
          <a:xfrm>
            <a:off x="8138160" y="3337560"/>
            <a:ext cx="3657600" cy="1097280"/>
          </a:xfrm>
          <a:prstGeom prst="rect">
            <a:avLst/>
          </a:prstGeom>
          <a:noFill/>
        </p:spPr>
        <p:txBody>
          <a:bodyPr wrap="square">
            <a:spAutoFit/>
          </a:bodyPr>
          <a:lstStyle/>
          <a:p>
            <a:pPr algn="l"/>
            <a:r>
              <a:rPr xmlns:ns8="http://schemas.openxmlformats.org/wordprocessingml/2006/main" sz="1100" b="0" ns8:eastAsia="Meiryo">
                <a:solidFill>
                  <a:srgbClr val="111111"/>
                </a:solidFill>
                <a:latin typeface="Meiryo"/>
              </a:rPr>
              <a:t>土下座・謝罪文の強要
医学的に不要な処置の要求
特別扱い（優先診察）の強要</a:t>
            </a:r>
          </a:p>
        </p:txBody>
      </p:sp>
      <p:sp>
        <p:nvSpPr>
          <p:cNvPr id="18" name="Rectangle 17"/>
          <p:cNvSpPr/>
          <p:nvPr/>
        </p:nvSpPr>
        <p:spPr>
          <a:xfrm>
            <a:off x="3840480" y="4754880"/>
            <a:ext cx="3931920" cy="16916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40480" y="4754880"/>
            <a:ext cx="3931920" cy="4114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0" y="4800600"/>
            <a:ext cx="3657600" cy="320040"/>
          </a:xfrm>
          <a:prstGeom prst="rect">
            <a:avLst/>
          </a:prstGeom>
          <a:noFill/>
        </p:spPr>
        <p:txBody>
          <a:bodyPr wrap="square">
            <a:spAutoFit/>
          </a:bodyPr>
          <a:lstStyle/>
          <a:p>
            <a:pPr algn="l"/>
            <a:r>
              <a:rPr xmlns:ns9="http://schemas.openxmlformats.org/wordprocessingml/2006/main" sz="1100" b="1" ns9:eastAsia="Meiryo">
                <a:solidFill>
                  <a:srgbClr val="FFFFFF"/>
                </a:solidFill>
                <a:latin typeface="Meiryo"/>
              </a:rPr>
              <a:t>③ 身体的行為系</a:t>
            </a:r>
          </a:p>
        </p:txBody>
      </p:sp>
      <p:sp>
        <p:nvSpPr>
          <p:cNvPr id="21" name="TextBox 20"/>
          <p:cNvSpPr txBox="1"/>
          <p:nvPr/>
        </p:nvSpPr>
        <p:spPr>
          <a:xfrm>
            <a:off x="3931920" y="5257800"/>
            <a:ext cx="3657600" cy="1097280"/>
          </a:xfrm>
          <a:prstGeom prst="rect">
            <a:avLst/>
          </a:prstGeom>
          <a:noFill/>
        </p:spPr>
        <p:txBody>
          <a:bodyPr wrap="square">
            <a:spAutoFit/>
          </a:bodyPr>
          <a:lstStyle/>
          <a:p>
            <a:pPr algn="l"/>
            <a:r>
              <a:rPr xmlns:ns10="http://schemas.openxmlformats.org/wordprocessingml/2006/main" sz="1100" b="0" ns10:eastAsia="Meiryo">
                <a:solidFill>
                  <a:srgbClr val="111111"/>
                </a:solidFill>
                <a:latin typeface="Meiryo"/>
              </a:rPr>
              <a:t>物を投げる・叩く
スタッフへの不審な接触・追跡</a:t>
            </a:r>
          </a:p>
        </p:txBody>
      </p:sp>
      <p:sp>
        <p:nvSpPr>
          <p:cNvPr id="22" name="Rectangle 21"/>
          <p:cNvSpPr/>
          <p:nvPr/>
        </p:nvSpPr>
        <p:spPr>
          <a:xfrm>
            <a:off x="8046720" y="4754880"/>
            <a:ext cx="3931920" cy="16916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0" y="4754880"/>
            <a:ext cx="3931920" cy="4114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4800600"/>
            <a:ext cx="3657600" cy="320040"/>
          </a:xfrm>
          <a:prstGeom prst="rect">
            <a:avLst/>
          </a:prstGeom>
          <a:noFill/>
        </p:spPr>
        <p:txBody>
          <a:bodyPr wrap="square">
            <a:spAutoFit/>
          </a:bodyPr>
          <a:lstStyle/>
          <a:p>
            <a:pPr algn="l"/>
            <a:r>
              <a:rPr xmlns:ns11="http://schemas.openxmlformats.org/wordprocessingml/2006/main" sz="1100" b="1" ns11:eastAsia="Meiryo">
                <a:solidFill>
                  <a:srgbClr val="FFFFFF"/>
                </a:solidFill>
                <a:latin typeface="Meiryo"/>
              </a:rPr>
              <a:t>④ 長時間拘束系</a:t>
            </a:r>
          </a:p>
        </p:txBody>
      </p:sp>
      <p:sp>
        <p:nvSpPr>
          <p:cNvPr id="25" name="TextBox 24"/>
          <p:cNvSpPr txBox="1"/>
          <p:nvPr/>
        </p:nvSpPr>
        <p:spPr>
          <a:xfrm>
            <a:off x="8138160" y="5257800"/>
            <a:ext cx="3657600" cy="1097280"/>
          </a:xfrm>
          <a:prstGeom prst="rect">
            <a:avLst/>
          </a:prstGeom>
          <a:noFill/>
        </p:spPr>
        <p:txBody>
          <a:bodyPr wrap="square">
            <a:spAutoFit/>
          </a:bodyPr>
          <a:lstStyle/>
          <a:p>
            <a:pPr algn="l"/>
            <a:r>
              <a:rPr xmlns:ns12="http://schemas.openxmlformats.org/wordprocessingml/2006/main" sz="1100" b="0" ns12:eastAsia="Meiryo">
                <a:solidFill>
                  <a:srgbClr val="111111"/>
                </a:solidFill>
                <a:latin typeface="Meiryo"/>
              </a:rPr>
              <a:t>同じ要求を繰り返し何時間も居座る
電話での長時間クレーム</a:t>
            </a:r>
          </a:p>
        </p:txBody>
      </p:sp>
      <p:sp>
        <p:nvSpPr>
          <p:cNvPr id="26" name="TextBox 25"/>
          <p:cNvSpPr txBox="1"/>
          <p:nvPr/>
        </p:nvSpPr>
        <p:spPr>
          <a:xfrm>
            <a:off x="11640312" y="6492240"/>
            <a:ext cx="457200" cy="320040"/>
          </a:xfrm>
          <a:prstGeom prst="rect">
            <a:avLst/>
          </a:prstGeom>
          <a:noFill/>
        </p:spPr>
        <p:txBody>
          <a:bodyPr wrap="square">
            <a:spAutoFit/>
          </a:bodyPr>
          <a:lstStyle/>
          <a:p>
            <a:pPr algn="r"/>
            <a:r>
              <a:rPr xmlns:ns13="http://schemas.openxmlformats.org/wordprocessingml/2006/main" sz="1000" b="0" ns13:eastAsia="Meiryo">
                <a:solidFill>
                  <a:srgbClr val="BBBBBB"/>
                </a:solidFill>
                <a:latin typeface="Meiry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548640"/>
          </a:xfrm>
          <a:prstGeom prst="rect">
            <a:avLst/>
          </a:prstGeom>
          <a:noFill/>
        </p:spPr>
        <p:txBody>
          <a:bodyPr wrap="square">
            <a:spAutoFit/>
          </a:bodyPr>
          <a:lstStyle/>
          <a:p>
            <a:pPr algn="l"/>
            <a:r>
              <a:rPr xmlns:ns0="http://schemas.openxmlformats.org/wordprocessingml/2006/main" sz="2200" b="1" ns0:eastAsia="Meiryo">
                <a:solidFill>
                  <a:srgbClr val="111111"/>
                </a:solidFill>
                <a:latin typeface="Meiryo"/>
              </a:rPr>
              <a:t>02　カスハラ — 正当なクレームとの違い</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CUSTOMER HARASSMENT</a:t>
            </a:r>
          </a:p>
        </p:txBody>
      </p:sp>
      <p:sp>
        <p:nvSpPr>
          <p:cNvPr id="5" name="Rectangle 4"/>
          <p:cNvSpPr/>
          <p:nvPr/>
        </p:nvSpPr>
        <p:spPr>
          <a:xfrm>
            <a:off x="457200" y="1005840"/>
            <a:ext cx="5303520" cy="52120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05840"/>
            <a:ext cx="5303520" cy="5943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51560"/>
            <a:ext cx="4937760" cy="502920"/>
          </a:xfrm>
          <a:prstGeom prst="rect">
            <a:avLst/>
          </a:prstGeom>
          <a:noFill/>
        </p:spPr>
        <p:txBody>
          <a:bodyPr wrap="square">
            <a:spAutoFit/>
          </a:bodyPr>
          <a:lstStyle/>
          <a:p>
            <a:pPr algn="l"/>
            <a:r>
              <a:rPr xmlns:ns2="http://schemas.openxmlformats.org/wordprocessingml/2006/main" sz="1600" b="1" ns2:eastAsia="Meiryo">
                <a:solidFill>
                  <a:srgbClr val="FFFFFF"/>
                </a:solidFill>
                <a:latin typeface="Meiryo"/>
              </a:rPr>
              <a:t>✓  正当なクレーム</a:t>
            </a:r>
          </a:p>
        </p:txBody>
      </p:sp>
      <p:sp>
        <p:nvSpPr>
          <p:cNvPr id="8" name="TextBox 7"/>
          <p:cNvSpPr txBox="1"/>
          <p:nvPr/>
        </p:nvSpPr>
        <p:spPr>
          <a:xfrm>
            <a:off x="640080" y="1783080"/>
            <a:ext cx="4937760" cy="685800"/>
          </a:xfrm>
          <a:prstGeom prst="rect">
            <a:avLst/>
          </a:prstGeom>
          <a:noFill/>
        </p:spPr>
        <p:txBody>
          <a:bodyPr wrap="square">
            <a:spAutoFit/>
          </a:bodyPr>
          <a:lstStyle/>
          <a:p>
            <a:pPr algn="l"/>
            <a:r>
              <a:rPr xmlns:ns3="http://schemas.openxmlformats.org/wordprocessingml/2006/main" sz="1300" b="0" ns3:eastAsia="Meiryo">
                <a:solidFill>
                  <a:srgbClr val="111111"/>
                </a:solidFill>
                <a:latin typeface="Meiryo"/>
              </a:rPr>
              <a:t>◎  待ち時間・説明不足への不満の申し出</a:t>
            </a:r>
          </a:p>
        </p:txBody>
      </p:sp>
      <p:sp>
        <p:nvSpPr>
          <p:cNvPr id="9" name="TextBox 8"/>
          <p:cNvSpPr txBox="1"/>
          <p:nvPr/>
        </p:nvSpPr>
        <p:spPr>
          <a:xfrm>
            <a:off x="640080" y="2560320"/>
            <a:ext cx="4937760" cy="685800"/>
          </a:xfrm>
          <a:prstGeom prst="rect">
            <a:avLst/>
          </a:prstGeom>
          <a:noFill/>
        </p:spPr>
        <p:txBody>
          <a:bodyPr wrap="square">
            <a:spAutoFit/>
          </a:bodyPr>
          <a:lstStyle/>
          <a:p>
            <a:pPr algn="l"/>
            <a:r>
              <a:rPr xmlns:ns4="http://schemas.openxmlformats.org/wordprocessingml/2006/main" sz="1300" b="0" ns4:eastAsia="Meiryo">
                <a:solidFill>
                  <a:srgbClr val="111111"/>
                </a:solidFill>
                <a:latin typeface="Meiryo"/>
              </a:rPr>
              <a:t>◎  診療方針についての疑問・質問</a:t>
            </a:r>
          </a:p>
        </p:txBody>
      </p:sp>
      <p:sp>
        <p:nvSpPr>
          <p:cNvPr id="10" name="TextBox 9"/>
          <p:cNvSpPr txBox="1"/>
          <p:nvPr/>
        </p:nvSpPr>
        <p:spPr>
          <a:xfrm>
            <a:off x="640080" y="3337560"/>
            <a:ext cx="4937760" cy="685800"/>
          </a:xfrm>
          <a:prstGeom prst="rect">
            <a:avLst/>
          </a:prstGeom>
          <a:noFill/>
        </p:spPr>
        <p:txBody>
          <a:bodyPr wrap="square">
            <a:spAutoFit/>
          </a:bodyPr>
          <a:lstStyle/>
          <a:p>
            <a:pPr algn="l"/>
            <a:r>
              <a:rPr xmlns:ns5="http://schemas.openxmlformats.org/wordprocessingml/2006/main" sz="1300" b="0" ns5:eastAsia="Meiryo">
                <a:solidFill>
                  <a:srgbClr val="111111"/>
                </a:solidFill>
                <a:latin typeface="Meiryo"/>
              </a:rPr>
              <a:t>◎  スタッフの対応への率直なフィードバック</a:t>
            </a:r>
          </a:p>
        </p:txBody>
      </p:sp>
      <p:sp>
        <p:nvSpPr>
          <p:cNvPr id="11" name="TextBox 10"/>
          <p:cNvSpPr txBox="1"/>
          <p:nvPr/>
        </p:nvSpPr>
        <p:spPr>
          <a:xfrm>
            <a:off x="640080" y="4114800"/>
            <a:ext cx="4937760" cy="685800"/>
          </a:xfrm>
          <a:prstGeom prst="rect">
            <a:avLst/>
          </a:prstGeom>
          <a:noFill/>
        </p:spPr>
        <p:txBody>
          <a:bodyPr wrap="square">
            <a:spAutoFit/>
          </a:bodyPr>
          <a:lstStyle/>
          <a:p>
            <a:pPr algn="l"/>
            <a:r>
              <a:rPr xmlns:ns6="http://schemas.openxmlformats.org/wordprocessingml/2006/main" sz="1300" b="0" ns6:eastAsia="Meiryo">
                <a:solidFill>
                  <a:srgbClr val="111111"/>
                </a:solidFill>
                <a:latin typeface="Meiryo"/>
              </a:rPr>
              <a:t>◎  改善を求める具体的な要望</a:t>
            </a:r>
          </a:p>
        </p:txBody>
      </p:sp>
      <p:sp>
        <p:nvSpPr>
          <p:cNvPr id="12" name="Rectangle 11"/>
          <p:cNvSpPr/>
          <p:nvPr/>
        </p:nvSpPr>
        <p:spPr>
          <a:xfrm>
            <a:off x="457200" y="5303520"/>
            <a:ext cx="5303520" cy="8229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394960"/>
            <a:ext cx="4937760" cy="640080"/>
          </a:xfrm>
          <a:prstGeom prst="rect">
            <a:avLst/>
          </a:prstGeom>
          <a:noFill/>
        </p:spPr>
        <p:txBody>
          <a:bodyPr wrap="square">
            <a:spAutoFit/>
          </a:bodyPr>
          <a:lstStyle/>
          <a:p>
            <a:pPr algn="l"/>
            <a:r>
              <a:rPr xmlns:ns7="http://schemas.openxmlformats.org/wordprocessingml/2006/main" sz="1300" b="1" ns7:eastAsia="Meiryo">
                <a:solidFill>
                  <a:srgbClr val="FFFFFF"/>
                </a:solidFill>
                <a:latin typeface="Meiryo"/>
              </a:rPr>
              <a:t>→ 丁寧に受け止め、真摯に対応する</a:t>
            </a:r>
          </a:p>
        </p:txBody>
      </p:sp>
      <p:sp>
        <p:nvSpPr>
          <p:cNvPr id="14" name="TextBox 13"/>
          <p:cNvSpPr txBox="1"/>
          <p:nvPr/>
        </p:nvSpPr>
        <p:spPr>
          <a:xfrm>
            <a:off x="5852160" y="3200400"/>
            <a:ext cx="457200" cy="457200"/>
          </a:xfrm>
          <a:prstGeom prst="rect">
            <a:avLst/>
          </a:prstGeom>
          <a:noFill/>
        </p:spPr>
        <p:txBody>
          <a:bodyPr wrap="square">
            <a:spAutoFit/>
          </a:bodyPr>
          <a:lstStyle/>
          <a:p>
            <a:pPr algn="ctr"/>
            <a:r>
              <a:rPr xmlns:ns8="http://schemas.openxmlformats.org/wordprocessingml/2006/main" sz="2000" b="1" ns8:eastAsia="Meiryo">
                <a:solidFill>
                  <a:srgbClr val="111111"/>
                </a:solidFill>
                <a:latin typeface="Meiryo"/>
              </a:rPr>
              <a:t>VS</a:t>
            </a:r>
          </a:p>
        </p:txBody>
      </p:sp>
      <p:sp>
        <p:nvSpPr>
          <p:cNvPr id="15" name="Rectangle 14"/>
          <p:cNvSpPr/>
          <p:nvPr/>
        </p:nvSpPr>
        <p:spPr>
          <a:xfrm>
            <a:off x="6400800" y="1005840"/>
            <a:ext cx="5303520" cy="5212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051560"/>
            <a:ext cx="4937760" cy="502920"/>
          </a:xfrm>
          <a:prstGeom prst="rect">
            <a:avLst/>
          </a:prstGeom>
          <a:noFill/>
        </p:spPr>
        <p:txBody>
          <a:bodyPr wrap="square">
            <a:spAutoFit/>
          </a:bodyPr>
          <a:lstStyle/>
          <a:p>
            <a:pPr algn="l"/>
            <a:r>
              <a:rPr xmlns:ns9="http://schemas.openxmlformats.org/wordprocessingml/2006/main" sz="1600" b="1" ns9:eastAsia="Meiryo">
                <a:solidFill>
                  <a:srgbClr val="FFFFFF"/>
                </a:solidFill>
                <a:latin typeface="Meiryo"/>
              </a:rPr>
              <a:t>✕  カスハラ</a:t>
            </a:r>
          </a:p>
        </p:txBody>
      </p:sp>
      <p:sp>
        <p:nvSpPr>
          <p:cNvPr id="17" name="TextBox 16"/>
          <p:cNvSpPr txBox="1"/>
          <p:nvPr/>
        </p:nvSpPr>
        <p:spPr>
          <a:xfrm>
            <a:off x="6583680" y="1783080"/>
            <a:ext cx="4937760" cy="685800"/>
          </a:xfrm>
          <a:prstGeom prst="rect">
            <a:avLst/>
          </a:prstGeom>
          <a:noFill/>
        </p:spPr>
        <p:txBody>
          <a:bodyPr wrap="square">
            <a:spAutoFit/>
          </a:bodyPr>
          <a:lstStyle/>
          <a:p>
            <a:pPr algn="l"/>
            <a:r>
              <a:rPr xmlns:ns10="http://schemas.openxmlformats.org/wordprocessingml/2006/main" sz="1300" b="0" ns10:eastAsia="Meiryo">
                <a:solidFill>
                  <a:srgbClr val="FFFFFF"/>
                </a:solidFill>
                <a:latin typeface="Meiryo"/>
              </a:rPr>
              <a:t>✕  怒鳴る・罵倒する・脅迫する</a:t>
            </a:r>
          </a:p>
        </p:txBody>
      </p:sp>
      <p:sp>
        <p:nvSpPr>
          <p:cNvPr id="18" name="TextBox 17"/>
          <p:cNvSpPr txBox="1"/>
          <p:nvPr/>
        </p:nvSpPr>
        <p:spPr>
          <a:xfrm>
            <a:off x="6583680" y="2560320"/>
            <a:ext cx="4937760" cy="685800"/>
          </a:xfrm>
          <a:prstGeom prst="rect">
            <a:avLst/>
          </a:prstGeom>
          <a:noFill/>
        </p:spPr>
        <p:txBody>
          <a:bodyPr wrap="square">
            <a:spAutoFit/>
          </a:bodyPr>
          <a:lstStyle/>
          <a:p>
            <a:pPr algn="l"/>
            <a:r>
              <a:rPr xmlns:ns11="http://schemas.openxmlformats.org/wordprocessingml/2006/main" sz="1300" b="0" ns11:eastAsia="Meiryo">
                <a:solidFill>
                  <a:srgbClr val="FFFFFF"/>
                </a:solidFill>
                <a:latin typeface="Meiryo"/>
              </a:rPr>
              <a:t>✕  土下座・謝罪文を強要する</a:t>
            </a:r>
          </a:p>
        </p:txBody>
      </p:sp>
      <p:sp>
        <p:nvSpPr>
          <p:cNvPr id="19" name="TextBox 18"/>
          <p:cNvSpPr txBox="1"/>
          <p:nvPr/>
        </p:nvSpPr>
        <p:spPr>
          <a:xfrm>
            <a:off x="6583680" y="3337560"/>
            <a:ext cx="4937760" cy="685800"/>
          </a:xfrm>
          <a:prstGeom prst="rect">
            <a:avLst/>
          </a:prstGeom>
          <a:noFill/>
        </p:spPr>
        <p:txBody>
          <a:bodyPr wrap="square">
            <a:spAutoFit/>
          </a:bodyPr>
          <a:lstStyle/>
          <a:p>
            <a:pPr algn="l"/>
            <a:r>
              <a:rPr xmlns:ns12="http://schemas.openxmlformats.org/wordprocessingml/2006/main" sz="1300" b="0" ns12:eastAsia="Meiryo">
                <a:solidFill>
                  <a:srgbClr val="FFFFFF"/>
                </a:solidFill>
                <a:latin typeface="Meiryo"/>
              </a:rPr>
              <a:t>✕  暴力行為・物を投げる</a:t>
            </a:r>
          </a:p>
        </p:txBody>
      </p:sp>
      <p:sp>
        <p:nvSpPr>
          <p:cNvPr id="20" name="TextBox 19"/>
          <p:cNvSpPr txBox="1"/>
          <p:nvPr/>
        </p:nvSpPr>
        <p:spPr>
          <a:xfrm>
            <a:off x="6583680" y="4114800"/>
            <a:ext cx="4937760" cy="685800"/>
          </a:xfrm>
          <a:prstGeom prst="rect">
            <a:avLst/>
          </a:prstGeom>
          <a:noFill/>
        </p:spPr>
        <p:txBody>
          <a:bodyPr wrap="square">
            <a:spAutoFit/>
          </a:bodyPr>
          <a:lstStyle/>
          <a:p>
            <a:pPr algn="l"/>
            <a:r>
              <a:rPr xmlns:ns13="http://schemas.openxmlformats.org/wordprocessingml/2006/main" sz="1300" b="0" ns13:eastAsia="Meiryo">
                <a:solidFill>
                  <a:srgbClr val="FFFFFF"/>
                </a:solidFill>
                <a:latin typeface="Meiryo"/>
              </a:rPr>
              <a:t>✕  長時間拘束・居座り・電話攻め</a:t>
            </a:r>
          </a:p>
        </p:txBody>
      </p:sp>
      <p:sp>
        <p:nvSpPr>
          <p:cNvPr id="21" name="Rectangle 20"/>
          <p:cNvSpPr/>
          <p:nvPr/>
        </p:nvSpPr>
        <p:spPr>
          <a:xfrm>
            <a:off x="6400800" y="5303520"/>
            <a:ext cx="5303520" cy="8229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5394960"/>
            <a:ext cx="4937760" cy="640080"/>
          </a:xfrm>
          <a:prstGeom prst="rect">
            <a:avLst/>
          </a:prstGeom>
          <a:noFill/>
        </p:spPr>
        <p:txBody>
          <a:bodyPr wrap="square">
            <a:spAutoFit/>
          </a:bodyPr>
          <a:lstStyle/>
          <a:p>
            <a:pPr algn="l"/>
            <a:r>
              <a:rPr xmlns:ns14="http://schemas.openxmlformats.org/wordprocessingml/2006/main" sz="1300" b="1" ns14:eastAsia="Meiryo">
                <a:solidFill>
                  <a:srgbClr val="FFFFFF"/>
                </a:solidFill>
                <a:latin typeface="Meiryo"/>
              </a:rPr>
              <a:t>→ 受け入れない。組織として対応する</a:t>
            </a:r>
          </a:p>
        </p:txBody>
      </p:sp>
      <p:sp>
        <p:nvSpPr>
          <p:cNvPr id="23" name="TextBox 22"/>
          <p:cNvSpPr txBox="1"/>
          <p:nvPr/>
        </p:nvSpPr>
        <p:spPr>
          <a:xfrm>
            <a:off x="11640312" y="6492240"/>
            <a:ext cx="457200" cy="320040"/>
          </a:xfrm>
          <a:prstGeom prst="rect">
            <a:avLst/>
          </a:prstGeom>
          <a:noFill/>
        </p:spPr>
        <p:txBody>
          <a:bodyPr wrap="square">
            <a:spAutoFit/>
          </a:bodyPr>
          <a:lstStyle/>
          <a:p>
            <a:pPr algn="r"/>
            <a:r>
              <a:rPr xmlns:ns15="http://schemas.openxmlformats.org/wordprocessingml/2006/main" sz="1000" b="0" ns15:eastAsia="Meiryo">
                <a:solidFill>
                  <a:srgbClr val="BBBBBB"/>
                </a:solidFill>
                <a:latin typeface="Meiry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548640"/>
          </a:xfrm>
          <a:prstGeom prst="rect">
            <a:avLst/>
          </a:prstGeom>
          <a:noFill/>
        </p:spPr>
        <p:txBody>
          <a:bodyPr wrap="square">
            <a:spAutoFit/>
          </a:bodyPr>
          <a:lstStyle/>
          <a:p>
            <a:pPr algn="l"/>
            <a:r>
              <a:rPr xmlns:ns0="http://schemas.openxmlformats.org/wordprocessingml/2006/main" sz="2200" b="1" ns0:eastAsia="Meiryo">
                <a:solidFill>
                  <a:srgbClr val="111111"/>
                </a:solidFill>
                <a:latin typeface="Meiryo"/>
              </a:rPr>
              <a:t>02　カスハラへの対応フロー</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CUSTOMER HARASSMENT</a:t>
            </a:r>
          </a:p>
        </p:txBody>
      </p:sp>
      <p:sp>
        <p:nvSpPr>
          <p:cNvPr id="5" name="Rectangle 4"/>
          <p:cNvSpPr/>
          <p:nvPr/>
        </p:nvSpPr>
        <p:spPr>
          <a:xfrm>
            <a:off x="457200" y="1005840"/>
            <a:ext cx="1371600" cy="9601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1371600" cy="548640"/>
          </a:xfrm>
          <a:prstGeom prst="rect">
            <a:avLst/>
          </a:prstGeom>
          <a:noFill/>
        </p:spPr>
        <p:txBody>
          <a:bodyPr wrap="square">
            <a:spAutoFit/>
          </a:bodyPr>
          <a:lstStyle/>
          <a:p>
            <a:pPr algn="ctr"/>
            <a:r>
              <a:rPr xmlns:ns2="http://schemas.openxmlformats.org/wordprocessingml/2006/main" sz="1400" b="1" ns2:eastAsia="Meiryo">
                <a:solidFill>
                  <a:srgbClr val="FFFFFF"/>
                </a:solidFill>
                <a:latin typeface="Meiryo"/>
              </a:rPr>
              <a:t>STEP 1</a:t>
            </a:r>
          </a:p>
        </p:txBody>
      </p:sp>
      <p:sp>
        <p:nvSpPr>
          <p:cNvPr id="7" name="Rectangle 6"/>
          <p:cNvSpPr/>
          <p:nvPr/>
        </p:nvSpPr>
        <p:spPr>
          <a:xfrm>
            <a:off x="1920240" y="1005840"/>
            <a:ext cx="9784080" cy="960120"/>
          </a:xfrm>
          <a:prstGeom prst="rect">
            <a:avLst/>
          </a:prstGeom>
          <a:solidFill>
            <a:srgbClr val="EEEEEE"/>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1051560"/>
            <a:ext cx="3200400" cy="411480"/>
          </a:xfrm>
          <a:prstGeom prst="rect">
            <a:avLst/>
          </a:prstGeom>
          <a:noFill/>
        </p:spPr>
        <p:txBody>
          <a:bodyPr wrap="square">
            <a:spAutoFit/>
          </a:bodyPr>
          <a:lstStyle/>
          <a:p>
            <a:pPr algn="l"/>
            <a:r>
              <a:rPr xmlns:ns3="http://schemas.openxmlformats.org/wordprocessingml/2006/main" sz="1400" b="1" ns3:eastAsia="Meiryo">
                <a:solidFill>
                  <a:srgbClr val="111111"/>
                </a:solidFill>
                <a:latin typeface="Meiryo"/>
              </a:rPr>
              <a:t>不当な言動に気づく</a:t>
            </a:r>
          </a:p>
        </p:txBody>
      </p:sp>
      <p:sp>
        <p:nvSpPr>
          <p:cNvPr id="9" name="TextBox 8"/>
          <p:cNvSpPr txBox="1"/>
          <p:nvPr/>
        </p:nvSpPr>
        <p:spPr>
          <a:xfrm>
            <a:off x="5394960" y="1078992"/>
            <a:ext cx="6217920" cy="777240"/>
          </a:xfrm>
          <a:prstGeom prst="rect">
            <a:avLst/>
          </a:prstGeom>
          <a:noFill/>
        </p:spPr>
        <p:txBody>
          <a:bodyPr wrap="square">
            <a:spAutoFit/>
          </a:bodyPr>
          <a:lstStyle/>
          <a:p>
            <a:pPr algn="l"/>
            <a:r>
              <a:rPr xmlns:ns4="http://schemas.openxmlformats.org/wordprocessingml/2006/main" sz="1300" b="0" ns4:eastAsia="Meiryo">
                <a:solidFill>
                  <a:srgbClr val="111111"/>
                </a:solidFill>
                <a:latin typeface="Meiryo"/>
              </a:rPr>
              <a:t>「これはクレームか、カスハラか？」を判断する</a:t>
            </a:r>
          </a:p>
        </p:txBody>
      </p:sp>
      <p:sp>
        <p:nvSpPr>
          <p:cNvPr id="10" name="TextBox 9"/>
          <p:cNvSpPr txBox="1"/>
          <p:nvPr/>
        </p:nvSpPr>
        <p:spPr>
          <a:xfrm>
            <a:off x="822960" y="1965960"/>
            <a:ext cx="731520" cy="91440"/>
          </a:xfrm>
          <a:prstGeom prst="rect">
            <a:avLst/>
          </a:prstGeom>
          <a:noFill/>
        </p:spPr>
        <p:txBody>
          <a:bodyPr wrap="square">
            <a:spAutoFit/>
          </a:bodyPr>
          <a:lstStyle/>
          <a:p>
            <a:pPr algn="ctr"/>
            <a:r>
              <a:rPr xmlns:ns5="http://schemas.openxmlformats.org/wordprocessingml/2006/main" sz="900" b="0" ns5:eastAsia="Meiryo">
                <a:solidFill>
                  <a:srgbClr val="555555"/>
                </a:solidFill>
                <a:latin typeface="Meiryo"/>
              </a:rPr>
              <a:t>▼</a:t>
            </a:r>
          </a:p>
        </p:txBody>
      </p:sp>
      <p:sp>
        <p:nvSpPr>
          <p:cNvPr id="11" name="Rectangle 10"/>
          <p:cNvSpPr/>
          <p:nvPr/>
        </p:nvSpPr>
        <p:spPr>
          <a:xfrm>
            <a:off x="457200" y="2039112"/>
            <a:ext cx="1371600" cy="9601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221992"/>
            <a:ext cx="1371600" cy="548640"/>
          </a:xfrm>
          <a:prstGeom prst="rect">
            <a:avLst/>
          </a:prstGeom>
          <a:noFill/>
        </p:spPr>
        <p:txBody>
          <a:bodyPr wrap="square">
            <a:spAutoFit/>
          </a:bodyPr>
          <a:lstStyle/>
          <a:p>
            <a:pPr algn="ctr"/>
            <a:r>
              <a:rPr xmlns:ns6="http://schemas.openxmlformats.org/wordprocessingml/2006/main" sz="1400" b="1" ns6:eastAsia="Meiryo">
                <a:solidFill>
                  <a:srgbClr val="FFFFFF"/>
                </a:solidFill>
                <a:latin typeface="Meiryo"/>
              </a:rPr>
              <a:t>STEP 2</a:t>
            </a:r>
          </a:p>
        </p:txBody>
      </p:sp>
      <p:sp>
        <p:nvSpPr>
          <p:cNvPr id="13" name="Rectangle 12"/>
          <p:cNvSpPr/>
          <p:nvPr/>
        </p:nvSpPr>
        <p:spPr>
          <a:xfrm>
            <a:off x="1920240" y="2039112"/>
            <a:ext cx="9784080" cy="960120"/>
          </a:xfrm>
          <a:prstGeom prst="rect">
            <a:avLst/>
          </a:prstGeom>
          <a:solidFill>
            <a:srgbClr val="EEEEEE"/>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2084832"/>
            <a:ext cx="3200400" cy="411480"/>
          </a:xfrm>
          <a:prstGeom prst="rect">
            <a:avLst/>
          </a:prstGeom>
          <a:noFill/>
        </p:spPr>
        <p:txBody>
          <a:bodyPr wrap="square">
            <a:spAutoFit/>
          </a:bodyPr>
          <a:lstStyle/>
          <a:p>
            <a:pPr algn="l"/>
            <a:r>
              <a:rPr xmlns:ns7="http://schemas.openxmlformats.org/wordprocessingml/2006/main" sz="1400" b="1" ns7:eastAsia="Meiryo">
                <a:solidFill>
                  <a:srgbClr val="111111"/>
                </a:solidFill>
                <a:latin typeface="Meiryo"/>
              </a:rPr>
              <a:t>一人で抱え込まない</a:t>
            </a:r>
          </a:p>
        </p:txBody>
      </p:sp>
      <p:sp>
        <p:nvSpPr>
          <p:cNvPr id="15" name="TextBox 14"/>
          <p:cNvSpPr txBox="1"/>
          <p:nvPr/>
        </p:nvSpPr>
        <p:spPr>
          <a:xfrm>
            <a:off x="5394960" y="2112264"/>
            <a:ext cx="6217920" cy="777240"/>
          </a:xfrm>
          <a:prstGeom prst="rect">
            <a:avLst/>
          </a:prstGeom>
          <a:noFill/>
        </p:spPr>
        <p:txBody>
          <a:bodyPr wrap="square">
            <a:spAutoFit/>
          </a:bodyPr>
          <a:lstStyle/>
          <a:p>
            <a:pPr algn="l"/>
            <a:r>
              <a:rPr xmlns:ns8="http://schemas.openxmlformats.org/wordprocessingml/2006/main" sz="1300" b="0" ns8:eastAsia="Meiryo">
                <a:solidFill>
                  <a:srgbClr val="111111"/>
                </a:solidFill>
                <a:latin typeface="Meiryo"/>
              </a:rPr>
              <a:t>すぐに同僚・先輩・リーダーへ声をかける ★最重要</a:t>
            </a:r>
          </a:p>
        </p:txBody>
      </p:sp>
      <p:sp>
        <p:nvSpPr>
          <p:cNvPr id="16" name="TextBox 15"/>
          <p:cNvSpPr txBox="1"/>
          <p:nvPr/>
        </p:nvSpPr>
        <p:spPr>
          <a:xfrm>
            <a:off x="822960" y="2999232"/>
            <a:ext cx="731520" cy="91440"/>
          </a:xfrm>
          <a:prstGeom prst="rect">
            <a:avLst/>
          </a:prstGeom>
          <a:noFill/>
        </p:spPr>
        <p:txBody>
          <a:bodyPr wrap="square">
            <a:spAutoFit/>
          </a:bodyPr>
          <a:lstStyle/>
          <a:p>
            <a:pPr algn="ctr"/>
            <a:r>
              <a:rPr xmlns:ns9="http://schemas.openxmlformats.org/wordprocessingml/2006/main" sz="900" b="0" ns9:eastAsia="Meiryo">
                <a:solidFill>
                  <a:srgbClr val="555555"/>
                </a:solidFill>
                <a:latin typeface="Meiryo"/>
              </a:rPr>
              <a:t>▼</a:t>
            </a:r>
          </a:p>
        </p:txBody>
      </p:sp>
      <p:sp>
        <p:nvSpPr>
          <p:cNvPr id="17" name="Rectangle 16"/>
          <p:cNvSpPr/>
          <p:nvPr/>
        </p:nvSpPr>
        <p:spPr>
          <a:xfrm>
            <a:off x="457200" y="3072384"/>
            <a:ext cx="1371600" cy="9601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255264"/>
            <a:ext cx="1371600" cy="548640"/>
          </a:xfrm>
          <a:prstGeom prst="rect">
            <a:avLst/>
          </a:prstGeom>
          <a:noFill/>
        </p:spPr>
        <p:txBody>
          <a:bodyPr wrap="square">
            <a:spAutoFit/>
          </a:bodyPr>
          <a:lstStyle/>
          <a:p>
            <a:pPr algn="ctr"/>
            <a:r>
              <a:rPr xmlns:ns10="http://schemas.openxmlformats.org/wordprocessingml/2006/main" sz="1400" b="1" ns10:eastAsia="Meiryo">
                <a:solidFill>
                  <a:srgbClr val="FFFFFF"/>
                </a:solidFill>
                <a:latin typeface="Meiryo"/>
              </a:rPr>
              <a:t>STEP 3</a:t>
            </a:r>
          </a:p>
        </p:txBody>
      </p:sp>
      <p:sp>
        <p:nvSpPr>
          <p:cNvPr id="19" name="Rectangle 18"/>
          <p:cNvSpPr/>
          <p:nvPr/>
        </p:nvSpPr>
        <p:spPr>
          <a:xfrm>
            <a:off x="1920240" y="3072384"/>
            <a:ext cx="9784080" cy="960120"/>
          </a:xfrm>
          <a:prstGeom prst="rect">
            <a:avLst/>
          </a:prstGeom>
          <a:solidFill>
            <a:srgbClr val="EEEEEE"/>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03120" y="3118104"/>
            <a:ext cx="3200400" cy="411480"/>
          </a:xfrm>
          <a:prstGeom prst="rect">
            <a:avLst/>
          </a:prstGeom>
          <a:noFill/>
        </p:spPr>
        <p:txBody>
          <a:bodyPr wrap="square">
            <a:spAutoFit/>
          </a:bodyPr>
          <a:lstStyle/>
          <a:p>
            <a:pPr algn="l"/>
            <a:r>
              <a:rPr xmlns:ns11="http://schemas.openxmlformats.org/wordprocessingml/2006/main" sz="1400" b="1" ns11:eastAsia="Meiryo">
                <a:solidFill>
                  <a:srgbClr val="111111"/>
                </a:solidFill>
                <a:latin typeface="Meiryo"/>
              </a:rPr>
              <a:t>複数人で対応する</a:t>
            </a:r>
          </a:p>
        </p:txBody>
      </p:sp>
      <p:sp>
        <p:nvSpPr>
          <p:cNvPr id="21" name="TextBox 20"/>
          <p:cNvSpPr txBox="1"/>
          <p:nvPr/>
        </p:nvSpPr>
        <p:spPr>
          <a:xfrm>
            <a:off x="5394960" y="3145536"/>
            <a:ext cx="6217920" cy="777240"/>
          </a:xfrm>
          <a:prstGeom prst="rect">
            <a:avLst/>
          </a:prstGeom>
          <a:noFill/>
        </p:spPr>
        <p:txBody>
          <a:bodyPr wrap="square">
            <a:spAutoFit/>
          </a:bodyPr>
          <a:lstStyle/>
          <a:p>
            <a:pPr algn="l"/>
            <a:r>
              <a:rPr xmlns:ns12="http://schemas.openxmlformats.org/wordprocessingml/2006/main" sz="1300" b="0" ns12:eastAsia="Meiryo">
                <a:solidFill>
                  <a:srgbClr val="111111"/>
                </a:solidFill>
                <a:latin typeface="Meiryo"/>
              </a:rPr>
              <a:t>必ず2名以上で。単独対応しない</a:t>
            </a:r>
          </a:p>
        </p:txBody>
      </p:sp>
      <p:sp>
        <p:nvSpPr>
          <p:cNvPr id="22" name="TextBox 21"/>
          <p:cNvSpPr txBox="1"/>
          <p:nvPr/>
        </p:nvSpPr>
        <p:spPr>
          <a:xfrm>
            <a:off x="822960" y="4032504"/>
            <a:ext cx="731520" cy="91440"/>
          </a:xfrm>
          <a:prstGeom prst="rect">
            <a:avLst/>
          </a:prstGeom>
          <a:noFill/>
        </p:spPr>
        <p:txBody>
          <a:bodyPr wrap="square">
            <a:spAutoFit/>
          </a:bodyPr>
          <a:lstStyle/>
          <a:p>
            <a:pPr algn="ctr"/>
            <a:r>
              <a:rPr xmlns:ns13="http://schemas.openxmlformats.org/wordprocessingml/2006/main" sz="900" b="0" ns13:eastAsia="Meiryo">
                <a:solidFill>
                  <a:srgbClr val="555555"/>
                </a:solidFill>
                <a:latin typeface="Meiryo"/>
              </a:rPr>
              <a:t>▼</a:t>
            </a:r>
          </a:p>
        </p:txBody>
      </p:sp>
      <p:sp>
        <p:nvSpPr>
          <p:cNvPr id="23" name="Rectangle 22"/>
          <p:cNvSpPr/>
          <p:nvPr/>
        </p:nvSpPr>
        <p:spPr>
          <a:xfrm>
            <a:off x="457200" y="4105656"/>
            <a:ext cx="1371600" cy="9601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288536"/>
            <a:ext cx="1371600" cy="548640"/>
          </a:xfrm>
          <a:prstGeom prst="rect">
            <a:avLst/>
          </a:prstGeom>
          <a:noFill/>
        </p:spPr>
        <p:txBody>
          <a:bodyPr wrap="square">
            <a:spAutoFit/>
          </a:bodyPr>
          <a:lstStyle/>
          <a:p>
            <a:pPr algn="ctr"/>
            <a:r>
              <a:rPr xmlns:ns14="http://schemas.openxmlformats.org/wordprocessingml/2006/main" sz="1400" b="1" ns14:eastAsia="Meiryo">
                <a:solidFill>
                  <a:srgbClr val="FFFFFF"/>
                </a:solidFill>
                <a:latin typeface="Meiryo"/>
              </a:rPr>
              <a:t>STEP 4</a:t>
            </a:r>
          </a:p>
        </p:txBody>
      </p:sp>
      <p:sp>
        <p:nvSpPr>
          <p:cNvPr id="25" name="Rectangle 24"/>
          <p:cNvSpPr/>
          <p:nvPr/>
        </p:nvSpPr>
        <p:spPr>
          <a:xfrm>
            <a:off x="1920240" y="4105656"/>
            <a:ext cx="9784080" cy="960120"/>
          </a:xfrm>
          <a:prstGeom prst="rect">
            <a:avLst/>
          </a:prstGeom>
          <a:solidFill>
            <a:srgbClr val="EEEEEE"/>
          </a:solidFill>
          <a:ln w="1270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3120" y="4151376"/>
            <a:ext cx="3200400" cy="411480"/>
          </a:xfrm>
          <a:prstGeom prst="rect">
            <a:avLst/>
          </a:prstGeom>
          <a:noFill/>
        </p:spPr>
        <p:txBody>
          <a:bodyPr wrap="square">
            <a:spAutoFit/>
          </a:bodyPr>
          <a:lstStyle/>
          <a:p>
            <a:pPr algn="l"/>
            <a:r>
              <a:rPr xmlns:ns15="http://schemas.openxmlformats.org/wordprocessingml/2006/main" sz="1400" b="1" ns15:eastAsia="Meiryo">
                <a:solidFill>
                  <a:srgbClr val="111111"/>
                </a:solidFill>
                <a:latin typeface="Meiryo"/>
              </a:rPr>
              <a:t>事実を記録する</a:t>
            </a:r>
          </a:p>
        </p:txBody>
      </p:sp>
      <p:sp>
        <p:nvSpPr>
          <p:cNvPr id="27" name="TextBox 26"/>
          <p:cNvSpPr txBox="1"/>
          <p:nvPr/>
        </p:nvSpPr>
        <p:spPr>
          <a:xfrm>
            <a:off x="5394960" y="4178808"/>
            <a:ext cx="6217920" cy="777240"/>
          </a:xfrm>
          <a:prstGeom prst="rect">
            <a:avLst/>
          </a:prstGeom>
          <a:noFill/>
        </p:spPr>
        <p:txBody>
          <a:bodyPr wrap="square">
            <a:spAutoFit/>
          </a:bodyPr>
          <a:lstStyle/>
          <a:p>
            <a:pPr algn="l"/>
            <a:r>
              <a:rPr xmlns:ns16="http://schemas.openxmlformats.org/wordprocessingml/2006/main" sz="1300" b="0" ns16:eastAsia="Meiryo">
                <a:solidFill>
                  <a:srgbClr val="111111"/>
                </a:solidFill>
                <a:latin typeface="Meiryo"/>
              </a:rPr>
              <a:t>日時・言動の内容を具体的にメモする</a:t>
            </a:r>
          </a:p>
        </p:txBody>
      </p:sp>
      <p:sp>
        <p:nvSpPr>
          <p:cNvPr id="28" name="TextBox 27"/>
          <p:cNvSpPr txBox="1"/>
          <p:nvPr/>
        </p:nvSpPr>
        <p:spPr>
          <a:xfrm>
            <a:off x="822960" y="5065776"/>
            <a:ext cx="731520" cy="91440"/>
          </a:xfrm>
          <a:prstGeom prst="rect">
            <a:avLst/>
          </a:prstGeom>
          <a:noFill/>
        </p:spPr>
        <p:txBody>
          <a:bodyPr wrap="square">
            <a:spAutoFit/>
          </a:bodyPr>
          <a:lstStyle/>
          <a:p>
            <a:pPr algn="ctr"/>
            <a:r>
              <a:rPr xmlns:ns17="http://schemas.openxmlformats.org/wordprocessingml/2006/main" sz="900" b="0" ns17:eastAsia="Meiryo">
                <a:solidFill>
                  <a:srgbClr val="555555"/>
                </a:solidFill>
                <a:latin typeface="Meiryo"/>
              </a:rPr>
              <a:t>▼</a:t>
            </a:r>
          </a:p>
        </p:txBody>
      </p:sp>
      <p:sp>
        <p:nvSpPr>
          <p:cNvPr id="29" name="Rectangle 28"/>
          <p:cNvSpPr/>
          <p:nvPr/>
        </p:nvSpPr>
        <p:spPr>
          <a:xfrm>
            <a:off x="457200" y="5138928"/>
            <a:ext cx="1371600" cy="9601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321808"/>
            <a:ext cx="1371600" cy="548640"/>
          </a:xfrm>
          <a:prstGeom prst="rect">
            <a:avLst/>
          </a:prstGeom>
          <a:noFill/>
        </p:spPr>
        <p:txBody>
          <a:bodyPr wrap="square">
            <a:spAutoFit/>
          </a:bodyPr>
          <a:lstStyle/>
          <a:p>
            <a:pPr algn="ctr"/>
            <a:r>
              <a:rPr xmlns:ns18="http://schemas.openxmlformats.org/wordprocessingml/2006/main" sz="1400" b="1" ns18:eastAsia="Meiryo">
                <a:solidFill>
                  <a:srgbClr val="FFFFFF"/>
                </a:solidFill>
                <a:latin typeface="Meiryo"/>
              </a:rPr>
              <a:t>STEP 5</a:t>
            </a:r>
          </a:p>
        </p:txBody>
      </p:sp>
      <p:sp>
        <p:nvSpPr>
          <p:cNvPr id="31" name="Rectangle 30"/>
          <p:cNvSpPr/>
          <p:nvPr/>
        </p:nvSpPr>
        <p:spPr>
          <a:xfrm>
            <a:off x="1920240" y="5138928"/>
            <a:ext cx="9784080" cy="9601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03120" y="5184648"/>
            <a:ext cx="3200400" cy="411480"/>
          </a:xfrm>
          <a:prstGeom prst="rect">
            <a:avLst/>
          </a:prstGeom>
          <a:noFill/>
        </p:spPr>
        <p:txBody>
          <a:bodyPr wrap="square">
            <a:spAutoFit/>
          </a:bodyPr>
          <a:lstStyle/>
          <a:p>
            <a:pPr algn="l"/>
            <a:r>
              <a:rPr xmlns:ns19="http://schemas.openxmlformats.org/wordprocessingml/2006/main" sz="1400" b="1" ns19:eastAsia="Meiryo">
                <a:solidFill>
                  <a:srgbClr val="FFFFFF"/>
                </a:solidFill>
                <a:latin typeface="Meiryo"/>
              </a:rPr>
              <a:t>上長・窓口へ報告する</a:t>
            </a:r>
          </a:p>
        </p:txBody>
      </p:sp>
      <p:sp>
        <p:nvSpPr>
          <p:cNvPr id="33" name="TextBox 32"/>
          <p:cNvSpPr txBox="1"/>
          <p:nvPr/>
        </p:nvSpPr>
        <p:spPr>
          <a:xfrm>
            <a:off x="5394960" y="5212080"/>
            <a:ext cx="6217920" cy="777240"/>
          </a:xfrm>
          <a:prstGeom prst="rect">
            <a:avLst/>
          </a:prstGeom>
          <a:noFill/>
        </p:spPr>
        <p:txBody>
          <a:bodyPr wrap="square">
            <a:spAutoFit/>
          </a:bodyPr>
          <a:lstStyle/>
          <a:p>
            <a:pPr algn="l"/>
            <a:r>
              <a:rPr xmlns:ns20="http://schemas.openxmlformats.org/wordprocessingml/2006/main" sz="1300" b="0" ns20:eastAsia="Meiryo">
                <a:solidFill>
                  <a:srgbClr val="FFFFFF"/>
                </a:solidFill>
                <a:latin typeface="Meiryo"/>
              </a:rPr>
              <a:t>組織として対応する</a:t>
            </a:r>
          </a:p>
        </p:txBody>
      </p:sp>
      <p:sp>
        <p:nvSpPr>
          <p:cNvPr id="34" name="Rectangle 33"/>
          <p:cNvSpPr/>
          <p:nvPr/>
        </p:nvSpPr>
        <p:spPr>
          <a:xfrm>
            <a:off x="457200" y="5989320"/>
            <a:ext cx="11247120" cy="6858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6053328"/>
            <a:ext cx="10972800" cy="548640"/>
          </a:xfrm>
          <a:prstGeom prst="rect">
            <a:avLst/>
          </a:prstGeom>
          <a:noFill/>
        </p:spPr>
        <p:txBody>
          <a:bodyPr wrap="square">
            <a:spAutoFit/>
          </a:bodyPr>
          <a:lstStyle/>
          <a:p>
            <a:pPr algn="l"/>
            <a:r>
              <a:rPr xmlns:ns21="http://schemas.openxmlformats.org/wordprocessingml/2006/main" sz="1100" b="0" ns21:eastAsia="Meiryo">
                <a:solidFill>
                  <a:srgbClr val="FFFFFF"/>
                </a:solidFill>
                <a:latin typeface="Meiryo"/>
              </a:rPr>
              <a:t>【法的義務】2024年改正により、事業者はカスハラへの対策・相談体制・スタッフへのフォローが義務化。スタッフが一人で我慢する問題ではない。</a:t>
            </a:r>
          </a:p>
        </p:txBody>
      </p:sp>
      <p:sp>
        <p:nvSpPr>
          <p:cNvPr id="36" name="TextBox 35"/>
          <p:cNvSpPr txBox="1"/>
          <p:nvPr/>
        </p:nvSpPr>
        <p:spPr>
          <a:xfrm>
            <a:off x="11640312" y="6492240"/>
            <a:ext cx="457200" cy="320040"/>
          </a:xfrm>
          <a:prstGeom prst="rect">
            <a:avLst/>
          </a:prstGeom>
          <a:noFill/>
        </p:spPr>
        <p:txBody>
          <a:bodyPr wrap="square">
            <a:spAutoFit/>
          </a:bodyPr>
          <a:lstStyle/>
          <a:p>
            <a:pPr algn="r"/>
            <a:r>
              <a:rPr xmlns:ns22="http://schemas.openxmlformats.org/wordprocessingml/2006/main" sz="1000" b="0" ns22:eastAsia="Meiryo">
                <a:solidFill>
                  <a:srgbClr val="BBBBBB"/>
                </a:solidFill>
                <a:latin typeface="Meiry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548640"/>
          </a:xfrm>
          <a:prstGeom prst="rect">
            <a:avLst/>
          </a:prstGeom>
          <a:noFill/>
        </p:spPr>
        <p:txBody>
          <a:bodyPr wrap="square">
            <a:spAutoFit/>
          </a:bodyPr>
          <a:lstStyle/>
          <a:p>
            <a:pPr algn="l"/>
            <a:r>
              <a:rPr xmlns:ns0="http://schemas.openxmlformats.org/wordprocessingml/2006/main" sz="2600" b="1" ns0:eastAsia="Meiryo">
                <a:solidFill>
                  <a:srgbClr val="111111"/>
                </a:solidFill>
                <a:latin typeface="Meiryo"/>
              </a:rPr>
              <a:t>03　法令遵守（コンプライアンス）</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COMPLIANCE</a:t>
            </a:r>
          </a:p>
        </p:txBody>
      </p:sp>
      <p:sp>
        <p:nvSpPr>
          <p:cNvPr id="5" name="Rectangle 4"/>
          <p:cNvSpPr/>
          <p:nvPr/>
        </p:nvSpPr>
        <p:spPr>
          <a:xfrm>
            <a:off x="9418320" y="1005840"/>
            <a:ext cx="2286000" cy="1645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64040" y="1234440"/>
            <a:ext cx="2194560" cy="822960"/>
          </a:xfrm>
          <a:prstGeom prst="rect">
            <a:avLst/>
          </a:prstGeom>
          <a:noFill/>
        </p:spPr>
        <p:txBody>
          <a:bodyPr wrap="square">
            <a:spAutoFit/>
          </a:bodyPr>
          <a:lstStyle/>
          <a:p>
            <a:pPr algn="ctr"/>
            <a:r>
              <a:rPr xmlns:ns2="http://schemas.openxmlformats.org/wordprocessingml/2006/main" sz="800" b="0" ns2:eastAsia="Meiryo">
                <a:solidFill>
                  <a:srgbClr val="555555"/>
                </a:solidFill>
                <a:latin typeface="Meiryo"/>
              </a:rPr>
              <a:t>★ナノバナナ：
illust_compliance.png</a:t>
            </a:r>
          </a:p>
        </p:txBody>
      </p:sp>
      <p:sp>
        <p:nvSpPr>
          <p:cNvPr id="7" name="Rectangle 6"/>
          <p:cNvSpPr/>
          <p:nvPr/>
        </p:nvSpPr>
        <p:spPr>
          <a:xfrm>
            <a:off x="457200" y="1005840"/>
            <a:ext cx="2560320" cy="8686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2377440" cy="777240"/>
          </a:xfrm>
          <a:prstGeom prst="rect">
            <a:avLst/>
          </a:prstGeom>
          <a:noFill/>
        </p:spPr>
        <p:txBody>
          <a:bodyPr wrap="square">
            <a:spAutoFit/>
          </a:bodyPr>
          <a:lstStyle/>
          <a:p>
            <a:pPr algn="l"/>
            <a:r>
              <a:rPr xmlns:ns3="http://schemas.openxmlformats.org/wordprocessingml/2006/main" sz="1100" b="1" ns3:eastAsia="Meiryo">
                <a:solidFill>
                  <a:srgbClr val="FFFFFF"/>
                </a:solidFill>
                <a:latin typeface="Meiryo"/>
              </a:rPr>
              <a:t>個人情報保護法</a:t>
            </a:r>
          </a:p>
        </p:txBody>
      </p:sp>
      <p:sp>
        <p:nvSpPr>
          <p:cNvPr id="9" name="Rectangle 8"/>
          <p:cNvSpPr/>
          <p:nvPr/>
        </p:nvSpPr>
        <p:spPr>
          <a:xfrm>
            <a:off x="3108960" y="1005840"/>
            <a:ext cx="6217920" cy="8686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1078992"/>
            <a:ext cx="6035040" cy="731520"/>
          </a:xfrm>
          <a:prstGeom prst="rect">
            <a:avLst/>
          </a:prstGeom>
          <a:noFill/>
        </p:spPr>
        <p:txBody>
          <a:bodyPr wrap="square">
            <a:spAutoFit/>
          </a:bodyPr>
          <a:lstStyle/>
          <a:p>
            <a:pPr algn="l"/>
            <a:r>
              <a:rPr xmlns:ns4="http://schemas.openxmlformats.org/wordprocessingml/2006/main" sz="1100" b="0" ns4:eastAsia="Meiryo">
                <a:solidFill>
                  <a:srgbClr val="111111"/>
                </a:solidFill>
                <a:latin typeface="Meiryo"/>
              </a:rPr>
              <a:t>患者情報の目的外利用・第三者提供禁止。漏洩時は72時間以内に報告義務</a:t>
            </a:r>
          </a:p>
        </p:txBody>
      </p:sp>
      <p:sp>
        <p:nvSpPr>
          <p:cNvPr id="11" name="Rectangle 10"/>
          <p:cNvSpPr/>
          <p:nvPr/>
        </p:nvSpPr>
        <p:spPr>
          <a:xfrm>
            <a:off x="457200" y="2011680"/>
            <a:ext cx="2560320" cy="86868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057400"/>
            <a:ext cx="2377440" cy="777240"/>
          </a:xfrm>
          <a:prstGeom prst="rect">
            <a:avLst/>
          </a:prstGeom>
          <a:noFill/>
        </p:spPr>
        <p:txBody>
          <a:bodyPr wrap="square">
            <a:spAutoFit/>
          </a:bodyPr>
          <a:lstStyle/>
          <a:p>
            <a:pPr algn="l"/>
            <a:r>
              <a:rPr xmlns:ns5="http://schemas.openxmlformats.org/wordprocessingml/2006/main" sz="1100" b="1" ns5:eastAsia="Meiryo">
                <a:solidFill>
                  <a:srgbClr val="FFFFFF"/>
                </a:solidFill>
                <a:latin typeface="Meiryo"/>
              </a:rPr>
              <a:t>医療法</a:t>
            </a:r>
          </a:p>
        </p:txBody>
      </p:sp>
      <p:sp>
        <p:nvSpPr>
          <p:cNvPr id="13" name="Rectangle 12"/>
          <p:cNvSpPr/>
          <p:nvPr/>
        </p:nvSpPr>
        <p:spPr>
          <a:xfrm>
            <a:off x="3108960" y="2011680"/>
            <a:ext cx="6217920" cy="8686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0" y="2084832"/>
            <a:ext cx="6035040" cy="731520"/>
          </a:xfrm>
          <a:prstGeom prst="rect">
            <a:avLst/>
          </a:prstGeom>
          <a:noFill/>
        </p:spPr>
        <p:txBody>
          <a:bodyPr wrap="square">
            <a:spAutoFit/>
          </a:bodyPr>
          <a:lstStyle/>
          <a:p>
            <a:pPr algn="l"/>
            <a:r>
              <a:rPr xmlns:ns6="http://schemas.openxmlformats.org/wordprocessingml/2006/main" sz="1100" b="0" ns6:eastAsia="Meiryo">
                <a:solidFill>
                  <a:srgbClr val="111111"/>
                </a:solidFill>
                <a:latin typeface="Meiryo"/>
              </a:rPr>
              <a:t>医療記録の正確な保管義務・インフォームドコンセントの確保</a:t>
            </a:r>
          </a:p>
        </p:txBody>
      </p:sp>
      <p:sp>
        <p:nvSpPr>
          <p:cNvPr id="15" name="Rectangle 14"/>
          <p:cNvSpPr/>
          <p:nvPr/>
        </p:nvSpPr>
        <p:spPr>
          <a:xfrm>
            <a:off x="457200" y="3017520"/>
            <a:ext cx="2560320" cy="8686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063240"/>
            <a:ext cx="2377440" cy="777240"/>
          </a:xfrm>
          <a:prstGeom prst="rect">
            <a:avLst/>
          </a:prstGeom>
          <a:noFill/>
        </p:spPr>
        <p:txBody>
          <a:bodyPr wrap="square">
            <a:spAutoFit/>
          </a:bodyPr>
          <a:lstStyle/>
          <a:p>
            <a:pPr algn="l"/>
            <a:r>
              <a:rPr xmlns:ns7="http://schemas.openxmlformats.org/wordprocessingml/2006/main" sz="1100" b="1" ns7:eastAsia="Meiryo">
                <a:solidFill>
                  <a:srgbClr val="FFFFFF"/>
                </a:solidFill>
                <a:latin typeface="Meiryo"/>
              </a:rPr>
              <a:t>労働施策総合推進法
（パワハラ防止法）</a:t>
            </a:r>
          </a:p>
        </p:txBody>
      </p:sp>
      <p:sp>
        <p:nvSpPr>
          <p:cNvPr id="17" name="Rectangle 16"/>
          <p:cNvSpPr/>
          <p:nvPr/>
        </p:nvSpPr>
        <p:spPr>
          <a:xfrm>
            <a:off x="3108960" y="3017520"/>
            <a:ext cx="6217920" cy="8686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0" y="3090672"/>
            <a:ext cx="6035040" cy="731520"/>
          </a:xfrm>
          <a:prstGeom prst="rect">
            <a:avLst/>
          </a:prstGeom>
          <a:noFill/>
        </p:spPr>
        <p:txBody>
          <a:bodyPr wrap="square">
            <a:spAutoFit/>
          </a:bodyPr>
          <a:lstStyle/>
          <a:p>
            <a:pPr algn="l"/>
            <a:r>
              <a:rPr xmlns:ns8="http://schemas.openxmlformats.org/wordprocessingml/2006/main" sz="1100" b="0" ns8:eastAsia="Meiryo">
                <a:solidFill>
                  <a:srgbClr val="111111"/>
                </a:solidFill>
                <a:latin typeface="Meiryo"/>
              </a:rPr>
              <a:t>職場のパワハラ・カスハラ対策が事業者の義務。相談窓口の設置が必須</a:t>
            </a:r>
          </a:p>
        </p:txBody>
      </p:sp>
      <p:sp>
        <p:nvSpPr>
          <p:cNvPr id="19" name="Rectangle 18"/>
          <p:cNvSpPr/>
          <p:nvPr/>
        </p:nvSpPr>
        <p:spPr>
          <a:xfrm>
            <a:off x="457200" y="4023360"/>
            <a:ext cx="2560320" cy="86868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069080"/>
            <a:ext cx="2377440" cy="777240"/>
          </a:xfrm>
          <a:prstGeom prst="rect">
            <a:avLst/>
          </a:prstGeom>
          <a:noFill/>
        </p:spPr>
        <p:txBody>
          <a:bodyPr wrap="square">
            <a:spAutoFit/>
          </a:bodyPr>
          <a:lstStyle/>
          <a:p>
            <a:pPr algn="l"/>
            <a:r>
              <a:rPr xmlns:ns9="http://schemas.openxmlformats.org/wordprocessingml/2006/main" sz="1100" b="1" ns9:eastAsia="Meiryo">
                <a:solidFill>
                  <a:srgbClr val="FFFFFF"/>
                </a:solidFill>
                <a:latin typeface="Meiryo"/>
              </a:rPr>
              <a:t>医師法・保健師助産師看護師法</a:t>
            </a:r>
          </a:p>
        </p:txBody>
      </p:sp>
      <p:sp>
        <p:nvSpPr>
          <p:cNvPr id="21" name="Rectangle 20"/>
          <p:cNvSpPr/>
          <p:nvPr/>
        </p:nvSpPr>
        <p:spPr>
          <a:xfrm>
            <a:off x="3108960" y="4023360"/>
            <a:ext cx="6217920" cy="8686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0" y="4096512"/>
            <a:ext cx="6035040" cy="731520"/>
          </a:xfrm>
          <a:prstGeom prst="rect">
            <a:avLst/>
          </a:prstGeom>
          <a:noFill/>
        </p:spPr>
        <p:txBody>
          <a:bodyPr wrap="square">
            <a:spAutoFit/>
          </a:bodyPr>
          <a:lstStyle/>
          <a:p>
            <a:pPr algn="l"/>
            <a:r>
              <a:rPr xmlns:ns10="http://schemas.openxmlformats.org/wordprocessingml/2006/main" sz="1100" b="0" ns10:eastAsia="Meiryo">
                <a:solidFill>
                  <a:srgbClr val="111111"/>
                </a:solidFill>
                <a:latin typeface="Meiryo"/>
              </a:rPr>
              <a:t>守秘義務（業務で知った情報を漏らしてはならない）。退職後も継続</a:t>
            </a:r>
          </a:p>
        </p:txBody>
      </p:sp>
      <p:sp>
        <p:nvSpPr>
          <p:cNvPr id="23" name="Rectangle 22"/>
          <p:cNvSpPr/>
          <p:nvPr/>
        </p:nvSpPr>
        <p:spPr>
          <a:xfrm>
            <a:off x="457200" y="5029200"/>
            <a:ext cx="2560320" cy="8686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074920"/>
            <a:ext cx="2377440" cy="777240"/>
          </a:xfrm>
          <a:prstGeom prst="rect">
            <a:avLst/>
          </a:prstGeom>
          <a:noFill/>
        </p:spPr>
        <p:txBody>
          <a:bodyPr wrap="square">
            <a:spAutoFit/>
          </a:bodyPr>
          <a:lstStyle/>
          <a:p>
            <a:pPr algn="l"/>
            <a:r>
              <a:rPr xmlns:ns11="http://schemas.openxmlformats.org/wordprocessingml/2006/main" sz="1100" b="1" ns11:eastAsia="Meiryo">
                <a:solidFill>
                  <a:srgbClr val="FFFFFF"/>
                </a:solidFill>
                <a:latin typeface="Meiryo"/>
              </a:rPr>
              <a:t>不正競争防止法</a:t>
            </a:r>
          </a:p>
        </p:txBody>
      </p:sp>
      <p:sp>
        <p:nvSpPr>
          <p:cNvPr id="25" name="Rectangle 24"/>
          <p:cNvSpPr/>
          <p:nvPr/>
        </p:nvSpPr>
        <p:spPr>
          <a:xfrm>
            <a:off x="3108960" y="5029200"/>
            <a:ext cx="6217920" cy="8686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0" y="5102352"/>
            <a:ext cx="6035040" cy="731520"/>
          </a:xfrm>
          <a:prstGeom prst="rect">
            <a:avLst/>
          </a:prstGeom>
          <a:noFill/>
        </p:spPr>
        <p:txBody>
          <a:bodyPr wrap="square">
            <a:spAutoFit/>
          </a:bodyPr>
          <a:lstStyle/>
          <a:p>
            <a:pPr algn="l"/>
            <a:r>
              <a:rPr xmlns:ns12="http://schemas.openxmlformats.org/wordprocessingml/2006/main" sz="1100" b="0" ns12:eastAsia="Meiryo">
                <a:solidFill>
                  <a:srgbClr val="111111"/>
                </a:solidFill>
                <a:latin typeface="Meiryo"/>
              </a:rPr>
              <a:t>院内の業務秘密の持ち出し・漏洩の禁止</a:t>
            </a:r>
          </a:p>
        </p:txBody>
      </p:sp>
      <p:sp>
        <p:nvSpPr>
          <p:cNvPr id="27" name="Rectangle 26"/>
          <p:cNvSpPr/>
          <p:nvPr/>
        </p:nvSpPr>
        <p:spPr>
          <a:xfrm>
            <a:off x="457200" y="5989320"/>
            <a:ext cx="11247120" cy="6858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053328"/>
            <a:ext cx="10972800" cy="548640"/>
          </a:xfrm>
          <a:prstGeom prst="rect">
            <a:avLst/>
          </a:prstGeom>
          <a:noFill/>
        </p:spPr>
        <p:txBody>
          <a:bodyPr wrap="square">
            <a:spAutoFit/>
          </a:bodyPr>
          <a:lstStyle/>
          <a:p>
            <a:pPr algn="l"/>
            <a:r>
              <a:rPr xmlns:ns13="http://schemas.openxmlformats.org/wordprocessingml/2006/main" sz="1200" b="1" ns13:eastAsia="Meiryo">
                <a:solidFill>
                  <a:srgbClr val="FFFFFF"/>
                </a:solidFill>
                <a:latin typeface="Meiryo"/>
              </a:rPr>
              <a:t>違反した場合 → 【刑事罰】懲役・罰金　【行政処分】免許停止・取り消し　【民事賠償】損害賠償請求</a:t>
            </a:r>
          </a:p>
        </p:txBody>
      </p:sp>
      <p:sp>
        <p:nvSpPr>
          <p:cNvPr id="29" name="TextBox 28"/>
          <p:cNvSpPr txBox="1"/>
          <p:nvPr/>
        </p:nvSpPr>
        <p:spPr>
          <a:xfrm>
            <a:off x="11640312" y="6492240"/>
            <a:ext cx="457200" cy="320040"/>
          </a:xfrm>
          <a:prstGeom prst="rect">
            <a:avLst/>
          </a:prstGeom>
          <a:noFill/>
        </p:spPr>
        <p:txBody>
          <a:bodyPr wrap="square">
            <a:spAutoFit/>
          </a:bodyPr>
          <a:lstStyle/>
          <a:p>
            <a:pPr algn="r"/>
            <a:r>
              <a:rPr xmlns:ns14="http://schemas.openxmlformats.org/wordprocessingml/2006/main" sz="1000" b="0" ns14:eastAsia="Meiryo">
                <a:solidFill>
                  <a:srgbClr val="BBBBBB"/>
                </a:solidFill>
                <a:latin typeface="Meiry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548640"/>
          </a:xfrm>
          <a:prstGeom prst="rect">
            <a:avLst/>
          </a:prstGeom>
          <a:noFill/>
        </p:spPr>
        <p:txBody>
          <a:bodyPr wrap="square">
            <a:spAutoFit/>
          </a:bodyPr>
          <a:lstStyle/>
          <a:p>
            <a:pPr algn="l"/>
            <a:r>
              <a:rPr xmlns:ns0="http://schemas.openxmlformats.org/wordprocessingml/2006/main" sz="2400" b="1" ns0:eastAsia="Meiryo">
                <a:solidFill>
                  <a:srgbClr val="111111"/>
                </a:solidFill>
                <a:latin typeface="Meiryo"/>
              </a:rPr>
              <a:t>03　迷ったら「報告・相談」が最優先</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COMPLIANCE</a:t>
            </a:r>
          </a:p>
        </p:txBody>
      </p:sp>
      <p:sp>
        <p:nvSpPr>
          <p:cNvPr id="5" name="Rectangle 4"/>
          <p:cNvSpPr/>
          <p:nvPr/>
        </p:nvSpPr>
        <p:spPr>
          <a:xfrm>
            <a:off x="457200" y="1188720"/>
            <a:ext cx="822960" cy="10058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822960" cy="640080"/>
          </a:xfrm>
          <a:prstGeom prst="rect">
            <a:avLst/>
          </a:prstGeom>
          <a:noFill/>
        </p:spPr>
        <p:txBody>
          <a:bodyPr wrap="square">
            <a:spAutoFit/>
          </a:bodyPr>
          <a:lstStyle/>
          <a:p>
            <a:pPr algn="ctr"/>
            <a:r>
              <a:rPr xmlns:ns2="http://schemas.openxmlformats.org/wordprocessingml/2006/main" sz="2800" b="1" ns2:eastAsia="Meiryo">
                <a:solidFill>
                  <a:srgbClr val="FFFFFF"/>
                </a:solidFill>
                <a:latin typeface="Meiryo"/>
              </a:rPr>
              <a:t>1</a:t>
            </a:r>
          </a:p>
        </p:txBody>
      </p:sp>
      <p:sp>
        <p:nvSpPr>
          <p:cNvPr id="7" name="Rectangle 6"/>
          <p:cNvSpPr/>
          <p:nvPr/>
        </p:nvSpPr>
        <p:spPr>
          <a:xfrm>
            <a:off x="1371600" y="1188720"/>
            <a:ext cx="10332720" cy="10058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1444752"/>
            <a:ext cx="10058400" cy="502920"/>
          </a:xfrm>
          <a:prstGeom prst="rect">
            <a:avLst/>
          </a:prstGeom>
          <a:noFill/>
        </p:spPr>
        <p:txBody>
          <a:bodyPr wrap="square">
            <a:spAutoFit/>
          </a:bodyPr>
          <a:lstStyle/>
          <a:p>
            <a:pPr algn="l"/>
            <a:r>
              <a:rPr xmlns:ns3="http://schemas.openxmlformats.org/wordprocessingml/2006/main" sz="1500" b="0" ns3:eastAsia="Meiryo">
                <a:solidFill>
                  <a:srgbClr val="111111"/>
                </a:solidFill>
                <a:latin typeface="Meiryo"/>
              </a:rPr>
              <a:t>「これはまずいかも？」と思ったら、まず直属の上長へ報告する</a:t>
            </a:r>
          </a:p>
        </p:txBody>
      </p:sp>
      <p:sp>
        <p:nvSpPr>
          <p:cNvPr id="9" name="Rectangle 8"/>
          <p:cNvSpPr/>
          <p:nvPr/>
        </p:nvSpPr>
        <p:spPr>
          <a:xfrm>
            <a:off x="457200" y="2468880"/>
            <a:ext cx="822960" cy="10058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51760"/>
            <a:ext cx="822960" cy="640080"/>
          </a:xfrm>
          <a:prstGeom prst="rect">
            <a:avLst/>
          </a:prstGeom>
          <a:noFill/>
        </p:spPr>
        <p:txBody>
          <a:bodyPr wrap="square">
            <a:spAutoFit/>
          </a:bodyPr>
          <a:lstStyle/>
          <a:p>
            <a:pPr algn="ctr"/>
            <a:r>
              <a:rPr xmlns:ns4="http://schemas.openxmlformats.org/wordprocessingml/2006/main" sz="2800" b="1" ns4:eastAsia="Meiryo">
                <a:solidFill>
                  <a:srgbClr val="FFFFFF"/>
                </a:solidFill>
                <a:latin typeface="Meiryo"/>
              </a:rPr>
              <a:t>2</a:t>
            </a:r>
          </a:p>
        </p:txBody>
      </p:sp>
      <p:sp>
        <p:nvSpPr>
          <p:cNvPr id="11" name="Rectangle 10"/>
          <p:cNvSpPr/>
          <p:nvPr/>
        </p:nvSpPr>
        <p:spPr>
          <a:xfrm>
            <a:off x="1371600" y="2468880"/>
            <a:ext cx="10332720" cy="10058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4480" y="2724912"/>
            <a:ext cx="10058400" cy="502920"/>
          </a:xfrm>
          <a:prstGeom prst="rect">
            <a:avLst/>
          </a:prstGeom>
          <a:noFill/>
        </p:spPr>
        <p:txBody>
          <a:bodyPr wrap="square">
            <a:spAutoFit/>
          </a:bodyPr>
          <a:lstStyle/>
          <a:p>
            <a:pPr algn="l"/>
            <a:r>
              <a:rPr xmlns:ns5="http://schemas.openxmlformats.org/wordprocessingml/2006/main" sz="1500" b="0" ns5:eastAsia="Meiryo">
                <a:solidFill>
                  <a:srgbClr val="111111"/>
                </a:solidFill>
                <a:latin typeface="Meiryo"/>
              </a:rPr>
              <a:t>上長への相談が難しい場合は院内コンプライアンス相談窓口を利用する</a:t>
            </a:r>
          </a:p>
        </p:txBody>
      </p:sp>
      <p:sp>
        <p:nvSpPr>
          <p:cNvPr id="13" name="Rectangle 12"/>
          <p:cNvSpPr/>
          <p:nvPr/>
        </p:nvSpPr>
        <p:spPr>
          <a:xfrm>
            <a:off x="457200" y="3749039"/>
            <a:ext cx="822960" cy="10058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931919"/>
            <a:ext cx="822960" cy="640080"/>
          </a:xfrm>
          <a:prstGeom prst="rect">
            <a:avLst/>
          </a:prstGeom>
          <a:noFill/>
        </p:spPr>
        <p:txBody>
          <a:bodyPr wrap="square">
            <a:spAutoFit/>
          </a:bodyPr>
          <a:lstStyle/>
          <a:p>
            <a:pPr algn="ctr"/>
            <a:r>
              <a:rPr xmlns:ns6="http://schemas.openxmlformats.org/wordprocessingml/2006/main" sz="2800" b="1" ns6:eastAsia="Meiryo">
                <a:solidFill>
                  <a:srgbClr val="FFFFFF"/>
                </a:solidFill>
                <a:latin typeface="Meiryo"/>
              </a:rPr>
              <a:t>3</a:t>
            </a:r>
          </a:p>
        </p:txBody>
      </p:sp>
      <p:sp>
        <p:nvSpPr>
          <p:cNvPr id="15" name="Rectangle 14"/>
          <p:cNvSpPr/>
          <p:nvPr/>
        </p:nvSpPr>
        <p:spPr>
          <a:xfrm>
            <a:off x="1371600" y="3749039"/>
            <a:ext cx="10332720" cy="10058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54480" y="4005071"/>
            <a:ext cx="10058400" cy="502920"/>
          </a:xfrm>
          <a:prstGeom prst="rect">
            <a:avLst/>
          </a:prstGeom>
          <a:noFill/>
        </p:spPr>
        <p:txBody>
          <a:bodyPr wrap="square">
            <a:spAutoFit/>
          </a:bodyPr>
          <a:lstStyle/>
          <a:p>
            <a:pPr algn="l"/>
            <a:r>
              <a:rPr xmlns:ns7="http://schemas.openxmlformats.org/wordprocessingml/2006/main" sz="1500" b="0" ns7:eastAsia="Meiryo">
                <a:solidFill>
                  <a:srgbClr val="111111"/>
                </a:solidFill>
                <a:latin typeface="Meiryo"/>
              </a:rPr>
              <a:t>隠さない・後回しにしない —— 早期対応が被害を最小化する</a:t>
            </a:r>
          </a:p>
        </p:txBody>
      </p:sp>
      <p:sp>
        <p:nvSpPr>
          <p:cNvPr id="17" name="Rectangle 16"/>
          <p:cNvSpPr/>
          <p:nvPr/>
        </p:nvSpPr>
        <p:spPr>
          <a:xfrm>
            <a:off x="457200" y="5029200"/>
            <a:ext cx="11247120" cy="16459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5029200"/>
            <a:ext cx="3200400" cy="254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074920"/>
            <a:ext cx="10972800" cy="365760"/>
          </a:xfrm>
          <a:prstGeom prst="rect">
            <a:avLst/>
          </a:prstGeom>
          <a:noFill/>
        </p:spPr>
        <p:txBody>
          <a:bodyPr wrap="square">
            <a:spAutoFit/>
          </a:bodyPr>
          <a:lstStyle/>
          <a:p>
            <a:pPr algn="l"/>
            <a:r>
              <a:rPr xmlns:ns8="http://schemas.openxmlformats.org/wordprocessingml/2006/main" sz="1300" b="1" ns8:eastAsia="Meiryo">
                <a:solidFill>
                  <a:srgbClr val="111111"/>
                </a:solidFill>
                <a:latin typeface="Meiryo"/>
              </a:rPr>
              <a:t>院内相談窓口</a:t>
            </a:r>
          </a:p>
        </p:txBody>
      </p:sp>
      <p:sp>
        <p:nvSpPr>
          <p:cNvPr id="20" name="TextBox 19"/>
          <p:cNvSpPr txBox="1"/>
          <p:nvPr/>
        </p:nvSpPr>
        <p:spPr>
          <a:xfrm>
            <a:off x="640080" y="5532120"/>
            <a:ext cx="10972800" cy="914400"/>
          </a:xfrm>
          <a:prstGeom prst="rect">
            <a:avLst/>
          </a:prstGeom>
          <a:noFill/>
        </p:spPr>
        <p:txBody>
          <a:bodyPr wrap="square">
            <a:spAutoFit/>
          </a:bodyPr>
          <a:lstStyle/>
          <a:p>
            <a:pPr algn="l"/>
            <a:r>
              <a:rPr xmlns:ns9="http://schemas.openxmlformats.org/wordprocessingml/2006/main" sz="1300" b="0" ns9:eastAsia="Meiryo">
                <a:solidFill>
                  <a:srgbClr val="111111"/>
                </a:solidFill>
                <a:latin typeface="Meiryo"/>
              </a:rPr>
              <a:t>個人情報・コンプライアンス　担当部署：_______________　内線：___________
ハラスメント関連　　　　　　担当部署：_______________　内線：___________</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xmlns:ns10="http://schemas.openxmlformats.org/wordprocessingml/2006/main" sz="1000" b="0" ns10:eastAsia="Meiryo">
                <a:solidFill>
                  <a:srgbClr val="BBBBBB"/>
                </a:solidFill>
                <a:latin typeface="Meiry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548640"/>
          </a:xfrm>
          <a:prstGeom prst="rect">
            <a:avLst/>
          </a:prstGeom>
          <a:noFill/>
        </p:spPr>
        <p:txBody>
          <a:bodyPr wrap="square">
            <a:spAutoFit/>
          </a:bodyPr>
          <a:lstStyle/>
          <a:p>
            <a:pPr algn="l"/>
            <a:r>
              <a:rPr xmlns:ns0="http://schemas.openxmlformats.org/wordprocessingml/2006/main" sz="2600" b="1" ns0:eastAsia="Meiryo">
                <a:solidFill>
                  <a:srgbClr val="111111"/>
                </a:solidFill>
                <a:latin typeface="Meiryo"/>
              </a:rPr>
              <a:t>まとめ　— 3つのメッセージ</a:t>
            </a:r>
          </a:p>
        </p:txBody>
      </p:sp>
      <p:sp>
        <p:nvSpPr>
          <p:cNvPr id="4" name="Rectangle 3"/>
          <p:cNvSpPr/>
          <p:nvPr/>
        </p:nvSpPr>
        <p:spPr>
          <a:xfrm>
            <a:off x="457200" y="1188720"/>
            <a:ext cx="1097280" cy="13716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63040"/>
            <a:ext cx="1097280" cy="822960"/>
          </a:xfrm>
          <a:prstGeom prst="rect">
            <a:avLst/>
          </a:prstGeom>
          <a:noFill/>
        </p:spPr>
        <p:txBody>
          <a:bodyPr wrap="square">
            <a:spAutoFit/>
          </a:bodyPr>
          <a:lstStyle/>
          <a:p>
            <a:pPr algn="ctr"/>
            <a:r>
              <a:rPr xmlns:ns1="http://schemas.openxmlformats.org/wordprocessingml/2006/main" sz="2600" b="1" ns1:eastAsia="Meiryo">
                <a:solidFill>
                  <a:srgbClr val="FFFFFF"/>
                </a:solidFill>
                <a:latin typeface="Meiryo"/>
              </a:rPr>
              <a:t>01</a:t>
            </a:r>
          </a:p>
        </p:txBody>
      </p:sp>
      <p:sp>
        <p:nvSpPr>
          <p:cNvPr id="6" name="Rectangle 5"/>
          <p:cNvSpPr/>
          <p:nvPr/>
        </p:nvSpPr>
        <p:spPr>
          <a:xfrm>
            <a:off x="1645920" y="1188720"/>
            <a:ext cx="10058400" cy="13716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280160"/>
            <a:ext cx="9784080" cy="502920"/>
          </a:xfrm>
          <a:prstGeom prst="rect">
            <a:avLst/>
          </a:prstGeom>
          <a:noFill/>
        </p:spPr>
        <p:txBody>
          <a:bodyPr wrap="square">
            <a:spAutoFit/>
          </a:bodyPr>
          <a:lstStyle/>
          <a:p>
            <a:pPr algn="l"/>
            <a:r>
              <a:rPr xmlns:ns2="http://schemas.openxmlformats.org/wordprocessingml/2006/main" sz="1700" b="1" ns2:eastAsia="Meiryo">
                <a:solidFill>
                  <a:srgbClr val="111111"/>
                </a:solidFill>
                <a:latin typeface="Meiryo"/>
              </a:rPr>
              <a:t>患者情報はあなたが「預かっている」もの</a:t>
            </a:r>
          </a:p>
        </p:txBody>
      </p:sp>
      <p:sp>
        <p:nvSpPr>
          <p:cNvPr id="8" name="TextBox 7"/>
          <p:cNvSpPr txBox="1"/>
          <p:nvPr/>
        </p:nvSpPr>
        <p:spPr>
          <a:xfrm>
            <a:off x="1828800" y="1874520"/>
            <a:ext cx="9784080" cy="594360"/>
          </a:xfrm>
          <a:prstGeom prst="rect">
            <a:avLst/>
          </a:prstGeom>
          <a:noFill/>
        </p:spPr>
        <p:txBody>
          <a:bodyPr wrap="square">
            <a:spAutoFit/>
          </a:bodyPr>
          <a:lstStyle/>
          <a:p>
            <a:pPr algn="l"/>
            <a:r>
              <a:rPr xmlns:ns3="http://schemas.openxmlformats.org/wordprocessingml/2006/main" sz="1400" b="0" ns3:eastAsia="Meiryo">
                <a:solidFill>
                  <a:srgbClr val="555555"/>
                </a:solidFill>
                <a:latin typeface="Meiryo"/>
              </a:rPr>
              <a:t>慎重に、目的の範囲内だけで扱ってください。</a:t>
            </a:r>
          </a:p>
        </p:txBody>
      </p:sp>
      <p:sp>
        <p:nvSpPr>
          <p:cNvPr id="9" name="Rectangle 8"/>
          <p:cNvSpPr/>
          <p:nvPr/>
        </p:nvSpPr>
        <p:spPr>
          <a:xfrm>
            <a:off x="457200" y="2834640"/>
            <a:ext cx="1097280" cy="13716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108960"/>
            <a:ext cx="1097280" cy="822960"/>
          </a:xfrm>
          <a:prstGeom prst="rect">
            <a:avLst/>
          </a:prstGeom>
          <a:noFill/>
        </p:spPr>
        <p:txBody>
          <a:bodyPr wrap="square">
            <a:spAutoFit/>
          </a:bodyPr>
          <a:lstStyle/>
          <a:p>
            <a:pPr algn="ctr"/>
            <a:r>
              <a:rPr xmlns:ns4="http://schemas.openxmlformats.org/wordprocessingml/2006/main" sz="2600" b="1" ns4:eastAsia="Meiryo">
                <a:solidFill>
                  <a:srgbClr val="FFFFFF"/>
                </a:solidFill>
                <a:latin typeface="Meiryo"/>
              </a:rPr>
              <a:t>02</a:t>
            </a:r>
          </a:p>
        </p:txBody>
      </p:sp>
      <p:sp>
        <p:nvSpPr>
          <p:cNvPr id="11" name="Rectangle 10"/>
          <p:cNvSpPr/>
          <p:nvPr/>
        </p:nvSpPr>
        <p:spPr>
          <a:xfrm>
            <a:off x="1645920" y="2834640"/>
            <a:ext cx="10058400" cy="13716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2926080"/>
            <a:ext cx="9784080" cy="502920"/>
          </a:xfrm>
          <a:prstGeom prst="rect">
            <a:avLst/>
          </a:prstGeom>
          <a:noFill/>
        </p:spPr>
        <p:txBody>
          <a:bodyPr wrap="square">
            <a:spAutoFit/>
          </a:bodyPr>
          <a:lstStyle/>
          <a:p>
            <a:pPr algn="l"/>
            <a:r>
              <a:rPr xmlns:ns5="http://schemas.openxmlformats.org/wordprocessingml/2006/main" sz="1700" b="1" ns5:eastAsia="Meiryo">
                <a:solidFill>
                  <a:srgbClr val="111111"/>
                </a:solidFill>
                <a:latin typeface="Meiryo"/>
              </a:rPr>
              <a:t>ハラスメントは職場の問題</a:t>
            </a:r>
          </a:p>
        </p:txBody>
      </p:sp>
      <p:sp>
        <p:nvSpPr>
          <p:cNvPr id="13" name="TextBox 12"/>
          <p:cNvSpPr txBox="1"/>
          <p:nvPr/>
        </p:nvSpPr>
        <p:spPr>
          <a:xfrm>
            <a:off x="1828800" y="3520440"/>
            <a:ext cx="9784080" cy="594360"/>
          </a:xfrm>
          <a:prstGeom prst="rect">
            <a:avLst/>
          </a:prstGeom>
          <a:noFill/>
        </p:spPr>
        <p:txBody>
          <a:bodyPr wrap="square">
            <a:spAutoFit/>
          </a:bodyPr>
          <a:lstStyle/>
          <a:p>
            <a:pPr algn="l"/>
            <a:r>
              <a:rPr xmlns:ns6="http://schemas.openxmlformats.org/wordprocessingml/2006/main" sz="1400" b="0" ns6:eastAsia="Meiryo">
                <a:solidFill>
                  <a:srgbClr val="555555"/>
                </a:solidFill>
                <a:latin typeface="Meiryo"/>
              </a:rPr>
              <a:t>特にカスハラは一人で抱え込まず、必ず組織で対応してください。</a:t>
            </a:r>
          </a:p>
        </p:txBody>
      </p:sp>
      <p:sp>
        <p:nvSpPr>
          <p:cNvPr id="14" name="Rectangle 13"/>
          <p:cNvSpPr/>
          <p:nvPr/>
        </p:nvSpPr>
        <p:spPr>
          <a:xfrm>
            <a:off x="457200" y="4480560"/>
            <a:ext cx="1097280" cy="13716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754880"/>
            <a:ext cx="1097280" cy="822960"/>
          </a:xfrm>
          <a:prstGeom prst="rect">
            <a:avLst/>
          </a:prstGeom>
          <a:noFill/>
        </p:spPr>
        <p:txBody>
          <a:bodyPr wrap="square">
            <a:spAutoFit/>
          </a:bodyPr>
          <a:lstStyle/>
          <a:p>
            <a:pPr algn="ctr"/>
            <a:r>
              <a:rPr xmlns:ns7="http://schemas.openxmlformats.org/wordprocessingml/2006/main" sz="2600" b="1" ns7:eastAsia="Meiryo">
                <a:solidFill>
                  <a:srgbClr val="FFFFFF"/>
                </a:solidFill>
                <a:latin typeface="Meiryo"/>
              </a:rPr>
              <a:t>03</a:t>
            </a:r>
          </a:p>
        </p:txBody>
      </p:sp>
      <p:sp>
        <p:nvSpPr>
          <p:cNvPr id="16" name="Rectangle 15"/>
          <p:cNvSpPr/>
          <p:nvPr/>
        </p:nvSpPr>
        <p:spPr>
          <a:xfrm>
            <a:off x="1645920" y="4480560"/>
            <a:ext cx="10058400" cy="13716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0" y="4572000"/>
            <a:ext cx="9784080" cy="502920"/>
          </a:xfrm>
          <a:prstGeom prst="rect">
            <a:avLst/>
          </a:prstGeom>
          <a:noFill/>
        </p:spPr>
        <p:txBody>
          <a:bodyPr wrap="square">
            <a:spAutoFit/>
          </a:bodyPr>
          <a:lstStyle/>
          <a:p>
            <a:pPr algn="l"/>
            <a:r>
              <a:rPr xmlns:ns8="http://schemas.openxmlformats.org/wordprocessingml/2006/main" sz="1700" b="1" ns8:eastAsia="Meiryo">
                <a:solidFill>
                  <a:srgbClr val="111111"/>
                </a:solidFill>
                <a:latin typeface="Meiryo"/>
              </a:rPr>
              <a:t>迷ったら報告</a:t>
            </a:r>
          </a:p>
        </p:txBody>
      </p:sp>
      <p:sp>
        <p:nvSpPr>
          <p:cNvPr id="18" name="TextBox 17"/>
          <p:cNvSpPr txBox="1"/>
          <p:nvPr/>
        </p:nvSpPr>
        <p:spPr>
          <a:xfrm>
            <a:off x="1828800" y="5166360"/>
            <a:ext cx="9784080" cy="594360"/>
          </a:xfrm>
          <a:prstGeom prst="rect">
            <a:avLst/>
          </a:prstGeom>
          <a:noFill/>
        </p:spPr>
        <p:txBody>
          <a:bodyPr wrap="square">
            <a:spAutoFit/>
          </a:bodyPr>
          <a:lstStyle/>
          <a:p>
            <a:pPr algn="l"/>
            <a:r>
              <a:rPr xmlns:ns9="http://schemas.openxmlformats.org/wordprocessingml/2006/main" sz="1400" b="0" ns9:eastAsia="Meiryo">
                <a:solidFill>
                  <a:srgbClr val="555555"/>
                </a:solidFill>
                <a:latin typeface="Meiryo"/>
              </a:rPr>
              <a:t>隠さないことが、自分と患者と病院を守ります。</a:t>
            </a:r>
          </a:p>
        </p:txBody>
      </p:sp>
      <p:sp>
        <p:nvSpPr>
          <p:cNvPr id="19" name="Rectangle 18"/>
          <p:cNvSpPr/>
          <p:nvPr/>
        </p:nvSpPr>
        <p:spPr>
          <a:xfrm>
            <a:off x="457200" y="5943600"/>
            <a:ext cx="11247120" cy="7315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007608"/>
            <a:ext cx="10972800" cy="594360"/>
          </a:xfrm>
          <a:prstGeom prst="rect">
            <a:avLst/>
          </a:prstGeom>
          <a:noFill/>
        </p:spPr>
        <p:txBody>
          <a:bodyPr wrap="square">
            <a:spAutoFit/>
          </a:bodyPr>
          <a:lstStyle/>
          <a:p>
            <a:pPr algn="l"/>
            <a:r>
              <a:rPr xmlns:ns10="http://schemas.openxmlformats.org/wordprocessingml/2006/main" sz="1200" b="0" ns10:eastAsia="Meiryo">
                <a:solidFill>
                  <a:srgbClr val="FFFFFF"/>
                </a:solidFill>
                <a:latin typeface="Meiryo"/>
              </a:rPr>
              <a:t>研修後はセルフチェックリスト（配布資料 最終ページ）でご自身の行動を振り返ってください</a:t>
            </a:r>
          </a:p>
        </p:txBody>
      </p:sp>
      <p:sp>
        <p:nvSpPr>
          <p:cNvPr id="21" name="TextBox 20"/>
          <p:cNvSpPr txBox="1"/>
          <p:nvPr/>
        </p:nvSpPr>
        <p:spPr>
          <a:xfrm>
            <a:off x="11640312" y="6492240"/>
            <a:ext cx="457200" cy="320040"/>
          </a:xfrm>
          <a:prstGeom prst="rect">
            <a:avLst/>
          </a:prstGeom>
          <a:noFill/>
        </p:spPr>
        <p:txBody>
          <a:bodyPr wrap="square">
            <a:spAutoFit/>
          </a:bodyPr>
          <a:lstStyle/>
          <a:p>
            <a:pPr algn="r"/>
            <a:r>
              <a:rPr xmlns:ns11="http://schemas.openxmlformats.org/wordprocessingml/2006/main" sz="1000" b="0" ns11:eastAsia="Meiryo">
                <a:solidFill>
                  <a:srgbClr val="BBBBBB"/>
                </a:solidFill>
                <a:latin typeface="Meiry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548640"/>
          </a:xfrm>
          <a:prstGeom prst="rect">
            <a:avLst/>
          </a:prstGeom>
          <a:noFill/>
        </p:spPr>
        <p:txBody>
          <a:bodyPr wrap="square">
            <a:spAutoFit/>
          </a:bodyPr>
          <a:lstStyle/>
          <a:p>
            <a:pPr algn="l"/>
            <a:r>
              <a:rPr xmlns:ns0="http://schemas.openxmlformats.org/wordprocessingml/2006/main" sz="2600" b="1" ns0:eastAsia="Meiryo">
                <a:solidFill>
                  <a:srgbClr val="111111"/>
                </a:solidFill>
                <a:latin typeface="Meiryo"/>
              </a:rPr>
              <a:t>セルフチェックリスト</a:t>
            </a:r>
          </a:p>
        </p:txBody>
      </p:sp>
      <p:sp>
        <p:nvSpPr>
          <p:cNvPr id="4" name="TextBox 3"/>
          <p:cNvSpPr txBox="1"/>
          <p:nvPr/>
        </p:nvSpPr>
        <p:spPr>
          <a:xfrm>
            <a:off x="9445752" y="91440"/>
            <a:ext cx="2560320" cy="274320"/>
          </a:xfrm>
          <a:prstGeom prst="rect">
            <a:avLst/>
          </a:prstGeom>
          <a:noFill/>
        </p:spPr>
        <p:txBody>
          <a:bodyPr wrap="square">
            <a:spAutoFit/>
          </a:bodyPr>
          <a:lstStyle/>
          <a:p>
            <a:pPr algn="r"/>
            <a:r>
              <a:rPr xmlns:ns1="http://schemas.openxmlformats.org/wordprocessingml/2006/main" sz="900" b="0" ns1:eastAsia="Meiryo">
                <a:solidFill>
                  <a:srgbClr val="555555"/>
                </a:solidFill>
                <a:latin typeface="Meiryo"/>
              </a:rPr>
              <a:t>SELF CHECK</a:t>
            </a:r>
          </a:p>
        </p:txBody>
      </p:sp>
      <p:sp>
        <p:nvSpPr>
          <p:cNvPr id="5" name="Rectangle 4"/>
          <p:cNvSpPr/>
          <p:nvPr/>
        </p:nvSpPr>
        <p:spPr>
          <a:xfrm>
            <a:off x="457200" y="1005840"/>
            <a:ext cx="3566160" cy="4572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3383280" cy="365760"/>
          </a:xfrm>
          <a:prstGeom prst="rect">
            <a:avLst/>
          </a:prstGeom>
          <a:noFill/>
        </p:spPr>
        <p:txBody>
          <a:bodyPr wrap="square">
            <a:spAutoFit/>
          </a:bodyPr>
          <a:lstStyle/>
          <a:p>
            <a:pPr algn="l"/>
            <a:r>
              <a:rPr xmlns:ns2="http://schemas.openxmlformats.org/wordprocessingml/2006/main" sz="1200" b="1" ns2:eastAsia="Meiryo">
                <a:solidFill>
                  <a:srgbClr val="FFFFFF"/>
                </a:solidFill>
                <a:latin typeface="Meiryo"/>
              </a:rPr>
              <a:t>個人情報保護</a:t>
            </a:r>
          </a:p>
        </p:txBody>
      </p:sp>
      <p:sp>
        <p:nvSpPr>
          <p:cNvPr id="7" name="Rectangle 6"/>
          <p:cNvSpPr/>
          <p:nvPr/>
        </p:nvSpPr>
        <p:spPr>
          <a:xfrm>
            <a:off x="457200" y="160020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5623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64792"/>
            <a:ext cx="2834640" cy="594360"/>
          </a:xfrm>
          <a:prstGeom prst="rect">
            <a:avLst/>
          </a:prstGeom>
          <a:noFill/>
        </p:spPr>
        <p:txBody>
          <a:bodyPr wrap="square">
            <a:spAutoFit/>
          </a:bodyPr>
          <a:lstStyle/>
          <a:p>
            <a:pPr algn="l"/>
            <a:r>
              <a:rPr xmlns:ns3="http://schemas.openxmlformats.org/wordprocessingml/2006/main" sz="1100" b="0" ns3:eastAsia="Meiryo">
                <a:solidFill>
                  <a:srgbClr val="111111"/>
                </a:solidFill>
                <a:latin typeface="Meiryo"/>
              </a:rPr>
              <a:t>患者情報を院外・廊下で話していない</a:t>
            </a:r>
          </a:p>
        </p:txBody>
      </p:sp>
      <p:sp>
        <p:nvSpPr>
          <p:cNvPr id="10" name="Rectangle 9"/>
          <p:cNvSpPr/>
          <p:nvPr/>
        </p:nvSpPr>
        <p:spPr>
          <a:xfrm>
            <a:off x="457200" y="269748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95351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862072"/>
            <a:ext cx="2834640" cy="594360"/>
          </a:xfrm>
          <a:prstGeom prst="rect">
            <a:avLst/>
          </a:prstGeom>
          <a:noFill/>
        </p:spPr>
        <p:txBody>
          <a:bodyPr wrap="square">
            <a:spAutoFit/>
          </a:bodyPr>
          <a:lstStyle/>
          <a:p>
            <a:pPr algn="l"/>
            <a:r>
              <a:rPr xmlns:ns4="http://schemas.openxmlformats.org/wordprocessingml/2006/main" sz="1100" b="0" ns4:eastAsia="Meiryo">
                <a:solidFill>
                  <a:srgbClr val="111111"/>
                </a:solidFill>
                <a:latin typeface="Meiryo"/>
              </a:rPr>
              <a:t>私用スマホで患者情報を撮影・保存していない</a:t>
            </a:r>
          </a:p>
        </p:txBody>
      </p:sp>
      <p:sp>
        <p:nvSpPr>
          <p:cNvPr id="13" name="Rectangle 12"/>
          <p:cNvSpPr/>
          <p:nvPr/>
        </p:nvSpPr>
        <p:spPr>
          <a:xfrm>
            <a:off x="457200" y="379476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405079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959352"/>
            <a:ext cx="2834640" cy="594360"/>
          </a:xfrm>
          <a:prstGeom prst="rect">
            <a:avLst/>
          </a:prstGeom>
          <a:noFill/>
        </p:spPr>
        <p:txBody>
          <a:bodyPr wrap="square">
            <a:spAutoFit/>
          </a:bodyPr>
          <a:lstStyle/>
          <a:p>
            <a:pPr algn="l"/>
            <a:r>
              <a:rPr xmlns:ns5="http://schemas.openxmlformats.org/wordprocessingml/2006/main" sz="1100" b="0" ns5:eastAsia="Meiryo">
                <a:solidFill>
                  <a:srgbClr val="111111"/>
                </a:solidFill>
                <a:latin typeface="Meiryo"/>
              </a:rPr>
              <a:t>SNS への患者関連投稿を一切していない</a:t>
            </a:r>
          </a:p>
        </p:txBody>
      </p:sp>
      <p:sp>
        <p:nvSpPr>
          <p:cNvPr id="16" name="Rectangle 15"/>
          <p:cNvSpPr/>
          <p:nvPr/>
        </p:nvSpPr>
        <p:spPr>
          <a:xfrm>
            <a:off x="457200" y="489204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514807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5056632"/>
            <a:ext cx="2834640" cy="594360"/>
          </a:xfrm>
          <a:prstGeom prst="rect">
            <a:avLst/>
          </a:prstGeom>
          <a:noFill/>
        </p:spPr>
        <p:txBody>
          <a:bodyPr wrap="square">
            <a:spAutoFit/>
          </a:bodyPr>
          <a:lstStyle/>
          <a:p>
            <a:pPr algn="l"/>
            <a:r>
              <a:rPr xmlns:ns6="http://schemas.openxmlformats.org/wordprocessingml/2006/main" sz="1100" b="0" ns6:eastAsia="Meiryo">
                <a:solidFill>
                  <a:srgbClr val="111111"/>
                </a:solidFill>
                <a:latin typeface="Meiryo"/>
              </a:rPr>
              <a:t>業務終了時に書類を施錠保管している</a:t>
            </a:r>
          </a:p>
        </p:txBody>
      </p:sp>
      <p:sp>
        <p:nvSpPr>
          <p:cNvPr id="19" name="Rectangle 18"/>
          <p:cNvSpPr/>
          <p:nvPr/>
        </p:nvSpPr>
        <p:spPr>
          <a:xfrm>
            <a:off x="4297680" y="1005840"/>
            <a:ext cx="3566160" cy="4572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1051560"/>
            <a:ext cx="3383280" cy="365760"/>
          </a:xfrm>
          <a:prstGeom prst="rect">
            <a:avLst/>
          </a:prstGeom>
          <a:noFill/>
        </p:spPr>
        <p:txBody>
          <a:bodyPr wrap="square">
            <a:spAutoFit/>
          </a:bodyPr>
          <a:lstStyle/>
          <a:p>
            <a:pPr algn="l"/>
            <a:r>
              <a:rPr xmlns:ns7="http://schemas.openxmlformats.org/wordprocessingml/2006/main" sz="1200" b="1" ns7:eastAsia="Meiryo">
                <a:solidFill>
                  <a:srgbClr val="FFFFFF"/>
                </a:solidFill>
                <a:latin typeface="Meiryo"/>
              </a:rPr>
              <a:t>ハラスメント予防</a:t>
            </a:r>
          </a:p>
        </p:txBody>
      </p:sp>
      <p:sp>
        <p:nvSpPr>
          <p:cNvPr id="21" name="Rectangle 20"/>
          <p:cNvSpPr/>
          <p:nvPr/>
        </p:nvSpPr>
        <p:spPr>
          <a:xfrm>
            <a:off x="4297680" y="160020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34840" y="185623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92040" y="1764792"/>
            <a:ext cx="2834640" cy="594360"/>
          </a:xfrm>
          <a:prstGeom prst="rect">
            <a:avLst/>
          </a:prstGeom>
          <a:noFill/>
        </p:spPr>
        <p:txBody>
          <a:bodyPr wrap="square">
            <a:spAutoFit/>
          </a:bodyPr>
          <a:lstStyle/>
          <a:p>
            <a:pPr algn="l"/>
            <a:r>
              <a:rPr xmlns:ns8="http://schemas.openxmlformats.org/wordprocessingml/2006/main" sz="1100" b="0" ns8:eastAsia="Meiryo">
                <a:solidFill>
                  <a:srgbClr val="111111"/>
                </a:solidFill>
                <a:latin typeface="Meiryo"/>
              </a:rPr>
              <a:t>指導の際に怒鳴る・人格否定をしていない</a:t>
            </a:r>
          </a:p>
        </p:txBody>
      </p:sp>
      <p:sp>
        <p:nvSpPr>
          <p:cNvPr id="24" name="Rectangle 23"/>
          <p:cNvSpPr/>
          <p:nvPr/>
        </p:nvSpPr>
        <p:spPr>
          <a:xfrm>
            <a:off x="4297680" y="269748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34840" y="295351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92040" y="2862072"/>
            <a:ext cx="2834640" cy="594360"/>
          </a:xfrm>
          <a:prstGeom prst="rect">
            <a:avLst/>
          </a:prstGeom>
          <a:noFill/>
        </p:spPr>
        <p:txBody>
          <a:bodyPr wrap="square">
            <a:spAutoFit/>
          </a:bodyPr>
          <a:lstStyle/>
          <a:p>
            <a:pPr algn="l"/>
            <a:r>
              <a:rPr xmlns:ns9="http://schemas.openxmlformats.org/wordprocessingml/2006/main" sz="1100" b="0" ns9:eastAsia="Meiryo">
                <a:solidFill>
                  <a:srgbClr val="111111"/>
                </a:solidFill>
                <a:latin typeface="Meiryo"/>
              </a:rPr>
              <a:t>患者・家族から不当な言動を受けたとき報告している</a:t>
            </a:r>
          </a:p>
        </p:txBody>
      </p:sp>
      <p:sp>
        <p:nvSpPr>
          <p:cNvPr id="27" name="Rectangle 26"/>
          <p:cNvSpPr/>
          <p:nvPr/>
        </p:nvSpPr>
        <p:spPr>
          <a:xfrm>
            <a:off x="4297680" y="379476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34840" y="405079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92040" y="3959352"/>
            <a:ext cx="2834640" cy="594360"/>
          </a:xfrm>
          <a:prstGeom prst="rect">
            <a:avLst/>
          </a:prstGeom>
          <a:noFill/>
        </p:spPr>
        <p:txBody>
          <a:bodyPr wrap="square">
            <a:spAutoFit/>
          </a:bodyPr>
          <a:lstStyle/>
          <a:p>
            <a:pPr algn="l"/>
            <a:r>
              <a:rPr xmlns:ns10="http://schemas.openxmlformats.org/wordprocessingml/2006/main" sz="1100" b="0" ns10:eastAsia="Meiryo">
                <a:solidFill>
                  <a:srgbClr val="111111"/>
                </a:solidFill>
                <a:latin typeface="Meiryo"/>
              </a:rPr>
              <a:t>カスハラと正当クレームの区別ができる</a:t>
            </a:r>
          </a:p>
        </p:txBody>
      </p:sp>
      <p:sp>
        <p:nvSpPr>
          <p:cNvPr id="30" name="Rectangle 29"/>
          <p:cNvSpPr/>
          <p:nvPr/>
        </p:nvSpPr>
        <p:spPr>
          <a:xfrm>
            <a:off x="4297680" y="489204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34840" y="514807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92040" y="5056632"/>
            <a:ext cx="2834640" cy="594360"/>
          </a:xfrm>
          <a:prstGeom prst="rect">
            <a:avLst/>
          </a:prstGeom>
          <a:noFill/>
        </p:spPr>
        <p:txBody>
          <a:bodyPr wrap="square">
            <a:spAutoFit/>
          </a:bodyPr>
          <a:lstStyle/>
          <a:p>
            <a:pPr algn="l"/>
            <a:r>
              <a:rPr xmlns:ns11="http://schemas.openxmlformats.org/wordprocessingml/2006/main" sz="1100" b="0" ns11:eastAsia="Meiryo">
                <a:solidFill>
                  <a:srgbClr val="111111"/>
                </a:solidFill>
                <a:latin typeface="Meiryo"/>
              </a:rPr>
              <a:t>カスハラ対応は複数人で行っている</a:t>
            </a:r>
          </a:p>
        </p:txBody>
      </p:sp>
      <p:sp>
        <p:nvSpPr>
          <p:cNvPr id="33" name="Rectangle 32"/>
          <p:cNvSpPr/>
          <p:nvPr/>
        </p:nvSpPr>
        <p:spPr>
          <a:xfrm>
            <a:off x="8229600" y="1005840"/>
            <a:ext cx="3566160" cy="4572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1051560"/>
            <a:ext cx="3383280" cy="365760"/>
          </a:xfrm>
          <a:prstGeom prst="rect">
            <a:avLst/>
          </a:prstGeom>
          <a:noFill/>
        </p:spPr>
        <p:txBody>
          <a:bodyPr wrap="square">
            <a:spAutoFit/>
          </a:bodyPr>
          <a:lstStyle/>
          <a:p>
            <a:pPr algn="l"/>
            <a:r>
              <a:rPr xmlns:ns12="http://schemas.openxmlformats.org/wordprocessingml/2006/main" sz="1200" b="1" ns12:eastAsia="Meiryo">
                <a:solidFill>
                  <a:srgbClr val="FFFFFF"/>
                </a:solidFill>
                <a:latin typeface="Meiryo"/>
              </a:rPr>
              <a:t>法令遵守</a:t>
            </a:r>
          </a:p>
        </p:txBody>
      </p:sp>
      <p:sp>
        <p:nvSpPr>
          <p:cNvPr id="35" name="Rectangle 34"/>
          <p:cNvSpPr/>
          <p:nvPr/>
        </p:nvSpPr>
        <p:spPr>
          <a:xfrm>
            <a:off x="8229600" y="160020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6760" y="185623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23960" y="1764792"/>
            <a:ext cx="2834640" cy="594360"/>
          </a:xfrm>
          <a:prstGeom prst="rect">
            <a:avLst/>
          </a:prstGeom>
          <a:noFill/>
        </p:spPr>
        <p:txBody>
          <a:bodyPr wrap="square">
            <a:spAutoFit/>
          </a:bodyPr>
          <a:lstStyle/>
          <a:p>
            <a:pPr algn="l"/>
            <a:r>
              <a:rPr xmlns:ns13="http://schemas.openxmlformats.org/wordprocessingml/2006/main" sz="1100" b="0" ns13:eastAsia="Meiryo">
                <a:solidFill>
                  <a:srgbClr val="111111"/>
                </a:solidFill>
                <a:latin typeface="Meiryo"/>
              </a:rPr>
              <a:t>守秘義務（退職後も含む）を認識している</a:t>
            </a:r>
          </a:p>
        </p:txBody>
      </p:sp>
      <p:sp>
        <p:nvSpPr>
          <p:cNvPr id="38" name="Rectangle 37"/>
          <p:cNvSpPr/>
          <p:nvPr/>
        </p:nvSpPr>
        <p:spPr>
          <a:xfrm>
            <a:off x="8229600" y="269748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66760" y="295351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23960" y="2862072"/>
            <a:ext cx="2834640" cy="594360"/>
          </a:xfrm>
          <a:prstGeom prst="rect">
            <a:avLst/>
          </a:prstGeom>
          <a:noFill/>
        </p:spPr>
        <p:txBody>
          <a:bodyPr wrap="square">
            <a:spAutoFit/>
          </a:bodyPr>
          <a:lstStyle/>
          <a:p>
            <a:pPr algn="l"/>
            <a:r>
              <a:rPr xmlns:ns14="http://schemas.openxmlformats.org/wordprocessingml/2006/main" sz="1100" b="0" ns14:eastAsia="Meiryo">
                <a:solidFill>
                  <a:srgbClr val="111111"/>
                </a:solidFill>
                <a:latin typeface="Meiryo"/>
              </a:rPr>
              <a:t>迷ったときは上長・相談窓口に報告できている</a:t>
            </a:r>
          </a:p>
        </p:txBody>
      </p:sp>
      <p:sp>
        <p:nvSpPr>
          <p:cNvPr id="41" name="Rectangle 40"/>
          <p:cNvSpPr/>
          <p:nvPr/>
        </p:nvSpPr>
        <p:spPr>
          <a:xfrm>
            <a:off x="8229600" y="3794760"/>
            <a:ext cx="3566160" cy="9144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366760" y="4050792"/>
            <a:ext cx="347472" cy="347472"/>
          </a:xfrm>
          <a:prstGeom prst="rect">
            <a:avLst/>
          </a:prstGeom>
          <a:noFill/>
          <a:ln w="19050">
            <a:solidFill>
              <a:srgbClr val="1111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23960" y="3959352"/>
            <a:ext cx="2834640" cy="594360"/>
          </a:xfrm>
          <a:prstGeom prst="rect">
            <a:avLst/>
          </a:prstGeom>
          <a:noFill/>
        </p:spPr>
        <p:txBody>
          <a:bodyPr wrap="square">
            <a:spAutoFit/>
          </a:bodyPr>
          <a:lstStyle/>
          <a:p>
            <a:pPr algn="l"/>
            <a:r>
              <a:rPr xmlns:ns15="http://schemas.openxmlformats.org/wordprocessingml/2006/main" sz="1100" b="0" ns15:eastAsia="Meiryo">
                <a:solidFill>
                  <a:srgbClr val="111111"/>
                </a:solidFill>
                <a:latin typeface="Meiryo"/>
              </a:rPr>
              <a:t>インシデントは速やかに報告している</a:t>
            </a:r>
          </a:p>
        </p:txBody>
      </p:sp>
      <p:sp>
        <p:nvSpPr>
          <p:cNvPr id="44" name="TextBox 43"/>
          <p:cNvSpPr txBox="1"/>
          <p:nvPr/>
        </p:nvSpPr>
        <p:spPr>
          <a:xfrm>
            <a:off x="11640312" y="6492240"/>
            <a:ext cx="457200" cy="320040"/>
          </a:xfrm>
          <a:prstGeom prst="rect">
            <a:avLst/>
          </a:prstGeom>
          <a:noFill/>
        </p:spPr>
        <p:txBody>
          <a:bodyPr wrap="square">
            <a:spAutoFit/>
          </a:bodyPr>
          <a:lstStyle/>
          <a:p>
            <a:pPr algn="r"/>
            <a:r>
              <a:rPr xmlns:ns16="http://schemas.openxmlformats.org/wordprocessingml/2006/main" sz="1000" b="0" ns16:eastAsia="Meiryo">
                <a:solidFill>
                  <a:srgbClr val="BBBBBB"/>
                </a:solidFill>
                <a:latin typeface="Meiryo"/>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
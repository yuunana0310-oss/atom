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移乗・移動介助の基本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FDBFF"/>
                </a:solidFill>
              </a:rPr>
              <a:t>Transfer &amp; Mobility Assistance  ｜  新人研修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3C5FD"/>
                </a:solidFill>
              </a:rPr>
              <a:t>対象：看護・介護職員新入社員　｜　所要時間：約35分　｜　【画像をここに配置】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480560"/>
            <a:ext cx="877824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3C5FD"/>
                </a:solidFill>
              </a:rPr>
              <a:t>🎨 画像: 笑顔の看護師が車椅子移乗介助 / young nurse smiling assisting transfer, bright facility, warm 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今日のゴール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この研修で身につける5つのこと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63040"/>
            <a:ext cx="1600200" cy="3200400"/>
          </a:xfrm>
          <a:prstGeom prst="rect">
            <a:avLst/>
          </a:prstGeom>
          <a:solidFill>
            <a:srgbClr val="EBF5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/>
          <a:lstStyle/>
          <a:p>
            <a:pPr algn="ctr"/>
            <a:r>
              <a:rPr sz="2600"/>
              <a:t>🛡️</a:t>
            </a:r>
          </a:p>
          <a:p>
            <a:pPr algn="ctr"/>
            <a:r>
              <a:rPr b="1" sz="1200">
                <a:solidFill>
                  <a:srgbClr val="1A56DB"/>
                </a:solidFill>
              </a:rPr>
              <a:t>安全にできる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ボディメカニクスで自分と利用者を守る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9967" y="1463040"/>
            <a:ext cx="1600200" cy="3200400"/>
          </a:xfrm>
          <a:prstGeom prst="rect">
            <a:avLst/>
          </a:prstGeom>
          <a:solidFill>
            <a:srgbClr val="ECFDF5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/>
          <a:lstStyle/>
          <a:p>
            <a:pPr algn="ctr"/>
            <a:r>
              <a:rPr sz="2600"/>
              <a:t>🔄</a:t>
            </a:r>
          </a:p>
          <a:p>
            <a:pPr algn="ctr"/>
            <a:r>
              <a:rPr b="1" sz="1200">
                <a:solidFill>
                  <a:srgbClr val="0E9F6E"/>
                </a:solidFill>
              </a:rPr>
              <a:t>移乗できる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ベッド↔車椅子の手順を確実に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3785615" y="1463040"/>
            <a:ext cx="1600200" cy="3200400"/>
          </a:xfrm>
          <a:prstGeom prst="rect">
            <a:avLst/>
          </a:prstGeom>
          <a:solidFill>
            <a:srgbClr val="FEF3C7"/>
          </a:solidFill>
          <a:ln w="25400">
            <a:solidFill>
              <a:srgbClr val="E3A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/>
          <a:lstStyle/>
          <a:p>
            <a:pPr algn="ctr"/>
            <a:r>
              <a:rPr sz="2600"/>
              <a:t>🚶</a:t>
            </a:r>
          </a:p>
          <a:p>
            <a:pPr algn="ctr"/>
            <a:r>
              <a:rPr b="1" sz="1200">
                <a:solidFill>
                  <a:srgbClr val="E3A008"/>
                </a:solidFill>
              </a:rPr>
              <a:t>歩行介助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患側に寄り添い転倒を防ぐ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1264" y="1463040"/>
            <a:ext cx="1600200" cy="3200400"/>
          </a:xfrm>
          <a:prstGeom prst="rect">
            <a:avLst/>
          </a:prstGeom>
          <a:solidFill>
            <a:srgbClr val="FDE8E8"/>
          </a:solidFill>
          <a:ln w="2540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/>
          <a:lstStyle/>
          <a:p>
            <a:pPr algn="ctr"/>
            <a:r>
              <a:rPr sz="2600"/>
              <a:t>⚡</a:t>
            </a:r>
          </a:p>
          <a:p>
            <a:pPr algn="ctr"/>
            <a:r>
              <a:rPr b="1" sz="1200">
                <a:solidFill>
                  <a:srgbClr val="E02828"/>
                </a:solidFill>
              </a:rPr>
              <a:t>リスク予測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転倒・転落を事前に察知する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296912" y="1463040"/>
            <a:ext cx="1600200" cy="3200400"/>
          </a:xfrm>
          <a:prstGeom prst="rect">
            <a:avLst/>
          </a:prstGeom>
          <a:solidFill>
            <a:srgbClr val="F3E8FF"/>
          </a:solidFill>
          <a:ln w="2540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8000" lIns="72000"/>
          <a:lstStyle/>
          <a:p>
            <a:pPr algn="ctr"/>
            <a:r>
              <a:rPr sz="2600"/>
              <a:t>🤝</a:t>
            </a:r>
          </a:p>
          <a:p>
            <a:pPr algn="ctr"/>
            <a:r>
              <a:rPr b="1" sz="1200">
                <a:solidFill>
                  <a:srgbClr val="761DA1"/>
                </a:solidFill>
              </a:rPr>
              <a:t>自立支援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できることは本人にやってもらう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4800600"/>
            <a:ext cx="8778240" cy="274320"/>
          </a:xfrm>
          <a:prstGeom prst="rect">
            <a:avLst/>
          </a:prstGeom>
          <a:solidFill>
            <a:srgbClr val="EDEBFF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sz="750">
                <a:solidFill>
                  <a:srgbClr val="4A1D96"/>
                </a:solidFill>
              </a:rPr>
              <a:t>🎨 5 flat icons: shield, arrows, walking figure, lightning bolt, handshake — blue/green/amber/red/purple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介助の3大原則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すべての介助に共通する根本思想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554480"/>
            <a:ext cx="2651760" cy="3200400"/>
          </a:xfrm>
          <a:prstGeom prst="rect">
            <a:avLst/>
          </a:prstGeom>
          <a:solidFill>
            <a:srgbClr val="FDE8E8"/>
          </a:solidFill>
          <a:ln w="3810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4000" lIns="108000"/>
          <a:lstStyle/>
          <a:p>
            <a:pPr algn="ctr"/>
            <a:r>
              <a:rPr b="1" sz="1800">
                <a:solidFill>
                  <a:srgbClr val="E02828"/>
                </a:solidFill>
              </a:rPr>
              <a:t>🛡️ 安全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F2937"/>
                </a:solidFill>
              </a:rPr>
              <a:t>転倒・転落・皮膚損傷を防ぐ
ブレーキ確認・環境整備・声かけを徹底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554480"/>
            <a:ext cx="2651760" cy="3200400"/>
          </a:xfrm>
          <a:prstGeom prst="rect">
            <a:avLst/>
          </a:prstGeom>
          <a:solidFill>
            <a:srgbClr val="ECFDF5"/>
          </a:solidFill>
          <a:ln w="381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4000" lIns="108000"/>
          <a:lstStyle/>
          <a:p>
            <a:pPr algn="ctr"/>
            <a:r>
              <a:rPr b="1" sz="1800">
                <a:solidFill>
                  <a:srgbClr val="0E9F6E"/>
                </a:solidFill>
              </a:rPr>
              <a:t>😌 安楽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F2937"/>
                </a:solidFill>
              </a:rPr>
              <a:t>利用者に苦痛・不安を与えない
急な動き・無言の介助はNG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554480"/>
            <a:ext cx="2651760" cy="3200400"/>
          </a:xfrm>
          <a:prstGeom prst="rect">
            <a:avLst/>
          </a:prstGeom>
          <a:solidFill>
            <a:srgbClr val="EBF5FF"/>
          </a:solidFill>
          <a:ln w="381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4000" lIns="108000"/>
          <a:lstStyle/>
          <a:p>
            <a:pPr algn="ctr"/>
            <a:r>
              <a:rPr b="1" sz="1800">
                <a:solidFill>
                  <a:srgbClr val="1A56DB"/>
                </a:solidFill>
              </a:rPr>
              <a:t>🤝 自立支援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F2937"/>
                </a:solidFill>
              </a:rPr>
              <a:t>できることは本人にやってもらう
「やってあげる」ではなく「一緒にやる」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ボディメカニクス 6原則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介助者の体を守る科学的技術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63040"/>
            <a:ext cx="2743200" cy="1417320"/>
          </a:xfrm>
          <a:prstGeom prst="rect">
            <a:avLst/>
          </a:prstGeom>
          <a:solidFill>
            <a:srgbClr val="EBF5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sz="1200" b="1">
                <a:solidFill>
                  <a:srgbClr val="1A56DB"/>
                </a:solidFill>
              </a:rPr>
              <a:t>① 足を肩幅に開く（支持基底面を広げる）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63040"/>
            <a:ext cx="2743200" cy="1417320"/>
          </a:xfrm>
          <a:prstGeom prst="rect">
            <a:avLst/>
          </a:prstGeom>
          <a:solidFill>
            <a:srgbClr val="EBF5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sz="1200" b="1">
                <a:solidFill>
                  <a:srgbClr val="0E9F6E"/>
                </a:solidFill>
              </a:rPr>
              <a:t>② 膝を曲げて重心を低くする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463040"/>
            <a:ext cx="2743200" cy="1417320"/>
          </a:xfrm>
          <a:prstGeom prst="rect">
            <a:avLst/>
          </a:prstGeom>
          <a:solidFill>
            <a:srgbClr val="EBF5FF"/>
          </a:solidFill>
          <a:ln w="19050">
            <a:solidFill>
              <a:srgbClr val="E3A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sz="1200" b="1">
                <a:solidFill>
                  <a:srgbClr val="E3A008"/>
                </a:solidFill>
              </a:rPr>
              <a:t>③ 利用者にできるだけ近づく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108960"/>
            <a:ext cx="2743200" cy="1417320"/>
          </a:xfrm>
          <a:prstGeom prst="rect">
            <a:avLst/>
          </a:prstGeom>
          <a:solidFill>
            <a:srgbClr val="EBF5FF"/>
          </a:solidFill>
          <a:ln w="1905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sz="1200" b="1">
                <a:solidFill>
                  <a:srgbClr val="E02828"/>
                </a:solidFill>
              </a:rPr>
              <a:t>④ 大きな筋肉（下肢・体幹）を使う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108960"/>
            <a:ext cx="2743200" cy="1417320"/>
          </a:xfrm>
          <a:prstGeom prst="rect">
            <a:avLst/>
          </a:prstGeom>
          <a:solidFill>
            <a:srgbClr val="EBF5FF"/>
          </a:solidFill>
          <a:ln w="1905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sz="1200" b="1">
                <a:solidFill>
                  <a:srgbClr val="761DA1"/>
                </a:solidFill>
              </a:rPr>
              <a:t>⑤ 体をねじらず足ごと方向転換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108960"/>
            <a:ext cx="2743200" cy="1417320"/>
          </a:xfrm>
          <a:prstGeom prst="rect">
            <a:avLst/>
          </a:prstGeom>
          <a:solidFill>
            <a:srgbClr val="EBF5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sz="1200" b="1">
                <a:solidFill>
                  <a:srgbClr val="0369A1"/>
                </a:solidFill>
              </a:rPr>
              <a:t>⑥ 水平移動・てこの原理を活用する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2743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移乗前チェック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準備8割・介助2割！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5303520" cy="3474720"/>
          </a:xfrm>
          <a:prstGeom prst="rect">
            <a:avLst/>
          </a:prstGeom>
          <a:solidFill>
            <a:srgbClr val="ECFDF5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ctr"/>
            <a:r>
              <a:rPr sz="1200">
                <a:solidFill>
                  <a:srgbClr val="1F2937"/>
                </a:solidFill>
              </a:rPr>
              <a:t>✅  車椅子のブレーキがかかっているか</a:t>
            </a:r>
          </a:p>
          <a:p>
            <a:r>
              <a:rPr sz="1200">
                <a:solidFill>
                  <a:srgbClr val="1F2937"/>
                </a:solidFill>
              </a:rPr>
              <a:t>✅  フットサポートが跳ね上げられているか</a:t>
            </a:r>
          </a:p>
          <a:p>
            <a:r>
              <a:rPr sz="1200">
                <a:solidFill>
                  <a:srgbClr val="1F2937"/>
                </a:solidFill>
              </a:rPr>
              <a:t>✅  ベッドの高さが適切か（足底が床に着く）</a:t>
            </a:r>
          </a:p>
          <a:p>
            <a:r>
              <a:rPr sz="1200">
                <a:solidFill>
                  <a:srgbClr val="1F2937"/>
                </a:solidFill>
              </a:rPr>
              <a:t>✅  利用者に介助内容を説明し同意を得たか</a:t>
            </a:r>
          </a:p>
          <a:p>
            <a:r>
              <a:rPr sz="1200">
                <a:solidFill>
                  <a:srgbClr val="1F2937"/>
                </a:solidFill>
              </a:rPr>
              <a:t>✅  周囲に障害物・危険物はないか</a:t>
            </a:r>
          </a:p>
          <a:p>
            <a:r>
              <a:rPr sz="1200">
                <a:solidFill>
                  <a:srgbClr val="1F2937"/>
                </a:solidFill>
              </a:rPr>
              <a:t>✅  必要な補助具が手の届く場所にあるか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463040"/>
            <a:ext cx="2926080" cy="3474720"/>
          </a:xfrm>
          <a:prstGeom prst="rect">
            <a:avLst/>
          </a:prstGeom>
          <a:solidFill>
            <a:srgbClr val="FFF3CD"/>
          </a:solidFill>
          <a:ln w="25400">
            <a:solidFill>
              <a:srgbClr val="E3A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0"/>
          <a:lstStyle/>
          <a:p>
            <a:pPr algn="ctr"/>
            <a:r>
              <a:rPr b="1" sz="1400">
                <a:solidFill>
                  <a:srgbClr val="924009"/>
                </a:solidFill>
              </a:rPr>
              <a:t>⚠️ 声に出して確認！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F2937"/>
                </a:solidFill>
              </a:rPr>
              <a:t>「ブレーキよし！」
「フットサポートよし！」
声に出す習慣が
事故を防ぎます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ベッド → 車椅子　移乗手順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8ステップで完全マスター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41732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1A56DB"/>
                </a:solidFill>
              </a:rPr>
              <a:t>①</a:t>
            </a:r>
          </a:p>
          <a:p>
            <a:r>
              <a:rPr sz="1050">
                <a:solidFill>
                  <a:srgbClr val="1F2937"/>
                </a:solidFill>
              </a:rPr>
              <a:t>ベッド高さ調整・端座位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3160" y="141732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1A56DB"/>
                </a:solidFill>
              </a:rPr>
              <a:t>②</a:t>
            </a:r>
          </a:p>
          <a:p>
            <a:r>
              <a:rPr sz="1050">
                <a:solidFill>
                  <a:srgbClr val="1F2937"/>
                </a:solidFill>
              </a:rPr>
              <a:t>車椅子を健側に20〜30°で配置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7720" y="141732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0E9F6E"/>
                </a:solidFill>
              </a:rPr>
              <a:t>③</a:t>
            </a:r>
          </a:p>
          <a:p>
            <a:r>
              <a:rPr sz="1050">
                <a:solidFill>
                  <a:srgbClr val="1F2937"/>
                </a:solidFill>
              </a:rPr>
              <a:t>前傾姿勢（鼻がひざの上）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41732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0E9F6E"/>
                </a:solidFill>
              </a:rPr>
              <a:t>④</a:t>
            </a:r>
          </a:p>
          <a:p>
            <a:r>
              <a:rPr sz="1050">
                <a:solidFill>
                  <a:srgbClr val="1F2937"/>
                </a:solidFill>
              </a:rPr>
              <a:t>患側に立ち腰に手を添える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310896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E3A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E3A008"/>
                </a:solidFill>
              </a:rPr>
              <a:t>⑤</a:t>
            </a:r>
          </a:p>
          <a:p>
            <a:r>
              <a:rPr sz="1050">
                <a:solidFill>
                  <a:srgbClr val="1F2937"/>
                </a:solidFill>
              </a:rPr>
              <a:t>「せーの」で立ち上がり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310896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E3A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E3A008"/>
                </a:solidFill>
              </a:rPr>
              <a:t>⑥</a:t>
            </a:r>
          </a:p>
          <a:p>
            <a:r>
              <a:rPr sz="1050">
                <a:solidFill>
                  <a:srgbClr val="1F2937"/>
                </a:solidFill>
              </a:rPr>
              <a:t>健側へ方向転換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310896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E02828"/>
                </a:solidFill>
              </a:rPr>
              <a:t>⑦</a:t>
            </a:r>
          </a:p>
          <a:p>
            <a:r>
              <a:rPr sz="1050">
                <a:solidFill>
                  <a:srgbClr val="1F2937"/>
                </a:solidFill>
              </a:rPr>
              <a:t>座面確認→ゆっくり着座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79" y="3108960"/>
            <a:ext cx="2057400" cy="1554480"/>
          </a:xfrm>
          <a:prstGeom prst="rect">
            <a:avLst/>
          </a:prstGeom>
          <a:solidFill>
            <a:srgbClr val="EBF5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000" lIns="72000"/>
          <a:lstStyle/>
          <a:p>
            <a:pPr algn="ctr"/>
            <a:r>
              <a:rPr sz="2200" b="1">
                <a:solidFill>
                  <a:srgbClr val="0E9F6E"/>
                </a:solidFill>
              </a:rPr>
              <a:t>⑧</a:t>
            </a:r>
          </a:p>
          <a:p>
            <a:r>
              <a:rPr sz="1050">
                <a:solidFill>
                  <a:srgbClr val="1F2937"/>
                </a:solidFill>
              </a:rPr>
              <a:t>フットサポート・声かけ確認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トイレ介助のポイント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尊厳への配慮が最重要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63040"/>
            <a:ext cx="4297680" cy="3474720"/>
          </a:xfrm>
          <a:prstGeom prst="rect">
            <a:avLst/>
          </a:prstGeom>
          <a:solidFill>
            <a:srgbClr val="EBF5FF"/>
          </a:solidFill>
          <a:ln w="127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b="1" sz="1400">
                <a:solidFill>
                  <a:srgbClr val="0E9F6E"/>
                </a:solidFill>
              </a:rPr>
              <a:t>手順のポイント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床の水濡れ確認（転倒防止）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健側手すり側・斜め45°配置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ブレーキ確認→フットサポート跳ね上げ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衣服は本人にやってもらう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カーテン引いてナースコール位置を伝える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終了後：手洗い介助・車椅子へ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463040"/>
            <a:ext cx="4114800" cy="3474720"/>
          </a:xfrm>
          <a:prstGeom prst="rect">
            <a:avLst/>
          </a:prstGeom>
          <a:solidFill>
            <a:srgbClr val="F3E8FF"/>
          </a:solidFill>
          <a:ln w="1270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b="1" sz="1400">
                <a:solidFill>
                  <a:srgbClr val="761DA1"/>
                </a:solidFill>
              </a:rPr>
              <a:t>尊厳への配慮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「やってあげる」ではなく「一緒にやる」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無駄に滞在しない・プライバシー確保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待たせない（事前準備が重要）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失禁があっても驚かない・責めない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歩行介助の基本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転ばせない × 自信をつける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63040"/>
            <a:ext cx="4297680" cy="3474720"/>
          </a:xfrm>
          <a:prstGeom prst="rect">
            <a:avLst/>
          </a:prstGeom>
          <a:solidFill>
            <a:srgbClr val="EBF5FF"/>
          </a:solidFill>
          <a:ln w="127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b="1" sz="1400">
                <a:solidFill>
                  <a:srgbClr val="0E9F6E"/>
                </a:solidFill>
              </a:rPr>
              <a:t>立ち位置と手の添え方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患側の斜め後ろに立つ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腰〜骨盤に手を添える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脇を抱えるのは絶対NG（脱臼リスク）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利用者のペースに合わせる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「段差あります」と先に声かけ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A56DB"/>
                </a:solidFill>
              </a:rPr>
              <a:t>補助具使用時の段差対応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920240"/>
            <a:ext cx="132588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補助具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132588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上り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920240"/>
            <a:ext cx="132588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下り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560320"/>
            <a:ext cx="132588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2937"/>
                </a:solidFill>
              </a:rPr>
              <a:t>杖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560320"/>
            <a:ext cx="132588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2937"/>
                </a:solidFill>
              </a:rPr>
              <a:t>杖→健足→患足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560320"/>
            <a:ext cx="132588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2937"/>
                </a:solidFill>
              </a:rPr>
              <a:t>杖→患足→健足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200400"/>
            <a:ext cx="132588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2937"/>
                </a:solidFill>
              </a:rPr>
              <a:t>歩行器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200400"/>
            <a:ext cx="132588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2937"/>
                </a:solidFill>
              </a:rPr>
              <a:t>歩行器→両足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200400"/>
            <a:ext cx="1325880" cy="594360"/>
          </a:xfrm>
          <a:prstGeom prst="rect">
            <a:avLst/>
          </a:prstGeom>
          <a:solidFill>
            <a:srgbClr val="EBF5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2937"/>
                </a:solidFill>
              </a:rPr>
              <a:t>歩行器→両足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車椅子移動介助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段差・スロープの正しい操作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17320"/>
            <a:ext cx="4023360" cy="1600200"/>
          </a:xfrm>
          <a:prstGeom prst="rect">
            <a:avLst/>
          </a:prstGeom>
          <a:solidFill>
            <a:srgbClr val="EBF5FF"/>
          </a:solidFill>
          <a:ln w="2540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400">
                <a:solidFill>
                  <a:srgbClr val="E02828"/>
                </a:solidFill>
              </a:rPr>
              <a:t>🔽 段差を下りる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必ず後ろ向き！
前向きで降りると前傾・転落の危険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417320"/>
            <a:ext cx="4023360" cy="1600200"/>
          </a:xfrm>
          <a:prstGeom prst="rect">
            <a:avLst/>
          </a:prstGeom>
          <a:solidFill>
            <a:srgbClr val="EBF5FF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400">
                <a:solidFill>
                  <a:srgbClr val="0E9F6E"/>
                </a:solidFill>
              </a:rPr>
              <a:t>🔼 スロープを上る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前向き・一定スピードで
急停止はふらつきの原因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0"/>
            <a:ext cx="4023360" cy="1600200"/>
          </a:xfrm>
          <a:prstGeom prst="rect">
            <a:avLst/>
          </a:prstGeom>
          <a:solidFill>
            <a:srgbClr val="EBF5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400">
                <a:solidFill>
                  <a:srgbClr val="1A56DB"/>
                </a:solidFill>
              </a:rPr>
              <a:t>🚪 エレベーター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後ろ向きで乗り込み
前向きで降りる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3200400"/>
            <a:ext cx="4023360" cy="1600200"/>
          </a:xfrm>
          <a:prstGeom prst="rect">
            <a:avLst/>
          </a:prstGeom>
          <a:solidFill>
            <a:srgbClr val="EBF5FF"/>
          </a:solidFill>
          <a:ln w="25400">
            <a:solidFill>
              <a:srgbClr val="761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400">
                <a:solidFill>
                  <a:srgbClr val="761DA1"/>
                </a:solidFill>
              </a:rPr>
              <a:t>💬 走行中の声かけ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937"/>
                </a:solidFill>
              </a:rPr>
              <a:t>「曲がります」「段差あります」
常にアナウンスを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E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絶対にやってはいけない NG行為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17320"/>
            <a:ext cx="2743200" cy="1371600"/>
          </a:xfrm>
          <a:prstGeom prst="rect">
            <a:avLst/>
          </a:prstGeom>
          <a:solidFill>
            <a:srgbClr val="FDE8E8"/>
          </a:solidFill>
          <a:ln w="1905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100">
                <a:solidFill>
                  <a:srgbClr val="E02828"/>
                </a:solidFill>
              </a:rPr>
              <a:t>❌ 脇を抱えて引き上げる</a:t>
            </a:r>
          </a:p>
          <a:p>
            <a:r>
              <a:rPr sz="1000">
                <a:solidFill>
                  <a:srgbClr val="1F2937"/>
                </a:solidFill>
              </a:rPr>
              <a:t>→ 肩関節脱臼リスク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17320"/>
            <a:ext cx="2743200" cy="1371600"/>
          </a:xfrm>
          <a:prstGeom prst="rect">
            <a:avLst/>
          </a:prstGeom>
          <a:solidFill>
            <a:srgbClr val="FDE8E8"/>
          </a:solidFill>
          <a:ln w="1905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100">
                <a:solidFill>
                  <a:srgbClr val="E02828"/>
                </a:solidFill>
              </a:rPr>
              <a:t>❌ 腕だけで引っ張る</a:t>
            </a:r>
          </a:p>
          <a:p>
            <a:r>
              <a:rPr sz="1000">
                <a:solidFill>
                  <a:srgbClr val="1F2937"/>
                </a:solidFill>
              </a:rPr>
              <a:t>→ 介助者の腰・肩を壊す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417320"/>
            <a:ext cx="2743200" cy="1371600"/>
          </a:xfrm>
          <a:prstGeom prst="rect">
            <a:avLst/>
          </a:prstGeom>
          <a:solidFill>
            <a:srgbClr val="FDE8E8"/>
          </a:solidFill>
          <a:ln w="1905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100">
                <a:solidFill>
                  <a:srgbClr val="E02828"/>
                </a:solidFill>
              </a:rPr>
              <a:t>❌ ブレーキをかけずに移乗</a:t>
            </a:r>
          </a:p>
          <a:p>
            <a:r>
              <a:rPr sz="1000">
                <a:solidFill>
                  <a:srgbClr val="1F2937"/>
                </a:solidFill>
              </a:rPr>
              <a:t>→ 転倒事故の直接原因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2926080"/>
            <a:ext cx="2834640" cy="1371600"/>
          </a:xfrm>
          <a:prstGeom prst="rect">
            <a:avLst/>
          </a:prstGeom>
          <a:solidFill>
            <a:srgbClr val="FDE8E8"/>
          </a:solidFill>
          <a:ln w="1905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100">
                <a:solidFill>
                  <a:srgbClr val="E02828"/>
                </a:solidFill>
              </a:rPr>
              <a:t>❌ 前向きで段差を下りる</a:t>
            </a:r>
          </a:p>
          <a:p>
            <a:r>
              <a:rPr sz="1000">
                <a:solidFill>
                  <a:srgbClr val="1F2937"/>
                </a:solidFill>
              </a:rPr>
              <a:t>→ 前方転落の危険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926080"/>
            <a:ext cx="2834640" cy="1371600"/>
          </a:xfrm>
          <a:prstGeom prst="rect">
            <a:avLst/>
          </a:prstGeom>
          <a:solidFill>
            <a:srgbClr val="FDE8E8"/>
          </a:solidFill>
          <a:ln w="1905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ctr"/>
            <a:r>
              <a:rPr b="1" sz="1100">
                <a:solidFill>
                  <a:srgbClr val="E02828"/>
                </a:solidFill>
              </a:rPr>
              <a:t>❌ 急がせる・無言で動かす</a:t>
            </a:r>
          </a:p>
          <a:p>
            <a:r>
              <a:rPr sz="1000">
                <a:solidFill>
                  <a:srgbClr val="1F2937"/>
                </a:solidFill>
              </a:rPr>
              <a:t>→ 不安増大＋転倒リスク増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安全管理とヒヤリハット報告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小さな気づきが大きな事故を防ぐ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463040"/>
            <a:ext cx="4297680" cy="3474720"/>
          </a:xfrm>
          <a:prstGeom prst="rect">
            <a:avLst/>
          </a:prstGeom>
          <a:solidFill>
            <a:srgbClr val="FDE8E8"/>
          </a:solidFill>
          <a:ln w="1270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72000"/>
          <a:lstStyle/>
          <a:p>
            <a:pPr algn="l"/>
            <a:r>
              <a:rPr b="1" sz="1400">
                <a:solidFill>
                  <a:srgbClr val="E02828"/>
                </a:solidFill>
              </a:rPr>
              <a:t>主なリスクと予防策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転倒：ブレーキ声出し確認・二人介助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腰痛：ボディメカニクス徹底・補助具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皮膚損傷：水平移動・スライディングシート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肩関節脱臼：骨盤・体幹を支える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1F2937"/>
                </a:solidFill>
              </a:rPr>
              <a:t>  ▸ 誤嚥：食後30分は安静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463040"/>
            <a:ext cx="3931920" cy="3474720"/>
          </a:xfrm>
          <a:prstGeom prst="rect">
            <a:avLst/>
          </a:prstGeom>
          <a:solidFill>
            <a:srgbClr val="FFF3CD"/>
          </a:solidFill>
          <a:ln w="38100">
            <a:solidFill>
              <a:srgbClr val="E3A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ctr"/>
            <a:r>
              <a:rPr b="1" sz="1500">
                <a:solidFill>
                  <a:srgbClr val="924009"/>
                </a:solidFill>
              </a:rPr>
              <a:t>⚠️ ヒヤリハット報告</a:t>
            </a:r>
          </a:p>
          <a:p>
            <a:r>
              <a:rPr sz="1100">
                <a:solidFill>
                  <a:srgbClr val="1F2937"/>
                </a:solidFill>
              </a:rPr>
              <a:t/>
            </a:r>
          </a:p>
          <a:p>
            <a:r>
              <a:rPr sz="1100">
                <a:solidFill>
                  <a:srgbClr val="1F2937"/>
                </a:solidFill>
              </a:rPr>
              <a:t>「大事にならなかったから
報告しなくていい」は❌</a:t>
            </a:r>
          </a:p>
          <a:p>
            <a:r>
              <a:rPr sz="1100">
                <a:solidFill>
                  <a:srgbClr val="1F2937"/>
                </a:solidFill>
              </a:rPr>
              <a:t/>
            </a:r>
          </a:p>
          <a:p>
            <a:r>
              <a:rPr sz="1100">
                <a:solidFill>
                  <a:srgbClr val="1F2937"/>
                </a:solidFill>
              </a:rPr>
              <a:t>小さな気づきを報告・共有が
次の大事故を防ぐ</a:t>
            </a:r>
          </a:p>
          <a:p>
            <a:r>
              <a:rPr sz="1100">
                <a:solidFill>
                  <a:srgbClr val="1F2937"/>
                </a:solidFill>
              </a:rPr>
              <a:t/>
            </a:r>
          </a:p>
          <a:p>
            <a:r>
              <a:rPr sz="1100">
                <a:solidFill>
                  <a:srgbClr val="1F2937"/>
                </a:solidFill>
              </a:rPr>
              <a:t>あなたの報告が
チーム全体を守る！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2800">
                <a:solidFill>
                  <a:srgbClr val="FFFFFF"/>
                </a:solidFill>
              </a:rPr>
              <a:t>  研修後 自己チェックリスト</a:t>
            </a:r>
          </a:p>
          <a:p>
            <a:pPr algn="l"/>
            <a:r>
              <a:rPr sz="1300">
                <a:solidFill>
                  <a:srgbClr val="BFDBFF"/>
                </a:solidFill>
              </a:rPr>
              <a:t>  「わかった」を「できる」に変えよう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solidFill>
            <a:srgbClr val="ECFDF5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08000"/>
          <a:lstStyle/>
          <a:p>
            <a:pPr algn="ctr"/>
            <a:r>
              <a:rPr sz="1300">
                <a:solidFill>
                  <a:srgbClr val="1F2937"/>
                </a:solidFill>
              </a:rPr>
              <a:t>□ ボディメカニクス6原則を言える</a:t>
            </a:r>
          </a:p>
          <a:p>
            <a:r>
              <a:rPr sz="1300">
                <a:solidFill>
                  <a:srgbClr val="1F2937"/>
                </a:solidFill>
              </a:rPr>
              <a:t>□ ベッド→車椅子の手順を8ステップで説明できる</a:t>
            </a:r>
          </a:p>
          <a:p>
            <a:r>
              <a:rPr sz="1300">
                <a:solidFill>
                  <a:srgbClr val="1F2937"/>
                </a:solidFill>
              </a:rPr>
              <a:t>□ ブレーキ確認を声に出す習慣がついた</a:t>
            </a:r>
          </a:p>
          <a:p>
            <a:r>
              <a:rPr sz="1300">
                <a:solidFill>
                  <a:srgbClr val="1F2937"/>
                </a:solidFill>
              </a:rPr>
              <a:t>□ 患側に立って歩行介助できる</a:t>
            </a:r>
          </a:p>
          <a:p>
            <a:r>
              <a:rPr sz="1300">
                <a:solidFill>
                  <a:srgbClr val="1F2937"/>
                </a:solidFill>
              </a:rPr>
              <a:t>□ 段差での車椅子後ろ向き操作を理解した</a:t>
            </a:r>
          </a:p>
          <a:p>
            <a:r>
              <a:rPr sz="1300">
                <a:solidFill>
                  <a:srgbClr val="1F2937"/>
                </a:solidFill>
              </a:rPr>
              <a:t>□ トイレ介助で尊厳への配慮ができる</a:t>
            </a:r>
          </a:p>
          <a:p>
            <a:r>
              <a:rPr sz="1300">
                <a:solidFill>
                  <a:srgbClr val="1F2937"/>
                </a:solidFill>
              </a:rPr>
              <a:t>□ ヒヤリハットを必ず報告するという意識がある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まとめ　—　今日学んだこと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2606040" cy="1600200"/>
          </a:xfrm>
          <a:prstGeom prst="rect">
            <a:avLst/>
          </a:prstGeom>
          <a:solidFill>
            <a:srgbClr val="1E3A8A"/>
          </a:solidFill>
          <a:ln w="25400">
            <a:solidFill>
              <a:srgbClr val="E0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0000" lIns="108000"/>
          <a:lstStyle/>
          <a:p>
            <a:pPr algn="ctr"/>
            <a:r>
              <a:rPr b="1" sz="1400">
                <a:solidFill>
                  <a:srgbClr val="E02828"/>
                </a:solidFill>
              </a:rPr>
              <a:t>🛡️  3大原則</a:t>
            </a:r>
          </a:p>
          <a:p>
            <a:pPr algn="ctr"/>
            <a:r>
              <a:rPr sz="1100">
                <a:solidFill>
                  <a:srgbClr val="BFDBFF"/>
                </a:solidFill>
              </a:rPr>
              <a:t>安全・安楽・自立支援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1188720"/>
            <a:ext cx="2606040" cy="1600200"/>
          </a:xfrm>
          <a:prstGeom prst="rect">
            <a:avLst/>
          </a:prstGeom>
          <a:solidFill>
            <a:srgbClr val="1E3A8A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0000" lIns="108000"/>
          <a:lstStyle/>
          <a:p>
            <a:pPr algn="ctr"/>
            <a:r>
              <a:rPr b="1" sz="1400">
                <a:solidFill>
                  <a:srgbClr val="0E9F6E"/>
                </a:solidFill>
              </a:rPr>
              <a:t>💪  ボディメカニクス</a:t>
            </a:r>
          </a:p>
          <a:p>
            <a:pPr algn="ctr"/>
            <a:r>
              <a:rPr sz="1100">
                <a:solidFill>
                  <a:srgbClr val="BFDBFF"/>
                </a:solidFill>
              </a:rPr>
              <a:t>6原則で腰痛ゼロへ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2606040" cy="1600200"/>
          </a:xfrm>
          <a:prstGeom prst="rect">
            <a:avLst/>
          </a:prstGeom>
          <a:solidFill>
            <a:srgbClr val="1E3A8A"/>
          </a:solidFill>
          <a:ln w="25400">
            <a:solidFill>
              <a:srgbClr val="E3A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0000" lIns="108000"/>
          <a:lstStyle/>
          <a:p>
            <a:pPr algn="ctr"/>
            <a:r>
              <a:rPr b="1" sz="1400">
                <a:solidFill>
                  <a:srgbClr val="E3A008"/>
                </a:solidFill>
              </a:rPr>
              <a:t>🔄  移乗手順</a:t>
            </a:r>
          </a:p>
          <a:p>
            <a:pPr algn="ctr"/>
            <a:r>
              <a:rPr sz="1100">
                <a:solidFill>
                  <a:srgbClr val="BFDBFF"/>
                </a:solidFill>
              </a:rPr>
              <a:t>ブレーキ確認が命綱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3017520"/>
            <a:ext cx="2606040" cy="1600200"/>
          </a:xfrm>
          <a:prstGeom prst="rect">
            <a:avLst/>
          </a:prstGeom>
          <a:solidFill>
            <a:srgbClr val="1E3A8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0000" lIns="108000"/>
          <a:lstStyle/>
          <a:p>
            <a:pPr algn="ctr"/>
            <a:r>
              <a:rPr b="1" sz="1400">
                <a:solidFill>
                  <a:srgbClr val="06B6D4"/>
                </a:solidFill>
              </a:rPr>
              <a:t>🚶  歩行介助</a:t>
            </a:r>
          </a:p>
          <a:p>
            <a:pPr algn="ctr"/>
            <a:r>
              <a:rPr sz="1100">
                <a:solidFill>
                  <a:srgbClr val="BFDBFF"/>
                </a:solidFill>
              </a:rPr>
              <a:t>患側の斜め後ろに立つ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3017520"/>
            <a:ext cx="2606040" cy="1600200"/>
          </a:xfrm>
          <a:prstGeom prst="rect">
            <a:avLst/>
          </a:prstGeom>
          <a:solidFill>
            <a:srgbClr val="1E3A8A"/>
          </a:solidFill>
          <a:ln w="25400">
            <a:solidFill>
              <a:srgbClr val="A8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0000" lIns="108000"/>
          <a:lstStyle/>
          <a:p>
            <a:pPr algn="ctr"/>
            <a:r>
              <a:rPr b="1" sz="1400">
                <a:solidFill>
                  <a:srgbClr val="A855FF"/>
                </a:solidFill>
              </a:rPr>
              <a:t>⚠️  ヒヤリハット</a:t>
            </a:r>
          </a:p>
          <a:p>
            <a:pPr algn="ctr"/>
            <a:r>
              <a:rPr sz="1100">
                <a:solidFill>
                  <a:srgbClr val="BFDBFF"/>
                </a:solidFill>
              </a:rPr>
              <a:t>必ず報告・チームで共有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3C5FD"/>
                </a:solidFill>
              </a:rPr>
              <a:t>明日から実践しましょう！わからないことは先輩スタッフに遠慮なく聞いてください。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